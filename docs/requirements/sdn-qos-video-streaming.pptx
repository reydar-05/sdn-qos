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Our use case review is on SDN-based QoS management for video streaming.
The one-line framing of the whole talk: video is the largest and most delay-sensitive traffic class on the internet, but the network that carries it is still best-effort. Our question is whether Software Defined Networking - because it gives us a centralised, programmable control plane - can manage Quality of Service for video dynamically, instead of through static, box-by-box configuration.
The review has four parts: the problem, why SDN is the right tool, our objectives, and what the literature already shows - ending with the research gap and a proposed framework.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scale: video is the single largest share of internet traffic, and the quality bar keeps rising - HD, 4K, live.
The core difficulty is a mismatch. Video needs a sustained, steady, low-jitter flow, but IP networks are best-effort: every packet is treated the same, and available bandwidth changes minute to minute as other users share the bottleneck link.
Walk the right-hand table - this is the key teaching point. Four network-level QoS metrics each map to something the viewer actually notices. Congestion causes the player to drop bitrate and eventually rebuffer. High latency shows up as startup delay. Jitter causes the playout buffer to run dry, so the video stalls. Packet loss produces visible artifacts and frozen frames.
Finally, why conventional management is not enough: DiffServ and IntServ give you static traffic classes that must be configured device by device, with no global view of the network and no fast feedback loop. If congestion appears on a link in the middle of a stream, nothing reconfigures itself. That is exactly the gap SDN addresses.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flow at the top is the whole idea in one line. Video traffic enters the network; the controller monitors conditions; it makes a QoS decision; that decision becomes flow rules pushed down to the switches, which then treat video differently.
Note the two highlighted boxes - controller and QoS decision. That is where the intelligence lives, and it is exactly what a traditional network does not have in one place.
Left column - the SDN properties we are relying on. Because control is decoupled from forwarding, the controller can see the whole topology rather than one hop. Because it is programmable, our QoS policy is application code, not per-switch CLI. And because OpenFlow switches export port and flow counters, we get near real-time measurements for free.
Right column - what those properties buy us for video specifically: classify video into a priority queue, reroute it around a congested link, cap competing traffic, and repeat. The last bullet is the important one - QoE improves because the loop closes continuously, not because one configuration was correct at setup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justify the choice of domain. Video was selected for three reasons: it is the dominant traffic class, its requirements are precisely measurable, and it degrades in ways users notice instantly - which makes it a good test of any QoS mechanism.
Then the honest limitation of today's solutions. Adaptive bitrate players are client-side only: a DASH player can lower its quality when it senses trouble, but it cannot see which link is congested, cannot reroute, and cannot stop a competing download from taking the bandwidth. Static QoS classes have the opposite problem - they are in the network but they never adapt.
Then read the six objectives. They form a pipeline: measure, detect, prioritise, allocate or reroute, reduce impairments, and finally improve QoE.
The bottom strip is worth pausing on, because examiners often ask about it. QoS is what the network measures - delay, jitter, loss, throughput. QoE is what the user experiences - startup delay, stalls, quality switches, perceived quality scores like MOS, SSIM or VMAF. Better QoS usually improves QoE, but not always: a stream can meet its delay and loss targets and still look bad if the player oscillates between bitrates. That gap is the reason this use case is still an open research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papers, in order of what they contributed.
OpenQoS, 2012, is the foundational work and still the standard reference. Egilmez and colleagues split traffic at the controller: multimedia flows get a QoS-optimised route computed with a loss-aware metric, everything else keeps the shortest path. The controller polls link state, so when a path congests it recomputes. Two things to highlight - video was delivered with almost no visible artifacts, and crucially the other traffic was not harmed, which was a weakness of earlier QoS designs.
Kleinrouweler 2016 attacks a different failure. When several DASH players share one bottleneck, each one independently probes for bandwidth, and they fight - quality oscillates and streams freeze. Their answer is a DASH-assisting network element: the network tells each player what bitrate it can actually sustain, and shapes bandwidth to match. The result is stable, fairer quality. This paper won the DASH-IF Excellence in DASH award.
SDNDASH, also 2016, is the one to quote for numbers: per-client QoE improved by at least 30 percent, and the same network supported up to 80 percent more clients at equal QoE. That is the strongest quantitative evidence that SDN-side control pays off.
The pattern across all three: move some decision-making from the client into the controller, because only the controller can see the whole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 synthesis, so present the trend rather than three separate summaries.
VQoSRR, 2022, is the engineering-complete version of the 2012 idea: QoS routing plus explicit resource reservation using switch queues, and a re-routing algorithm that fires when QoE is violated. Note the shift - the trigger is a QoE violation, not just a link metric.
Al Jameel 2022 is the shift in method. Instead of a hand-designed routing metric, a reinforcement learning agent learns which paths serve video best by interacting with the SDN environment, and it is evaluated with VMAF and SSIM - perceptual quality measures. That is the move from static policy to learned policy.
The 2025 IEEE Access survey confirms this is where the field is heading - QoE-driven control across SDN, NFV and MEC with AI and ML - and it explicitly lists real-time QoE monitoring and multi-service resource allocation as still-open problems.
Now the gap, and be careful to claim only what the papers support. First, reaction speed: OpenQoS polled roughly once per second, and later work still trades monitoring frequency against overhead. Second, the QoS-QoE mapping: several of these papers show good network metrics can coexist with a poor viewing experience. Third, scalability of centralised control - more monitoring means more controller load. Fourth, generality: thresholds tuned on one testbed do not transfer to another network or another video mix. Those four points, taken together, are what motivates an intelligent, closed-loop QoS framework.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framework we propose for the use case, and it is deliberately assembled from what the literature already validated rather than invented from scratch.
Bottom half, the data plane: video clients, a streaming server, and OpenFlow switches in between. Nothing here decides policy - the switches only forward according to the rules they hold.
Top half, the control plane, has three modules. Monitoring collects port and flow counters and derives delay, jitter and loss. The QoS decision module - the highlighted box - detects congestion or degradation and chooses a path and a queue for each video flow. Flow rule enforcement installs or updates the OpenFlow rules.
The two arrows are the point of the whole design. Statistics flow up, flow rules flow down, and this repeats while the video is still playing. That closed loop is what a traditional configured network cannot do.
Expected outcome: better use of available bandwidth, lower latency, loss and jitter, fewer rebuffering events, and a higher and steadier QoE.
Close on the three takeaways. Video exposes the limits of best-effort delivery, so QoS has to be continuous rather than configured once. SDN provides the two missing ingredients - a global view and programmable per-flow enforcement. And the remaining research problem is intelligence and scale: mapping network QoS onto user QoE, and adapting quickly without overloading a centralised controller. That last point is where our future work would go. Thank you -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633"/>
        </a:solidFill>
      </p:bgPr>
    </p:bg>
    <p:spTree>
      <p:nvGrpSpPr>
        <p:cNvPr id="1" name=""/>
        <p:cNvGrpSpPr/>
        <p:nvPr/>
      </p:nvGrpSpPr>
      <p:grpSpPr>
        <a:xfrm>
          <a:off x="0" y="0"/>
          <a:ext cx="0" cy="0"/>
          <a:chOff x="0" y="0"/>
          <a:chExt cx="0" cy="0"/>
        </a:xfrm>
      </p:grpSpPr>
      <p:sp>
        <p:nvSpPr>
          <p:cNvPr id="2" name="Shape 0"/>
          <p:cNvSpPr/>
          <p:nvPr/>
        </p:nvSpPr>
        <p:spPr>
          <a:xfrm>
            <a:off x="9189720" y="1828800"/>
            <a:ext cx="1371600" cy="502920"/>
          </a:xfrm>
          <a:prstGeom prst="line">
            <a:avLst/>
          </a:prstGeom>
          <a:noFill/>
          <a:ln w="15875">
            <a:solidFill>
              <a:srgbClr val="7A6BD6">
                <a:alpha val="55000"/>
              </a:srgbClr>
            </a:solidFill>
            <a:prstDash val="solid"/>
          </a:ln>
        </p:spPr>
      </p:sp>
      <p:sp>
        <p:nvSpPr>
          <p:cNvPr id="3" name="Shape 1"/>
          <p:cNvSpPr/>
          <p:nvPr/>
        </p:nvSpPr>
        <p:spPr>
          <a:xfrm flipH="1">
            <a:off x="8915400" y="1828800"/>
            <a:ext cx="274320" cy="1417320"/>
          </a:xfrm>
          <a:prstGeom prst="line">
            <a:avLst/>
          </a:prstGeom>
          <a:noFill/>
          <a:ln w="15875">
            <a:solidFill>
              <a:srgbClr val="7A6BD6">
                <a:alpha val="55000"/>
              </a:srgbClr>
            </a:solidFill>
            <a:prstDash val="solid"/>
          </a:ln>
        </p:spPr>
      </p:sp>
      <p:sp>
        <p:nvSpPr>
          <p:cNvPr id="4" name="Shape 2"/>
          <p:cNvSpPr/>
          <p:nvPr/>
        </p:nvSpPr>
        <p:spPr>
          <a:xfrm>
            <a:off x="10561320" y="2331720"/>
            <a:ext cx="731520" cy="548640"/>
          </a:xfrm>
          <a:prstGeom prst="line">
            <a:avLst/>
          </a:prstGeom>
          <a:noFill/>
          <a:ln w="15875">
            <a:solidFill>
              <a:srgbClr val="7A6BD6">
                <a:alpha val="55000"/>
              </a:srgbClr>
            </a:solidFill>
            <a:prstDash val="solid"/>
          </a:ln>
        </p:spPr>
      </p:sp>
      <p:sp>
        <p:nvSpPr>
          <p:cNvPr id="5" name="Shape 3"/>
          <p:cNvSpPr/>
          <p:nvPr/>
        </p:nvSpPr>
        <p:spPr>
          <a:xfrm>
            <a:off x="8915400" y="3246120"/>
            <a:ext cx="777240" cy="1097280"/>
          </a:xfrm>
          <a:prstGeom prst="line">
            <a:avLst/>
          </a:prstGeom>
          <a:noFill/>
          <a:ln w="15875">
            <a:solidFill>
              <a:srgbClr val="7A6BD6">
                <a:alpha val="55000"/>
              </a:srgbClr>
            </a:solidFill>
            <a:prstDash val="solid"/>
          </a:ln>
        </p:spPr>
      </p:sp>
      <p:sp>
        <p:nvSpPr>
          <p:cNvPr id="6" name="Shape 4"/>
          <p:cNvSpPr/>
          <p:nvPr/>
        </p:nvSpPr>
        <p:spPr>
          <a:xfrm flipH="1">
            <a:off x="9692640" y="3703320"/>
            <a:ext cx="1188720" cy="640080"/>
          </a:xfrm>
          <a:prstGeom prst="line">
            <a:avLst/>
          </a:prstGeom>
          <a:noFill/>
          <a:ln w="15875">
            <a:solidFill>
              <a:srgbClr val="7A6BD6">
                <a:alpha val="55000"/>
              </a:srgbClr>
            </a:solidFill>
            <a:prstDash val="solid"/>
          </a:ln>
        </p:spPr>
      </p:sp>
      <p:sp>
        <p:nvSpPr>
          <p:cNvPr id="7" name="Shape 5"/>
          <p:cNvSpPr/>
          <p:nvPr/>
        </p:nvSpPr>
        <p:spPr>
          <a:xfrm flipH="1">
            <a:off x="10881360" y="2880360"/>
            <a:ext cx="411480" cy="822960"/>
          </a:xfrm>
          <a:prstGeom prst="line">
            <a:avLst/>
          </a:prstGeom>
          <a:noFill/>
          <a:ln w="15875">
            <a:solidFill>
              <a:srgbClr val="7A6BD6">
                <a:alpha val="55000"/>
              </a:srgbClr>
            </a:solidFill>
            <a:prstDash val="solid"/>
          </a:ln>
        </p:spPr>
      </p:sp>
      <p:sp>
        <p:nvSpPr>
          <p:cNvPr id="8" name="Shape 6"/>
          <p:cNvSpPr/>
          <p:nvPr/>
        </p:nvSpPr>
        <p:spPr>
          <a:xfrm>
            <a:off x="10561320" y="2331720"/>
            <a:ext cx="320040" cy="1371600"/>
          </a:xfrm>
          <a:prstGeom prst="line">
            <a:avLst/>
          </a:prstGeom>
          <a:noFill/>
          <a:ln w="15875">
            <a:solidFill>
              <a:srgbClr val="7A6BD6">
                <a:alpha val="55000"/>
              </a:srgbClr>
            </a:solidFill>
            <a:prstDash val="solid"/>
          </a:ln>
        </p:spPr>
      </p:sp>
      <p:sp>
        <p:nvSpPr>
          <p:cNvPr id="9" name="Shape 7"/>
          <p:cNvSpPr/>
          <p:nvPr/>
        </p:nvSpPr>
        <p:spPr>
          <a:xfrm>
            <a:off x="9089136" y="1728216"/>
            <a:ext cx="201168" cy="201168"/>
          </a:xfrm>
          <a:prstGeom prst="ellipse">
            <a:avLst/>
          </a:prstGeom>
          <a:solidFill>
            <a:srgbClr val="7A6BD6"/>
          </a:solidFill>
          <a:ln w="9525">
            <a:solidFill>
              <a:srgbClr val="FFFFFF">
                <a:alpha val="45000"/>
              </a:srgbClr>
            </a:solidFill>
            <a:prstDash val="solid"/>
          </a:ln>
        </p:spPr>
      </p:sp>
      <p:sp>
        <p:nvSpPr>
          <p:cNvPr id="10" name="Shape 8"/>
          <p:cNvSpPr/>
          <p:nvPr/>
        </p:nvSpPr>
        <p:spPr>
          <a:xfrm>
            <a:off x="10460736" y="2231136"/>
            <a:ext cx="201168" cy="201168"/>
          </a:xfrm>
          <a:prstGeom prst="ellipse">
            <a:avLst/>
          </a:prstGeom>
          <a:solidFill>
            <a:srgbClr val="4C3B9E"/>
          </a:solidFill>
          <a:ln w="9525">
            <a:solidFill>
              <a:srgbClr val="FFFFFF">
                <a:alpha val="45000"/>
              </a:srgbClr>
            </a:solidFill>
            <a:prstDash val="solid"/>
          </a:ln>
        </p:spPr>
      </p:sp>
      <p:sp>
        <p:nvSpPr>
          <p:cNvPr id="11" name="Shape 9"/>
          <p:cNvSpPr/>
          <p:nvPr/>
        </p:nvSpPr>
        <p:spPr>
          <a:xfrm>
            <a:off x="8814816" y="3145536"/>
            <a:ext cx="201168" cy="201168"/>
          </a:xfrm>
          <a:prstGeom prst="ellipse">
            <a:avLst/>
          </a:prstGeom>
          <a:solidFill>
            <a:srgbClr val="4C3B9E"/>
          </a:solidFill>
          <a:ln w="9525">
            <a:solidFill>
              <a:srgbClr val="FFFFFF">
                <a:alpha val="45000"/>
              </a:srgbClr>
            </a:solidFill>
            <a:prstDash val="solid"/>
          </a:ln>
        </p:spPr>
      </p:sp>
      <p:sp>
        <p:nvSpPr>
          <p:cNvPr id="12" name="Shape 10"/>
          <p:cNvSpPr/>
          <p:nvPr/>
        </p:nvSpPr>
        <p:spPr>
          <a:xfrm>
            <a:off x="10780776" y="3602736"/>
            <a:ext cx="201168" cy="201168"/>
          </a:xfrm>
          <a:prstGeom prst="ellipse">
            <a:avLst/>
          </a:prstGeom>
          <a:solidFill>
            <a:srgbClr val="7A6BD6"/>
          </a:solidFill>
          <a:ln w="9525">
            <a:solidFill>
              <a:srgbClr val="FFFFFF">
                <a:alpha val="45000"/>
              </a:srgbClr>
            </a:solidFill>
            <a:prstDash val="solid"/>
          </a:ln>
        </p:spPr>
      </p:sp>
      <p:sp>
        <p:nvSpPr>
          <p:cNvPr id="13" name="Shape 11"/>
          <p:cNvSpPr/>
          <p:nvPr/>
        </p:nvSpPr>
        <p:spPr>
          <a:xfrm>
            <a:off x="9592056" y="4242816"/>
            <a:ext cx="201168" cy="201168"/>
          </a:xfrm>
          <a:prstGeom prst="ellipse">
            <a:avLst/>
          </a:prstGeom>
          <a:solidFill>
            <a:srgbClr val="4C3B9E"/>
          </a:solidFill>
          <a:ln w="9525">
            <a:solidFill>
              <a:srgbClr val="FFFFFF">
                <a:alpha val="45000"/>
              </a:srgbClr>
            </a:solidFill>
            <a:prstDash val="solid"/>
          </a:ln>
        </p:spPr>
      </p:sp>
      <p:sp>
        <p:nvSpPr>
          <p:cNvPr id="14" name="Shape 12"/>
          <p:cNvSpPr/>
          <p:nvPr/>
        </p:nvSpPr>
        <p:spPr>
          <a:xfrm>
            <a:off x="11192256" y="2779776"/>
            <a:ext cx="201168" cy="201168"/>
          </a:xfrm>
          <a:prstGeom prst="ellipse">
            <a:avLst/>
          </a:prstGeom>
          <a:solidFill>
            <a:srgbClr val="4C3B9E"/>
          </a:solidFill>
          <a:ln w="9525">
            <a:solidFill>
              <a:srgbClr val="FFFFFF">
                <a:alpha val="45000"/>
              </a:srgbClr>
            </a:solidFill>
            <a:prstDash val="solid"/>
          </a:ln>
        </p:spPr>
      </p:sp>
      <p:sp>
        <p:nvSpPr>
          <p:cNvPr id="15" name="Shape 13"/>
          <p:cNvSpPr/>
          <p:nvPr/>
        </p:nvSpPr>
        <p:spPr>
          <a:xfrm>
            <a:off x="9646920" y="2788920"/>
            <a:ext cx="1005840" cy="1005840"/>
          </a:xfrm>
          <a:prstGeom prst="ellipse">
            <a:avLst/>
          </a:prstGeom>
          <a:solidFill>
            <a:srgbClr val="E8912B"/>
          </a:solidFill>
          <a:ln w="12700">
            <a:solidFill>
              <a:srgbClr val="E8912B"/>
            </a:solidFill>
            <a:prstDash val="solid"/>
          </a:ln>
          <a:effectLst>
            <a:outerShdw sx="100000" sy="100000" kx="0" ky="0" algn="bl" rotWithShape="0" blurRad="177800" dist="38100" dir="5400000">
              <a:srgbClr val="1A1633">
                <a:alpha val="14000"/>
              </a:srgbClr>
            </a:outerShdw>
          </a:effectLst>
        </p:spPr>
      </p:sp>
      <p:sp>
        <p:nvSpPr>
          <p:cNvPr id="16" name="Shape 14"/>
          <p:cNvSpPr/>
          <p:nvPr/>
        </p:nvSpPr>
        <p:spPr>
          <a:xfrm rot="5400000">
            <a:off x="9985248" y="3035808"/>
            <a:ext cx="384048" cy="512064"/>
          </a:xfrm>
          <a:prstGeom prst="triangle">
            <a:avLst/>
          </a:prstGeom>
          <a:solidFill>
            <a:srgbClr val="1A1633"/>
          </a:solidFill>
          <a:ln w="12700">
            <a:solidFill>
              <a:srgbClr val="1A1633"/>
            </a:solidFill>
            <a:prstDash val="solid"/>
          </a:ln>
        </p:spPr>
      </p:sp>
      <p:sp>
        <p:nvSpPr>
          <p:cNvPr id="17" name="Text 15"/>
          <p:cNvSpPr/>
          <p:nvPr/>
        </p:nvSpPr>
        <p:spPr>
          <a:xfrm>
            <a:off x="822960" y="1417320"/>
            <a:ext cx="7498080" cy="292608"/>
          </a:xfrm>
          <a:prstGeom prst="rect">
            <a:avLst/>
          </a:prstGeom>
          <a:noFill/>
          <a:ln/>
        </p:spPr>
        <p:txBody>
          <a:bodyPr wrap="square" lIns="0" tIns="0" rIns="0" bIns="0" rtlCol="0" anchor="ctr"/>
          <a:lstStyle/>
          <a:p>
            <a:pPr indent="0" marL="0">
              <a:buNone/>
            </a:pPr>
            <a:r>
              <a:rPr lang="en-US" sz="1300" b="1" spc="300" kern="0" dirty="0">
                <a:solidFill>
                  <a:srgbClr val="E8912B"/>
                </a:solidFill>
                <a:latin typeface="Calibri" pitchFamily="34" charset="0"/>
                <a:ea typeface="Calibri" pitchFamily="34" charset="-122"/>
                <a:cs typeface="Calibri" pitchFamily="34" charset="-120"/>
              </a:rPr>
              <a:t>USE CASE REVIEW</a:t>
            </a:r>
            <a:endParaRPr lang="en-US" sz="1300" dirty="0"/>
          </a:p>
        </p:txBody>
      </p:sp>
      <p:sp>
        <p:nvSpPr>
          <p:cNvPr id="18" name="Text 16"/>
          <p:cNvSpPr/>
          <p:nvPr/>
        </p:nvSpPr>
        <p:spPr>
          <a:xfrm>
            <a:off x="822960" y="1783080"/>
            <a:ext cx="7680960" cy="1691640"/>
          </a:xfrm>
          <a:prstGeom prst="rect">
            <a:avLst/>
          </a:prstGeom>
          <a:noFill/>
          <a:ln/>
        </p:spPr>
        <p:txBody>
          <a:bodyPr wrap="square" lIns="0" tIns="0" rIns="0" bIns="0" rtlCol="0" anchor="ctr"/>
          <a:lstStyle/>
          <a:p>
            <a:pPr indent="0" marL="0">
              <a:lnSpc>
                <a:spcPct val="105000"/>
              </a:lnSpc>
              <a:buNone/>
            </a:pPr>
            <a:r>
              <a:rPr lang="en-US" sz="4100" b="1" dirty="0">
                <a:solidFill>
                  <a:srgbClr val="FFFFFF"/>
                </a:solidFill>
                <a:latin typeface="Cambria" pitchFamily="34" charset="0"/>
                <a:ea typeface="Cambria" pitchFamily="34" charset="-122"/>
                <a:cs typeface="Cambria" pitchFamily="34" charset="-120"/>
              </a:rPr>
              <a:t>SDN-Based QoS Management</a:t>
            </a:r>
            <a:endParaRPr lang="en-US" sz="4100" dirty="0"/>
          </a:p>
          <a:p>
            <a:pPr indent="0" marL="0">
              <a:lnSpc>
                <a:spcPct val="105000"/>
              </a:lnSpc>
              <a:buNone/>
            </a:pPr>
            <a:r>
              <a:rPr lang="en-US" sz="4100" b="1" dirty="0">
                <a:solidFill>
                  <a:srgbClr val="FFFFFF"/>
                </a:solidFill>
                <a:latin typeface="Cambria" pitchFamily="34" charset="0"/>
                <a:ea typeface="Cambria" pitchFamily="34" charset="-122"/>
                <a:cs typeface="Cambria" pitchFamily="34" charset="-120"/>
              </a:rPr>
              <a:t>for Video Streaming</a:t>
            </a:r>
            <a:endParaRPr lang="en-US" sz="4100" dirty="0"/>
          </a:p>
        </p:txBody>
      </p:sp>
      <p:sp>
        <p:nvSpPr>
          <p:cNvPr id="19" name="Text 17"/>
          <p:cNvSpPr/>
          <p:nvPr/>
        </p:nvSpPr>
        <p:spPr>
          <a:xfrm>
            <a:off x="822960" y="3566160"/>
            <a:ext cx="7315200" cy="502920"/>
          </a:xfrm>
          <a:prstGeom prst="rect">
            <a:avLst/>
          </a:prstGeom>
          <a:noFill/>
          <a:ln/>
        </p:spPr>
        <p:txBody>
          <a:bodyPr wrap="square" lIns="0" tIns="0" rIns="0" bIns="0" rtlCol="0" anchor="ctr"/>
          <a:lstStyle/>
          <a:p>
            <a:pPr indent="0" marL="0">
              <a:buNone/>
            </a:pPr>
            <a:r>
              <a:rPr lang="en-US" sz="1500" i="1" dirty="0">
                <a:solidFill>
                  <a:srgbClr val="E6E2F6"/>
                </a:solidFill>
                <a:latin typeface="Calibri" pitchFamily="34" charset="0"/>
                <a:ea typeface="Calibri" pitchFamily="34" charset="-122"/>
                <a:cs typeface="Calibri" pitchFamily="34" charset="-120"/>
              </a:rPr>
              <a:t>How Software Defined Networking can dynamically manage Quality of Service for video streaming</a:t>
            </a:r>
            <a:endParaRPr lang="en-US" sz="1500" dirty="0"/>
          </a:p>
        </p:txBody>
      </p:sp>
      <p:sp>
        <p:nvSpPr>
          <p:cNvPr id="20" name="Shape 18"/>
          <p:cNvSpPr/>
          <p:nvPr/>
        </p:nvSpPr>
        <p:spPr>
          <a:xfrm>
            <a:off x="822960" y="4389120"/>
            <a:ext cx="7315200" cy="1554480"/>
          </a:xfrm>
          <a:prstGeom prst="roundRect">
            <a:avLst>
              <a:gd name="adj" fmla="val 5882"/>
            </a:avLst>
          </a:prstGeom>
          <a:solidFill>
            <a:srgbClr val="241E45"/>
          </a:solidFill>
          <a:ln w="12700">
            <a:solidFill>
              <a:srgbClr val="4C3B9E"/>
            </a:solidFill>
            <a:prstDash val="solid"/>
          </a:ln>
        </p:spPr>
      </p:sp>
      <p:sp>
        <p:nvSpPr>
          <p:cNvPr id="21" name="Text 19"/>
          <p:cNvSpPr/>
          <p:nvPr/>
        </p:nvSpPr>
        <p:spPr>
          <a:xfrm>
            <a:off x="1051560" y="4526280"/>
            <a:ext cx="6858000" cy="1280160"/>
          </a:xfrm>
          <a:prstGeom prst="rect">
            <a:avLst/>
          </a:prstGeom>
          <a:noFill/>
          <a:ln/>
        </p:spPr>
        <p:txBody>
          <a:bodyPr wrap="square" lIns="0" tIns="0" rIns="0" bIns="0" rtlCol="0" anchor="ctr"/>
          <a:lstStyle/>
          <a:p>
            <a:pPr indent="0" marL="0">
              <a:lnSpc>
                <a:spcPct val="130000"/>
              </a:lnSpc>
              <a:buNone/>
            </a:pPr>
            <a:r>
              <a:rPr lang="en-US" sz="1350" b="1" dirty="0">
                <a:solidFill>
                  <a:srgbClr val="7A6BD6"/>
                </a:solidFill>
                <a:latin typeface="Calibri" pitchFamily="34" charset="0"/>
                <a:ea typeface="Calibri" pitchFamily="34" charset="-122"/>
                <a:cs typeface="Calibri" pitchFamily="34" charset="-120"/>
              </a:rPr>
              <a:t>Course:  </a:t>
            </a:r>
            <a:pPr indent="0" marL="0">
              <a:lnSpc>
                <a:spcPct val="130000"/>
              </a:lnSpc>
              <a:buNone/>
            </a:pPr>
            <a:r>
              <a:rPr lang="en-US" sz="1350" dirty="0">
                <a:solidFill>
                  <a:srgbClr val="FFFFFF"/>
                </a:solidFill>
                <a:latin typeface="Calibri" pitchFamily="34" charset="0"/>
                <a:ea typeface="Calibri" pitchFamily="34" charset="-122"/>
                <a:cs typeface="Calibri" pitchFamily="34" charset="-120"/>
              </a:rPr>
              <a:t>Software Defined Networks (SDN)</a:t>
            </a:r>
            <a:pPr indent="0" marL="0">
              <a:lnSpc>
                <a:spcPct val="130000"/>
              </a:lnSpc>
              <a:buNone/>
            </a:pPr>
            <a:endParaRPr lang="en-US" sz="1350" dirty="0"/>
          </a:p>
          <a:p>
            <a:pPr indent="0" marL="0">
              <a:lnSpc>
                <a:spcPct val="130000"/>
              </a:lnSpc>
              <a:buNone/>
            </a:pPr>
            <a:r>
              <a:rPr lang="en-US" sz="1350" b="1" dirty="0">
                <a:solidFill>
                  <a:srgbClr val="7A6BD6"/>
                </a:solidFill>
                <a:latin typeface="Calibri" pitchFamily="34" charset="0"/>
                <a:ea typeface="Calibri" pitchFamily="34" charset="-122"/>
                <a:cs typeface="Calibri" pitchFamily="34" charset="-120"/>
              </a:rPr>
              <a:t>Presented by:  </a:t>
            </a:r>
            <a:endParaRPr lang="en-US" sz="1350" dirty="0"/>
          </a:p>
          <a:p>
            <a:pPr indent="0" marL="0">
              <a:lnSpc>
                <a:spcPct val="130000"/>
              </a:lnSpc>
              <a:buNone/>
            </a:pPr>
            <a:r>
              <a:rPr lang="en-US" sz="1350" dirty="0">
                <a:solidFill>
                  <a:srgbClr val="FFFFFF"/>
                </a:solidFill>
                <a:latin typeface="Calibri" pitchFamily="34" charset="0"/>
                <a:ea typeface="Calibri" pitchFamily="34" charset="-122"/>
                <a:cs typeface="Calibri" pitchFamily="34" charset="-120"/>
              </a:rPr>
              <a:t>Your Name  ·  Roll No.  ·  Team members</a:t>
            </a:r>
            <a:pPr indent="0" marL="0">
              <a:lnSpc>
                <a:spcPct val="130000"/>
              </a:lnSpc>
              <a:buNone/>
            </a:pPr>
            <a:endParaRPr lang="en-US" sz="1350" dirty="0"/>
          </a:p>
          <a:p>
            <a:pPr indent="0" marL="0">
              <a:lnSpc>
                <a:spcPct val="130000"/>
              </a:lnSpc>
              <a:buNone/>
            </a:pPr>
            <a:r>
              <a:rPr lang="en-US" sz="1350" b="1" dirty="0">
                <a:solidFill>
                  <a:srgbClr val="7A6BD6"/>
                </a:solidFill>
                <a:latin typeface="Calibri" pitchFamily="34" charset="0"/>
                <a:ea typeface="Calibri" pitchFamily="34" charset="-122"/>
                <a:cs typeface="Calibri" pitchFamily="34" charset="-120"/>
              </a:rPr>
              <a:t>Department / University:  </a:t>
            </a:r>
            <a:endParaRPr lang="en-US" sz="1350" dirty="0"/>
          </a:p>
          <a:p>
            <a:pPr indent="0" marL="0">
              <a:lnSpc>
                <a:spcPct val="130000"/>
              </a:lnSpc>
              <a:buNone/>
            </a:pPr>
            <a:r>
              <a:rPr lang="en-US" sz="1350" dirty="0">
                <a:solidFill>
                  <a:srgbClr val="FFFFFF"/>
                </a:solidFill>
                <a:latin typeface="Calibri" pitchFamily="34" charset="0"/>
                <a:ea typeface="Calibri" pitchFamily="34" charset="-122"/>
                <a:cs typeface="Calibri" pitchFamily="34" charset="-120"/>
              </a:rPr>
              <a:t>Dept. of Computer Science &amp; Engineering</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64240" cy="658368"/>
          </a:xfrm>
          <a:prstGeom prst="rect">
            <a:avLst/>
          </a:prstGeom>
          <a:noFill/>
          <a:ln/>
        </p:spPr>
        <p:txBody>
          <a:bodyPr wrap="square" lIns="0" tIns="0" rIns="0" bIns="0" rtlCol="0" anchor="ctr"/>
          <a:lstStyle/>
          <a:p>
            <a:pPr indent="0" marL="0">
              <a:buNone/>
            </a:pPr>
            <a:r>
              <a:rPr lang="en-US" sz="3000" b="1" dirty="0">
                <a:solidFill>
                  <a:srgbClr val="1A1633"/>
                </a:solidFill>
                <a:latin typeface="Cambria" pitchFamily="34" charset="0"/>
                <a:ea typeface="Cambria" pitchFamily="34" charset="-122"/>
                <a:cs typeface="Cambria" pitchFamily="34" charset="-120"/>
              </a:rPr>
              <a:t>Problem Statement: Video Meets a Best-Effort Network</a:t>
            </a:r>
            <a:endParaRPr lang="en-US" sz="3000" dirty="0"/>
          </a:p>
        </p:txBody>
      </p:sp>
      <p:sp>
        <p:nvSpPr>
          <p:cNvPr id="3" name="Text 1"/>
          <p:cNvSpPr/>
          <p:nvPr/>
        </p:nvSpPr>
        <p:spPr>
          <a:xfrm>
            <a:off x="566928" y="896112"/>
            <a:ext cx="11064240" cy="274320"/>
          </a:xfrm>
          <a:prstGeom prst="rect">
            <a:avLst/>
          </a:prstGeom>
          <a:noFill/>
          <a:ln/>
        </p:spPr>
        <p:txBody>
          <a:bodyPr wrap="square" lIns="0" tIns="0" rIns="0" bIns="0" rtlCol="0" anchor="ctr"/>
          <a:lstStyle/>
          <a:p>
            <a:pPr indent="0" marL="0">
              <a:buNone/>
            </a:pPr>
            <a:r>
              <a:rPr lang="en-US" sz="1150" b="1" spc="160" kern="0" dirty="0">
                <a:solidFill>
                  <a:srgbClr val="4C3B9E"/>
                </a:solidFill>
                <a:latin typeface="Calibri" pitchFamily="34" charset="0"/>
                <a:ea typeface="Calibri" pitchFamily="34" charset="-122"/>
                <a:cs typeface="Calibri" pitchFamily="34" charset="-120"/>
              </a:rPr>
              <a:t>WHY QoS MATTERS MOST FOR VIDEO</a:t>
            </a:r>
            <a:endParaRPr lang="en-US" sz="1150" dirty="0"/>
          </a:p>
        </p:txBody>
      </p:sp>
      <p:sp>
        <p:nvSpPr>
          <p:cNvPr id="4" name="Shape 2"/>
          <p:cNvSpPr/>
          <p:nvPr/>
        </p:nvSpPr>
        <p:spPr>
          <a:xfrm>
            <a:off x="566928" y="1380744"/>
            <a:ext cx="274320" cy="274320"/>
          </a:xfrm>
          <a:prstGeom prst="ellipse">
            <a:avLst/>
          </a:prstGeom>
          <a:solidFill>
            <a:srgbClr val="4C3B9E"/>
          </a:solidFill>
          <a:ln w="12700">
            <a:solidFill>
              <a:srgbClr val="4C3B9E"/>
            </a:solidFill>
            <a:prstDash val="solid"/>
          </a:ln>
        </p:spPr>
      </p:sp>
      <p:sp>
        <p:nvSpPr>
          <p:cNvPr id="5" name="Text 3"/>
          <p:cNvSpPr/>
          <p:nvPr/>
        </p:nvSpPr>
        <p:spPr>
          <a:xfrm>
            <a:off x="566928" y="138074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6" name="Text 4"/>
          <p:cNvSpPr/>
          <p:nvPr/>
        </p:nvSpPr>
        <p:spPr>
          <a:xfrm>
            <a:off x="960120" y="1325880"/>
            <a:ext cx="4892040" cy="786384"/>
          </a:xfrm>
          <a:prstGeom prst="rect">
            <a:avLst/>
          </a:prstGeom>
          <a:noFill/>
          <a:ln/>
        </p:spPr>
        <p:txBody>
          <a:bodyPr wrap="square" lIns="0" tIns="0" rIns="0" bIns="0" rtlCol="0" anchor="ctr"/>
          <a:lstStyle/>
          <a:p>
            <a:pPr indent="0" marL="0">
              <a:lnSpc>
                <a:spcPct val="105000"/>
              </a:lnSpc>
              <a:buNone/>
            </a:pPr>
            <a:r>
              <a:rPr lang="en-US" sz="1400" b="1" dirty="0">
                <a:solidFill>
                  <a:srgbClr val="2A2740"/>
                </a:solidFill>
                <a:latin typeface="Calibri" pitchFamily="34" charset="0"/>
                <a:ea typeface="Calibri" pitchFamily="34" charset="-122"/>
                <a:cs typeface="Calibri" pitchFamily="34" charset="-120"/>
              </a:rPr>
              <a:t>Demand keeps climbing
</a:t>
            </a:r>
            <a:pPr indent="0" marL="0">
              <a:lnSpc>
                <a:spcPct val="105000"/>
              </a:lnSpc>
              <a:buNone/>
            </a:pPr>
            <a:r>
              <a:rPr lang="en-US" sz="1200" dirty="0">
                <a:solidFill>
                  <a:srgbClr val="6C6885"/>
                </a:solidFill>
                <a:latin typeface="Calibri" pitchFamily="34" charset="0"/>
                <a:ea typeface="Calibri" pitchFamily="34" charset="-122"/>
                <a:cs typeface="Calibri" pitchFamily="34" charset="-120"/>
              </a:rPr>
              <a:t>Video dominates internet traffic; HD, 4K and live streaming raise the bitrate floor every year.</a:t>
            </a:r>
            <a:endParaRPr lang="en-US" sz="1400" dirty="0"/>
          </a:p>
        </p:txBody>
      </p:sp>
      <p:sp>
        <p:nvSpPr>
          <p:cNvPr id="7" name="Shape 5"/>
          <p:cNvSpPr/>
          <p:nvPr/>
        </p:nvSpPr>
        <p:spPr>
          <a:xfrm>
            <a:off x="566928" y="2240280"/>
            <a:ext cx="274320" cy="274320"/>
          </a:xfrm>
          <a:prstGeom prst="ellipse">
            <a:avLst/>
          </a:prstGeom>
          <a:solidFill>
            <a:srgbClr val="4C3B9E"/>
          </a:solidFill>
          <a:ln w="12700">
            <a:solidFill>
              <a:srgbClr val="4C3B9E"/>
            </a:solidFill>
            <a:prstDash val="solid"/>
          </a:ln>
        </p:spPr>
      </p:sp>
      <p:sp>
        <p:nvSpPr>
          <p:cNvPr id="8" name="Text 6"/>
          <p:cNvSpPr/>
          <p:nvPr/>
        </p:nvSpPr>
        <p:spPr>
          <a:xfrm>
            <a:off x="566928" y="224028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9" name="Text 7"/>
          <p:cNvSpPr/>
          <p:nvPr/>
        </p:nvSpPr>
        <p:spPr>
          <a:xfrm>
            <a:off x="960120" y="2185416"/>
            <a:ext cx="4892040" cy="786384"/>
          </a:xfrm>
          <a:prstGeom prst="rect">
            <a:avLst/>
          </a:prstGeom>
          <a:noFill/>
          <a:ln/>
        </p:spPr>
        <p:txBody>
          <a:bodyPr wrap="square" lIns="0" tIns="0" rIns="0" bIns="0" rtlCol="0" anchor="ctr"/>
          <a:lstStyle/>
          <a:p>
            <a:pPr indent="0" marL="0">
              <a:lnSpc>
                <a:spcPct val="105000"/>
              </a:lnSpc>
              <a:buNone/>
            </a:pPr>
            <a:r>
              <a:rPr lang="en-US" sz="1400" b="1" dirty="0">
                <a:solidFill>
                  <a:srgbClr val="2A2740"/>
                </a:solidFill>
                <a:latin typeface="Calibri" pitchFamily="34" charset="0"/>
                <a:ea typeface="Calibri" pitchFamily="34" charset="-122"/>
                <a:cs typeface="Calibri" pitchFamily="34" charset="-120"/>
              </a:rPr>
              <a:t>Bandwidth is not stable
</a:t>
            </a:r>
            <a:pPr indent="0" marL="0">
              <a:lnSpc>
                <a:spcPct val="105000"/>
              </a:lnSpc>
              <a:buNone/>
            </a:pPr>
            <a:r>
              <a:rPr lang="en-US" sz="1200" dirty="0">
                <a:solidFill>
                  <a:srgbClr val="6C6885"/>
                </a:solidFill>
                <a:latin typeface="Calibri" pitchFamily="34" charset="0"/>
                <a:ea typeface="Calibri" pitchFamily="34" charset="-122"/>
                <a:cs typeface="Calibri" pitchFamily="34" charset="-120"/>
              </a:rPr>
              <a:t>Available capacity fluctuates with load; bottleneck links congest at peak hours.</a:t>
            </a:r>
            <a:endParaRPr lang="en-US" sz="1400" dirty="0"/>
          </a:p>
        </p:txBody>
      </p:sp>
      <p:sp>
        <p:nvSpPr>
          <p:cNvPr id="10" name="Shape 8"/>
          <p:cNvSpPr/>
          <p:nvPr/>
        </p:nvSpPr>
        <p:spPr>
          <a:xfrm>
            <a:off x="566928" y="3099816"/>
            <a:ext cx="274320" cy="274320"/>
          </a:xfrm>
          <a:prstGeom prst="ellipse">
            <a:avLst/>
          </a:prstGeom>
          <a:solidFill>
            <a:srgbClr val="4C3B9E"/>
          </a:solidFill>
          <a:ln w="12700">
            <a:solidFill>
              <a:srgbClr val="4C3B9E"/>
            </a:solidFill>
            <a:prstDash val="solid"/>
          </a:ln>
        </p:spPr>
      </p:sp>
      <p:sp>
        <p:nvSpPr>
          <p:cNvPr id="11" name="Text 9"/>
          <p:cNvSpPr/>
          <p:nvPr/>
        </p:nvSpPr>
        <p:spPr>
          <a:xfrm>
            <a:off x="566928" y="309981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2" name="Text 10"/>
          <p:cNvSpPr/>
          <p:nvPr/>
        </p:nvSpPr>
        <p:spPr>
          <a:xfrm>
            <a:off x="960120" y="3044952"/>
            <a:ext cx="4892040" cy="786384"/>
          </a:xfrm>
          <a:prstGeom prst="rect">
            <a:avLst/>
          </a:prstGeom>
          <a:noFill/>
          <a:ln/>
        </p:spPr>
        <p:txBody>
          <a:bodyPr wrap="square" lIns="0" tIns="0" rIns="0" bIns="0" rtlCol="0" anchor="ctr"/>
          <a:lstStyle/>
          <a:p>
            <a:pPr indent="0" marL="0">
              <a:lnSpc>
                <a:spcPct val="105000"/>
              </a:lnSpc>
              <a:buNone/>
            </a:pPr>
            <a:r>
              <a:rPr lang="en-US" sz="1400" b="1" dirty="0">
                <a:solidFill>
                  <a:srgbClr val="2A2740"/>
                </a:solidFill>
                <a:latin typeface="Calibri" pitchFamily="34" charset="0"/>
                <a:ea typeface="Calibri" pitchFamily="34" charset="-122"/>
                <a:cs typeface="Calibri" pitchFamily="34" charset="-120"/>
              </a:rPr>
              <a:t>QoS degrades in four ways
</a:t>
            </a:r>
            <a:pPr indent="0" marL="0">
              <a:lnSpc>
                <a:spcPct val="105000"/>
              </a:lnSpc>
              <a:buNone/>
            </a:pPr>
            <a:r>
              <a:rPr lang="en-US" sz="1200" dirty="0">
                <a:solidFill>
                  <a:srgbClr val="6C6885"/>
                </a:solidFill>
                <a:latin typeface="Calibri" pitchFamily="34" charset="0"/>
                <a:ea typeface="Calibri" pitchFamily="34" charset="-122"/>
                <a:cs typeface="Calibri" pitchFamily="34" charset="-120"/>
              </a:rPr>
              <a:t>Latency, jitter, packet loss and throughput variation - all four hit video at once.</a:t>
            </a:r>
            <a:endParaRPr lang="en-US" sz="1400" dirty="0"/>
          </a:p>
        </p:txBody>
      </p:sp>
      <p:sp>
        <p:nvSpPr>
          <p:cNvPr id="13" name="Shape 11"/>
          <p:cNvSpPr/>
          <p:nvPr/>
        </p:nvSpPr>
        <p:spPr>
          <a:xfrm>
            <a:off x="566928" y="3959352"/>
            <a:ext cx="274320" cy="274320"/>
          </a:xfrm>
          <a:prstGeom prst="ellipse">
            <a:avLst/>
          </a:prstGeom>
          <a:solidFill>
            <a:srgbClr val="4C3B9E"/>
          </a:solidFill>
          <a:ln w="12700">
            <a:solidFill>
              <a:srgbClr val="4C3B9E"/>
            </a:solidFill>
            <a:prstDash val="solid"/>
          </a:ln>
        </p:spPr>
      </p:sp>
      <p:sp>
        <p:nvSpPr>
          <p:cNvPr id="14" name="Text 12"/>
          <p:cNvSpPr/>
          <p:nvPr/>
        </p:nvSpPr>
        <p:spPr>
          <a:xfrm>
            <a:off x="566928" y="395935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5" name="Text 13"/>
          <p:cNvSpPr/>
          <p:nvPr/>
        </p:nvSpPr>
        <p:spPr>
          <a:xfrm>
            <a:off x="960120" y="3904488"/>
            <a:ext cx="4892040" cy="786384"/>
          </a:xfrm>
          <a:prstGeom prst="rect">
            <a:avLst/>
          </a:prstGeom>
          <a:noFill/>
          <a:ln/>
        </p:spPr>
        <p:txBody>
          <a:bodyPr wrap="square" lIns="0" tIns="0" rIns="0" bIns="0" rtlCol="0" anchor="ctr"/>
          <a:lstStyle/>
          <a:p>
            <a:pPr indent="0" marL="0">
              <a:lnSpc>
                <a:spcPct val="105000"/>
              </a:lnSpc>
              <a:buNone/>
            </a:pPr>
            <a:r>
              <a:rPr lang="en-US" sz="1400" b="1" dirty="0">
                <a:solidFill>
                  <a:srgbClr val="2A2740"/>
                </a:solidFill>
                <a:latin typeface="Calibri" pitchFamily="34" charset="0"/>
                <a:ea typeface="Calibri" pitchFamily="34" charset="-122"/>
                <a:cs typeface="Calibri" pitchFamily="34" charset="-120"/>
              </a:rPr>
              <a:t>The user feels it immediately
</a:t>
            </a:r>
            <a:pPr indent="0" marL="0">
              <a:lnSpc>
                <a:spcPct val="105000"/>
              </a:lnSpc>
              <a:buNone/>
            </a:pPr>
            <a:r>
              <a:rPr lang="en-US" sz="1200" dirty="0">
                <a:solidFill>
                  <a:srgbClr val="6C6885"/>
                </a:solidFill>
                <a:latin typeface="Calibri" pitchFamily="34" charset="0"/>
                <a:ea typeface="Calibri" pitchFamily="34" charset="-122"/>
                <a:cs typeface="Calibri" pitchFamily="34" charset="-120"/>
              </a:rPr>
              <a:t>Rebuffering, bitrate switching, long startup delay, visible artifacts.</a:t>
            </a:r>
            <a:endParaRPr lang="en-US" sz="1400" dirty="0"/>
          </a:p>
        </p:txBody>
      </p:sp>
      <p:sp>
        <p:nvSpPr>
          <p:cNvPr id="16" name="Shape 14"/>
          <p:cNvSpPr/>
          <p:nvPr/>
        </p:nvSpPr>
        <p:spPr>
          <a:xfrm>
            <a:off x="566928" y="4818888"/>
            <a:ext cx="274320" cy="274320"/>
          </a:xfrm>
          <a:prstGeom prst="ellipse">
            <a:avLst/>
          </a:prstGeom>
          <a:solidFill>
            <a:srgbClr val="E8912B"/>
          </a:solidFill>
          <a:ln w="12700">
            <a:solidFill>
              <a:srgbClr val="E8912B"/>
            </a:solidFill>
            <a:prstDash val="solid"/>
          </a:ln>
        </p:spPr>
      </p:sp>
      <p:sp>
        <p:nvSpPr>
          <p:cNvPr id="17" name="Text 15"/>
          <p:cNvSpPr/>
          <p:nvPr/>
        </p:nvSpPr>
        <p:spPr>
          <a:xfrm>
            <a:off x="566928" y="481888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18" name="Text 16"/>
          <p:cNvSpPr/>
          <p:nvPr/>
        </p:nvSpPr>
        <p:spPr>
          <a:xfrm>
            <a:off x="960120" y="4764024"/>
            <a:ext cx="4892040" cy="786384"/>
          </a:xfrm>
          <a:prstGeom prst="rect">
            <a:avLst/>
          </a:prstGeom>
          <a:noFill/>
          <a:ln/>
        </p:spPr>
        <p:txBody>
          <a:bodyPr wrap="square" lIns="0" tIns="0" rIns="0" bIns="0" rtlCol="0" anchor="ctr"/>
          <a:lstStyle/>
          <a:p>
            <a:pPr indent="0" marL="0">
              <a:lnSpc>
                <a:spcPct val="105000"/>
              </a:lnSpc>
              <a:buNone/>
            </a:pPr>
            <a:r>
              <a:rPr lang="en-US" sz="1400" b="1" dirty="0">
                <a:solidFill>
                  <a:srgbClr val="2A2740"/>
                </a:solidFill>
                <a:latin typeface="Calibri" pitchFamily="34" charset="0"/>
                <a:ea typeface="Calibri" pitchFamily="34" charset="-122"/>
                <a:cs typeface="Calibri" pitchFamily="34" charset="-120"/>
              </a:rPr>
              <a:t>Conventional management is too slow
</a:t>
            </a:r>
            <a:pPr indent="0" marL="0">
              <a:lnSpc>
                <a:spcPct val="105000"/>
              </a:lnSpc>
              <a:buNone/>
            </a:pPr>
            <a:r>
              <a:rPr lang="en-US" sz="1200" dirty="0">
                <a:solidFill>
                  <a:srgbClr val="6C6885"/>
                </a:solidFill>
                <a:latin typeface="Calibri" pitchFamily="34" charset="0"/>
                <a:ea typeface="Calibri" pitchFamily="34" charset="-122"/>
                <a:cs typeface="Calibri" pitchFamily="34" charset="-120"/>
              </a:rPr>
              <a:t>Static DiffServ / IntServ classes, per-device CLI configuration, no network-wide view or fast reaction.</a:t>
            </a:r>
            <a:endParaRPr lang="en-US" sz="1400" dirty="0"/>
          </a:p>
        </p:txBody>
      </p:sp>
      <p:sp>
        <p:nvSpPr>
          <p:cNvPr id="19" name="Shape 17"/>
          <p:cNvSpPr/>
          <p:nvPr/>
        </p:nvSpPr>
        <p:spPr>
          <a:xfrm>
            <a:off x="566928" y="5623560"/>
            <a:ext cx="5285232" cy="685800"/>
          </a:xfrm>
          <a:prstGeom prst="roundRect">
            <a:avLst>
              <a:gd name="adj" fmla="val 10667"/>
            </a:avLst>
          </a:prstGeom>
          <a:solidFill>
            <a:srgbClr val="F2F0FA"/>
          </a:solidFill>
          <a:ln w="12700">
            <a:solidFill>
              <a:srgbClr val="7A6BD6"/>
            </a:solidFill>
            <a:prstDash val="solid"/>
          </a:ln>
        </p:spPr>
      </p:sp>
      <p:sp>
        <p:nvSpPr>
          <p:cNvPr id="20" name="Text 18"/>
          <p:cNvSpPr/>
          <p:nvPr/>
        </p:nvSpPr>
        <p:spPr>
          <a:xfrm>
            <a:off x="777240" y="5669280"/>
            <a:ext cx="4892040" cy="594360"/>
          </a:xfrm>
          <a:prstGeom prst="rect">
            <a:avLst/>
          </a:prstGeom>
          <a:noFill/>
          <a:ln/>
        </p:spPr>
        <p:txBody>
          <a:bodyPr wrap="square" lIns="0" tIns="0" rIns="0" bIns="0" rtlCol="0" anchor="ctr"/>
          <a:lstStyle/>
          <a:p>
            <a:pPr indent="0" marL="0">
              <a:buNone/>
            </a:pPr>
            <a:r>
              <a:rPr lang="en-US" sz="1200" b="1" dirty="0">
                <a:solidFill>
                  <a:srgbClr val="4C3B9E"/>
                </a:solidFill>
                <a:latin typeface="Calibri" pitchFamily="34" charset="0"/>
                <a:ea typeface="Calibri" pitchFamily="34" charset="-122"/>
                <a:cs typeface="Calibri" pitchFamily="34" charset="-120"/>
              </a:rPr>
              <a:t>Video is high-volume, delay-sensitive and continuously consumed</a:t>
            </a:r>
            <a:pPr indent="0" marL="0">
              <a:buNone/>
            </a:pPr>
            <a:r>
              <a:rPr lang="en-US" sz="1200" dirty="0">
                <a:solidFill>
                  <a:srgbClr val="2A2740"/>
                </a:solidFill>
                <a:latin typeface="Calibri" pitchFamily="34" charset="0"/>
                <a:ea typeface="Calibri" pitchFamily="34" charset="-122"/>
                <a:cs typeface="Calibri" pitchFamily="34" charset="-120"/>
              </a:rPr>
              <a:t> - so it is the traffic class that suffers first when QoS is left to chance.</a:t>
            </a:r>
            <a:endParaRPr lang="en-US" sz="1200" dirty="0"/>
          </a:p>
        </p:txBody>
      </p:sp>
      <p:sp>
        <p:nvSpPr>
          <p:cNvPr id="21" name="Text 19"/>
          <p:cNvSpPr/>
          <p:nvPr/>
        </p:nvSpPr>
        <p:spPr>
          <a:xfrm>
            <a:off x="6355080" y="1298448"/>
            <a:ext cx="2148840" cy="256032"/>
          </a:xfrm>
          <a:prstGeom prst="rect">
            <a:avLst/>
          </a:prstGeom>
          <a:noFill/>
          <a:ln/>
        </p:spPr>
        <p:txBody>
          <a:bodyPr wrap="square" lIns="0" tIns="0" rIns="0" bIns="0" rtlCol="0" anchor="ctr"/>
          <a:lstStyle/>
          <a:p>
            <a:pPr indent="0" marL="0">
              <a:buNone/>
            </a:pPr>
            <a:r>
              <a:rPr lang="en-US" sz="950" b="1" spc="120" kern="0" dirty="0">
                <a:solidFill>
                  <a:srgbClr val="6C6885"/>
                </a:solidFill>
                <a:latin typeface="Calibri" pitchFamily="34" charset="0"/>
                <a:ea typeface="Calibri" pitchFamily="34" charset="-122"/>
                <a:cs typeface="Calibri" pitchFamily="34" charset="-120"/>
              </a:rPr>
              <a:t>NETWORK SYMPTOM</a:t>
            </a:r>
            <a:endParaRPr lang="en-US" sz="950" dirty="0"/>
          </a:p>
        </p:txBody>
      </p:sp>
      <p:sp>
        <p:nvSpPr>
          <p:cNvPr id="22" name="Text 20"/>
          <p:cNvSpPr/>
          <p:nvPr/>
        </p:nvSpPr>
        <p:spPr>
          <a:xfrm>
            <a:off x="9098280" y="1298448"/>
            <a:ext cx="2514600" cy="256032"/>
          </a:xfrm>
          <a:prstGeom prst="rect">
            <a:avLst/>
          </a:prstGeom>
          <a:noFill/>
          <a:ln/>
        </p:spPr>
        <p:txBody>
          <a:bodyPr wrap="square" lIns="0" tIns="0" rIns="0" bIns="0" rtlCol="0" anchor="ctr"/>
          <a:lstStyle/>
          <a:p>
            <a:pPr indent="0" marL="0">
              <a:buNone/>
            </a:pPr>
            <a:r>
              <a:rPr lang="en-US" sz="950" b="1" spc="120" kern="0" dirty="0">
                <a:solidFill>
                  <a:srgbClr val="6C6885"/>
                </a:solidFill>
                <a:latin typeface="Calibri" pitchFamily="34" charset="0"/>
                <a:ea typeface="Calibri" pitchFamily="34" charset="-122"/>
                <a:cs typeface="Calibri" pitchFamily="34" charset="-120"/>
              </a:rPr>
              <a:t>WHAT THE VIEWER SEES</a:t>
            </a:r>
            <a:endParaRPr lang="en-US" sz="950" dirty="0"/>
          </a:p>
        </p:txBody>
      </p:sp>
      <p:sp>
        <p:nvSpPr>
          <p:cNvPr id="23" name="Shape 21"/>
          <p:cNvSpPr/>
          <p:nvPr/>
        </p:nvSpPr>
        <p:spPr>
          <a:xfrm>
            <a:off x="6355080" y="1645920"/>
            <a:ext cx="2148840" cy="868680"/>
          </a:xfrm>
          <a:prstGeom prst="roundRect">
            <a:avLst>
              <a:gd name="adj" fmla="val 8421"/>
            </a:avLst>
          </a:prstGeom>
          <a:solidFill>
            <a:srgbClr val="E6E2F6"/>
          </a:solidFill>
          <a:ln w="12700">
            <a:solidFill>
              <a:srgbClr val="7A6BD6"/>
            </a:solidFill>
            <a:prstDash val="solid"/>
          </a:ln>
        </p:spPr>
      </p:sp>
      <p:sp>
        <p:nvSpPr>
          <p:cNvPr id="24" name="Text 22"/>
          <p:cNvSpPr/>
          <p:nvPr/>
        </p:nvSpPr>
        <p:spPr>
          <a:xfrm>
            <a:off x="6400800" y="1645920"/>
            <a:ext cx="2057400" cy="868680"/>
          </a:xfrm>
          <a:prstGeom prst="rect">
            <a:avLst/>
          </a:prstGeom>
          <a:noFill/>
          <a:ln/>
        </p:spPr>
        <p:txBody>
          <a:bodyPr wrap="square" lIns="0" tIns="0" rIns="0" bIns="0" rtlCol="0" anchor="ctr"/>
          <a:lstStyle/>
          <a:p>
            <a:pPr algn="ctr" indent="0" marL="0">
              <a:buNone/>
            </a:pPr>
            <a:r>
              <a:rPr lang="en-US" sz="1150" b="1" dirty="0">
                <a:solidFill>
                  <a:srgbClr val="4C3B9E"/>
                </a:solidFill>
                <a:latin typeface="Calibri" pitchFamily="34" charset="0"/>
                <a:ea typeface="Calibri" pitchFamily="34" charset="-122"/>
                <a:cs typeface="Calibri" pitchFamily="34" charset="-120"/>
              </a:rPr>
              <a:t>Congestion /</a:t>
            </a:r>
            <a:endParaRPr lang="en-US" sz="1150" dirty="0"/>
          </a:p>
          <a:p>
            <a:pPr algn="ctr" indent="0" marL="0">
              <a:buNone/>
            </a:pPr>
            <a:r>
              <a:rPr lang="en-US" sz="1150" b="1" dirty="0">
                <a:solidFill>
                  <a:srgbClr val="4C3B9E"/>
                </a:solidFill>
                <a:latin typeface="Calibri" pitchFamily="34" charset="0"/>
                <a:ea typeface="Calibri" pitchFamily="34" charset="-122"/>
                <a:cs typeface="Calibri" pitchFamily="34" charset="-120"/>
              </a:rPr>
              <a:t>bandwidth drop</a:t>
            </a:r>
            <a:endParaRPr lang="en-US" sz="1150" dirty="0"/>
          </a:p>
        </p:txBody>
      </p:sp>
      <p:sp>
        <p:nvSpPr>
          <p:cNvPr id="25" name="Shape 23"/>
          <p:cNvSpPr/>
          <p:nvPr/>
        </p:nvSpPr>
        <p:spPr>
          <a:xfrm>
            <a:off x="8641080" y="1956816"/>
            <a:ext cx="365760" cy="246888"/>
          </a:xfrm>
          <a:prstGeom prst="rightArrow">
            <a:avLst/>
          </a:prstGeom>
          <a:solidFill>
            <a:srgbClr val="E8912B"/>
          </a:solidFill>
          <a:ln w="12700">
            <a:solidFill>
              <a:srgbClr val="E8912B"/>
            </a:solidFill>
            <a:prstDash val="solid"/>
          </a:ln>
        </p:spPr>
      </p:sp>
      <p:sp>
        <p:nvSpPr>
          <p:cNvPr id="26" name="Shape 24"/>
          <p:cNvSpPr/>
          <p:nvPr/>
        </p:nvSpPr>
        <p:spPr>
          <a:xfrm>
            <a:off x="9098280" y="1645920"/>
            <a:ext cx="2514600" cy="868680"/>
          </a:xfrm>
          <a:prstGeom prst="roundRect">
            <a:avLst>
              <a:gd name="adj" fmla="val 8421"/>
            </a:avLst>
          </a:prstGeom>
          <a:solidFill>
            <a:srgbClr val="1A1633"/>
          </a:solidFill>
          <a:ln w="12700">
            <a:solidFill>
              <a:srgbClr val="1A1633"/>
            </a:solidFill>
            <a:prstDash val="solid"/>
          </a:ln>
          <a:effectLst>
            <a:outerShdw sx="100000" sy="100000" kx="0" ky="0" algn="bl" rotWithShape="0" blurRad="76200" dist="12700" dir="5400000">
              <a:srgbClr val="1A1633">
                <a:alpha val="10000"/>
              </a:srgbClr>
            </a:outerShdw>
          </a:effectLst>
        </p:spPr>
      </p:sp>
      <p:sp>
        <p:nvSpPr>
          <p:cNvPr id="27" name="Text 25"/>
          <p:cNvSpPr/>
          <p:nvPr/>
        </p:nvSpPr>
        <p:spPr>
          <a:xfrm>
            <a:off x="9144000" y="1645920"/>
            <a:ext cx="2423160" cy="868680"/>
          </a:xfrm>
          <a:prstGeom prst="rect">
            <a:avLst/>
          </a:prstGeom>
          <a:noFill/>
          <a:ln/>
        </p:spPr>
        <p:txBody>
          <a:bodyPr wrap="square" lIns="0" tIns="0" rIns="0" bIns="0"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Bitrate drops, then</a:t>
            </a:r>
            <a:endParaRPr lang="en-US" sz="1150" dirty="0"/>
          </a:p>
          <a:p>
            <a:pPr algn="ctr" indent="0" marL="0">
              <a:buNone/>
            </a:pPr>
            <a:r>
              <a:rPr lang="en-US" sz="1150" dirty="0">
                <a:solidFill>
                  <a:srgbClr val="FFFFFF"/>
                </a:solidFill>
                <a:latin typeface="Calibri" pitchFamily="34" charset="0"/>
                <a:ea typeface="Calibri" pitchFamily="34" charset="-122"/>
                <a:cs typeface="Calibri" pitchFamily="34" charset="-120"/>
              </a:rPr>
              <a:t>rebuffering</a:t>
            </a:r>
            <a:endParaRPr lang="en-US" sz="1150" dirty="0"/>
          </a:p>
        </p:txBody>
      </p:sp>
      <p:sp>
        <p:nvSpPr>
          <p:cNvPr id="28" name="Shape 26"/>
          <p:cNvSpPr/>
          <p:nvPr/>
        </p:nvSpPr>
        <p:spPr>
          <a:xfrm>
            <a:off x="6355080" y="2679192"/>
            <a:ext cx="2148840" cy="868680"/>
          </a:xfrm>
          <a:prstGeom prst="roundRect">
            <a:avLst>
              <a:gd name="adj" fmla="val 8421"/>
            </a:avLst>
          </a:prstGeom>
          <a:solidFill>
            <a:srgbClr val="E6E2F6"/>
          </a:solidFill>
          <a:ln w="12700">
            <a:solidFill>
              <a:srgbClr val="7A6BD6"/>
            </a:solidFill>
            <a:prstDash val="solid"/>
          </a:ln>
        </p:spPr>
      </p:sp>
      <p:sp>
        <p:nvSpPr>
          <p:cNvPr id="29" name="Text 27"/>
          <p:cNvSpPr/>
          <p:nvPr/>
        </p:nvSpPr>
        <p:spPr>
          <a:xfrm>
            <a:off x="6400800" y="2679192"/>
            <a:ext cx="2057400" cy="868680"/>
          </a:xfrm>
          <a:prstGeom prst="rect">
            <a:avLst/>
          </a:prstGeom>
          <a:noFill/>
          <a:ln/>
        </p:spPr>
        <p:txBody>
          <a:bodyPr wrap="square" lIns="0" tIns="0" rIns="0" bIns="0" rtlCol="0" anchor="ctr"/>
          <a:lstStyle/>
          <a:p>
            <a:pPr algn="ctr" indent="0" marL="0">
              <a:buNone/>
            </a:pPr>
            <a:r>
              <a:rPr lang="en-US" sz="1150" b="1" dirty="0">
                <a:solidFill>
                  <a:srgbClr val="4C3B9E"/>
                </a:solidFill>
                <a:latin typeface="Calibri" pitchFamily="34" charset="0"/>
                <a:ea typeface="Calibri" pitchFamily="34" charset="-122"/>
                <a:cs typeface="Calibri" pitchFamily="34" charset="-120"/>
              </a:rPr>
              <a:t>High end-to-end</a:t>
            </a:r>
            <a:endParaRPr lang="en-US" sz="1150" dirty="0"/>
          </a:p>
          <a:p>
            <a:pPr algn="ctr" indent="0" marL="0">
              <a:buNone/>
            </a:pPr>
            <a:r>
              <a:rPr lang="en-US" sz="1150" b="1" dirty="0">
                <a:solidFill>
                  <a:srgbClr val="4C3B9E"/>
                </a:solidFill>
                <a:latin typeface="Calibri" pitchFamily="34" charset="0"/>
                <a:ea typeface="Calibri" pitchFamily="34" charset="-122"/>
                <a:cs typeface="Calibri" pitchFamily="34" charset="-120"/>
              </a:rPr>
              <a:t>latency</a:t>
            </a:r>
            <a:endParaRPr lang="en-US" sz="1150" dirty="0"/>
          </a:p>
        </p:txBody>
      </p:sp>
      <p:sp>
        <p:nvSpPr>
          <p:cNvPr id="30" name="Shape 28"/>
          <p:cNvSpPr/>
          <p:nvPr/>
        </p:nvSpPr>
        <p:spPr>
          <a:xfrm>
            <a:off x="8641080" y="2990088"/>
            <a:ext cx="365760" cy="246888"/>
          </a:xfrm>
          <a:prstGeom prst="rightArrow">
            <a:avLst/>
          </a:prstGeom>
          <a:solidFill>
            <a:srgbClr val="E8912B"/>
          </a:solidFill>
          <a:ln w="12700">
            <a:solidFill>
              <a:srgbClr val="E8912B"/>
            </a:solidFill>
            <a:prstDash val="solid"/>
          </a:ln>
        </p:spPr>
      </p:sp>
      <p:sp>
        <p:nvSpPr>
          <p:cNvPr id="31" name="Shape 29"/>
          <p:cNvSpPr/>
          <p:nvPr/>
        </p:nvSpPr>
        <p:spPr>
          <a:xfrm>
            <a:off x="9098280" y="2679192"/>
            <a:ext cx="2514600" cy="868680"/>
          </a:xfrm>
          <a:prstGeom prst="roundRect">
            <a:avLst>
              <a:gd name="adj" fmla="val 8421"/>
            </a:avLst>
          </a:prstGeom>
          <a:solidFill>
            <a:srgbClr val="1A1633"/>
          </a:solidFill>
          <a:ln w="12700">
            <a:solidFill>
              <a:srgbClr val="1A1633"/>
            </a:solidFill>
            <a:prstDash val="solid"/>
          </a:ln>
          <a:effectLst>
            <a:outerShdw sx="100000" sy="100000" kx="0" ky="0" algn="bl" rotWithShape="0" blurRad="76200" dist="12700" dir="5400000">
              <a:srgbClr val="1A1633">
                <a:alpha val="10000"/>
              </a:srgbClr>
            </a:outerShdw>
          </a:effectLst>
        </p:spPr>
      </p:sp>
      <p:sp>
        <p:nvSpPr>
          <p:cNvPr id="32" name="Text 30"/>
          <p:cNvSpPr/>
          <p:nvPr/>
        </p:nvSpPr>
        <p:spPr>
          <a:xfrm>
            <a:off x="9144000" y="2679192"/>
            <a:ext cx="2423160" cy="868680"/>
          </a:xfrm>
          <a:prstGeom prst="rect">
            <a:avLst/>
          </a:prstGeom>
          <a:noFill/>
          <a:ln/>
        </p:spPr>
        <p:txBody>
          <a:bodyPr wrap="square" lIns="0" tIns="0" rIns="0" bIns="0"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Long startup delay,</a:t>
            </a:r>
            <a:endParaRPr lang="en-US" sz="1150" dirty="0"/>
          </a:p>
          <a:p>
            <a:pPr algn="ctr" indent="0" marL="0">
              <a:buNone/>
            </a:pPr>
            <a:r>
              <a:rPr lang="en-US" sz="1150" dirty="0">
                <a:solidFill>
                  <a:srgbClr val="FFFFFF"/>
                </a:solidFill>
                <a:latin typeface="Calibri" pitchFamily="34" charset="0"/>
                <a:ea typeface="Calibri" pitchFamily="34" charset="-122"/>
                <a:cs typeface="Calibri" pitchFamily="34" charset="-120"/>
              </a:rPr>
              <a:t>laggy live streams</a:t>
            </a:r>
            <a:endParaRPr lang="en-US" sz="1150" dirty="0"/>
          </a:p>
        </p:txBody>
      </p:sp>
      <p:sp>
        <p:nvSpPr>
          <p:cNvPr id="33" name="Shape 31"/>
          <p:cNvSpPr/>
          <p:nvPr/>
        </p:nvSpPr>
        <p:spPr>
          <a:xfrm>
            <a:off x="6355080" y="3712464"/>
            <a:ext cx="2148840" cy="868680"/>
          </a:xfrm>
          <a:prstGeom prst="roundRect">
            <a:avLst>
              <a:gd name="adj" fmla="val 8421"/>
            </a:avLst>
          </a:prstGeom>
          <a:solidFill>
            <a:srgbClr val="E6E2F6"/>
          </a:solidFill>
          <a:ln w="12700">
            <a:solidFill>
              <a:srgbClr val="7A6BD6"/>
            </a:solidFill>
            <a:prstDash val="solid"/>
          </a:ln>
        </p:spPr>
      </p:sp>
      <p:sp>
        <p:nvSpPr>
          <p:cNvPr id="34" name="Text 32"/>
          <p:cNvSpPr/>
          <p:nvPr/>
        </p:nvSpPr>
        <p:spPr>
          <a:xfrm>
            <a:off x="6400800" y="3712464"/>
            <a:ext cx="2057400" cy="868680"/>
          </a:xfrm>
          <a:prstGeom prst="rect">
            <a:avLst/>
          </a:prstGeom>
          <a:noFill/>
          <a:ln/>
        </p:spPr>
        <p:txBody>
          <a:bodyPr wrap="square" lIns="0" tIns="0" rIns="0" bIns="0" rtlCol="0" anchor="ctr"/>
          <a:lstStyle/>
          <a:p>
            <a:pPr algn="ctr" indent="0" marL="0">
              <a:buNone/>
            </a:pPr>
            <a:r>
              <a:rPr lang="en-US" sz="1150" b="1" dirty="0">
                <a:solidFill>
                  <a:srgbClr val="4C3B9E"/>
                </a:solidFill>
                <a:latin typeface="Calibri" pitchFamily="34" charset="0"/>
                <a:ea typeface="Calibri" pitchFamily="34" charset="-122"/>
                <a:cs typeface="Calibri" pitchFamily="34" charset="-120"/>
              </a:rPr>
              <a:t>Jitter</a:t>
            </a:r>
            <a:endParaRPr lang="en-US" sz="1150" dirty="0"/>
          </a:p>
          <a:p>
            <a:pPr algn="ctr" indent="0" marL="0">
              <a:buNone/>
            </a:pPr>
            <a:r>
              <a:rPr lang="en-US" sz="1150" b="1" dirty="0">
                <a:solidFill>
                  <a:srgbClr val="4C3B9E"/>
                </a:solidFill>
                <a:latin typeface="Calibri" pitchFamily="34" charset="0"/>
                <a:ea typeface="Calibri" pitchFamily="34" charset="-122"/>
                <a:cs typeface="Calibri" pitchFamily="34" charset="-120"/>
              </a:rPr>
              <a:t>(delay variation)</a:t>
            </a:r>
            <a:endParaRPr lang="en-US" sz="1150" dirty="0"/>
          </a:p>
        </p:txBody>
      </p:sp>
      <p:sp>
        <p:nvSpPr>
          <p:cNvPr id="35" name="Shape 33"/>
          <p:cNvSpPr/>
          <p:nvPr/>
        </p:nvSpPr>
        <p:spPr>
          <a:xfrm>
            <a:off x="8641080" y="4023360"/>
            <a:ext cx="365760" cy="246888"/>
          </a:xfrm>
          <a:prstGeom prst="rightArrow">
            <a:avLst/>
          </a:prstGeom>
          <a:solidFill>
            <a:srgbClr val="E8912B"/>
          </a:solidFill>
          <a:ln w="12700">
            <a:solidFill>
              <a:srgbClr val="E8912B"/>
            </a:solidFill>
            <a:prstDash val="solid"/>
          </a:ln>
        </p:spPr>
      </p:sp>
      <p:sp>
        <p:nvSpPr>
          <p:cNvPr id="36" name="Shape 34"/>
          <p:cNvSpPr/>
          <p:nvPr/>
        </p:nvSpPr>
        <p:spPr>
          <a:xfrm>
            <a:off x="9098280" y="3712464"/>
            <a:ext cx="2514600" cy="868680"/>
          </a:xfrm>
          <a:prstGeom prst="roundRect">
            <a:avLst>
              <a:gd name="adj" fmla="val 8421"/>
            </a:avLst>
          </a:prstGeom>
          <a:solidFill>
            <a:srgbClr val="1A1633"/>
          </a:solidFill>
          <a:ln w="12700">
            <a:solidFill>
              <a:srgbClr val="1A1633"/>
            </a:solidFill>
            <a:prstDash val="solid"/>
          </a:ln>
          <a:effectLst>
            <a:outerShdw sx="100000" sy="100000" kx="0" ky="0" algn="bl" rotWithShape="0" blurRad="76200" dist="12700" dir="5400000">
              <a:srgbClr val="1A1633">
                <a:alpha val="10000"/>
              </a:srgbClr>
            </a:outerShdw>
          </a:effectLst>
        </p:spPr>
      </p:sp>
      <p:sp>
        <p:nvSpPr>
          <p:cNvPr id="37" name="Text 35"/>
          <p:cNvSpPr/>
          <p:nvPr/>
        </p:nvSpPr>
        <p:spPr>
          <a:xfrm>
            <a:off x="9144000" y="3712464"/>
            <a:ext cx="2423160" cy="868680"/>
          </a:xfrm>
          <a:prstGeom prst="rect">
            <a:avLst/>
          </a:prstGeom>
          <a:noFill/>
          <a:ln/>
        </p:spPr>
        <p:txBody>
          <a:bodyPr wrap="square" lIns="0" tIns="0" rIns="0" bIns="0"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Playout stalls, audio-</a:t>
            </a:r>
            <a:endParaRPr lang="en-US" sz="1150" dirty="0"/>
          </a:p>
          <a:p>
            <a:pPr algn="ctr" indent="0" marL="0">
              <a:buNone/>
            </a:pPr>
            <a:r>
              <a:rPr lang="en-US" sz="1150" dirty="0">
                <a:solidFill>
                  <a:srgbClr val="FFFFFF"/>
                </a:solidFill>
                <a:latin typeface="Calibri" pitchFamily="34" charset="0"/>
                <a:ea typeface="Calibri" pitchFamily="34" charset="-122"/>
                <a:cs typeface="Calibri" pitchFamily="34" charset="-120"/>
              </a:rPr>
              <a:t>video desync</a:t>
            </a:r>
            <a:endParaRPr lang="en-US" sz="1150" dirty="0"/>
          </a:p>
        </p:txBody>
      </p:sp>
      <p:sp>
        <p:nvSpPr>
          <p:cNvPr id="38" name="Shape 36"/>
          <p:cNvSpPr/>
          <p:nvPr/>
        </p:nvSpPr>
        <p:spPr>
          <a:xfrm>
            <a:off x="6355080" y="4745736"/>
            <a:ext cx="2148840" cy="868680"/>
          </a:xfrm>
          <a:prstGeom prst="roundRect">
            <a:avLst>
              <a:gd name="adj" fmla="val 8421"/>
            </a:avLst>
          </a:prstGeom>
          <a:solidFill>
            <a:srgbClr val="E6E2F6"/>
          </a:solidFill>
          <a:ln w="12700">
            <a:solidFill>
              <a:srgbClr val="7A6BD6"/>
            </a:solidFill>
            <a:prstDash val="solid"/>
          </a:ln>
        </p:spPr>
      </p:sp>
      <p:sp>
        <p:nvSpPr>
          <p:cNvPr id="39" name="Text 37"/>
          <p:cNvSpPr/>
          <p:nvPr/>
        </p:nvSpPr>
        <p:spPr>
          <a:xfrm>
            <a:off x="6400800" y="4745736"/>
            <a:ext cx="2057400" cy="868680"/>
          </a:xfrm>
          <a:prstGeom prst="rect">
            <a:avLst/>
          </a:prstGeom>
          <a:noFill/>
          <a:ln/>
        </p:spPr>
        <p:txBody>
          <a:bodyPr wrap="square" lIns="0" tIns="0" rIns="0" bIns="0" rtlCol="0" anchor="ctr"/>
          <a:lstStyle/>
          <a:p>
            <a:pPr algn="ctr" indent="0" marL="0">
              <a:buNone/>
            </a:pPr>
            <a:r>
              <a:rPr lang="en-US" sz="1150" b="1" dirty="0">
                <a:solidFill>
                  <a:srgbClr val="4C3B9E"/>
                </a:solidFill>
                <a:latin typeface="Calibri" pitchFamily="34" charset="0"/>
                <a:ea typeface="Calibri" pitchFamily="34" charset="-122"/>
                <a:cs typeface="Calibri" pitchFamily="34" charset="-120"/>
              </a:rPr>
              <a:t>Packet loss</a:t>
            </a:r>
            <a:endParaRPr lang="en-US" sz="1150" dirty="0"/>
          </a:p>
        </p:txBody>
      </p:sp>
      <p:sp>
        <p:nvSpPr>
          <p:cNvPr id="40" name="Shape 38"/>
          <p:cNvSpPr/>
          <p:nvPr/>
        </p:nvSpPr>
        <p:spPr>
          <a:xfrm>
            <a:off x="8641080" y="5056632"/>
            <a:ext cx="365760" cy="246888"/>
          </a:xfrm>
          <a:prstGeom prst="rightArrow">
            <a:avLst/>
          </a:prstGeom>
          <a:solidFill>
            <a:srgbClr val="E8912B"/>
          </a:solidFill>
          <a:ln w="12700">
            <a:solidFill>
              <a:srgbClr val="E8912B"/>
            </a:solidFill>
            <a:prstDash val="solid"/>
          </a:ln>
        </p:spPr>
      </p:sp>
      <p:sp>
        <p:nvSpPr>
          <p:cNvPr id="41" name="Shape 39"/>
          <p:cNvSpPr/>
          <p:nvPr/>
        </p:nvSpPr>
        <p:spPr>
          <a:xfrm>
            <a:off x="9098280" y="4745736"/>
            <a:ext cx="2514600" cy="868680"/>
          </a:xfrm>
          <a:prstGeom prst="roundRect">
            <a:avLst>
              <a:gd name="adj" fmla="val 8421"/>
            </a:avLst>
          </a:prstGeom>
          <a:solidFill>
            <a:srgbClr val="1A1633"/>
          </a:solidFill>
          <a:ln w="12700">
            <a:solidFill>
              <a:srgbClr val="1A1633"/>
            </a:solidFill>
            <a:prstDash val="solid"/>
          </a:ln>
          <a:effectLst>
            <a:outerShdw sx="100000" sy="100000" kx="0" ky="0" algn="bl" rotWithShape="0" blurRad="76200" dist="12700" dir="5400000">
              <a:srgbClr val="1A1633">
                <a:alpha val="10000"/>
              </a:srgbClr>
            </a:outerShdw>
          </a:effectLst>
        </p:spPr>
      </p:sp>
      <p:sp>
        <p:nvSpPr>
          <p:cNvPr id="42" name="Text 40"/>
          <p:cNvSpPr/>
          <p:nvPr/>
        </p:nvSpPr>
        <p:spPr>
          <a:xfrm>
            <a:off x="9144000" y="4745736"/>
            <a:ext cx="2423160" cy="868680"/>
          </a:xfrm>
          <a:prstGeom prst="rect">
            <a:avLst/>
          </a:prstGeom>
          <a:noFill/>
          <a:ln/>
        </p:spPr>
        <p:txBody>
          <a:bodyPr wrap="square" lIns="0" tIns="0" rIns="0" bIns="0"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Blockiness, artifacts,</a:t>
            </a:r>
            <a:endParaRPr lang="en-US" sz="1150" dirty="0"/>
          </a:p>
          <a:p>
            <a:pPr algn="ctr" indent="0" marL="0">
              <a:buNone/>
            </a:pPr>
            <a:r>
              <a:rPr lang="en-US" sz="1150" dirty="0">
                <a:solidFill>
                  <a:srgbClr val="FFFFFF"/>
                </a:solidFill>
                <a:latin typeface="Calibri" pitchFamily="34" charset="0"/>
                <a:ea typeface="Calibri" pitchFamily="34" charset="-122"/>
                <a:cs typeface="Calibri" pitchFamily="34" charset="-120"/>
              </a:rPr>
              <a:t>frame freeze</a:t>
            </a:r>
            <a:endParaRPr lang="en-US" sz="1150" dirty="0"/>
          </a:p>
        </p:txBody>
      </p:sp>
      <p:sp>
        <p:nvSpPr>
          <p:cNvPr id="43" name="Text 41"/>
          <p:cNvSpPr/>
          <p:nvPr/>
        </p:nvSpPr>
        <p:spPr>
          <a:xfrm>
            <a:off x="6355080" y="5806440"/>
            <a:ext cx="5257800" cy="320040"/>
          </a:xfrm>
          <a:prstGeom prst="rect">
            <a:avLst/>
          </a:prstGeom>
          <a:noFill/>
          <a:ln/>
        </p:spPr>
        <p:txBody>
          <a:bodyPr wrap="square" lIns="0" tIns="0" rIns="0" bIns="0" rtlCol="0" anchor="ctr"/>
          <a:lstStyle/>
          <a:p>
            <a:pPr algn="ctr" indent="0" marL="0">
              <a:buNone/>
            </a:pPr>
            <a:r>
              <a:rPr lang="en-US" sz="1200" b="1" i="1" dirty="0">
                <a:solidFill>
                  <a:srgbClr val="4C3B9E"/>
                </a:solidFill>
                <a:latin typeface="Calibri" pitchFamily="34" charset="0"/>
                <a:ea typeface="Calibri" pitchFamily="34" charset="-122"/>
                <a:cs typeface="Calibri" pitchFamily="34" charset="-120"/>
              </a:rPr>
              <a:t>QoS metrics (network level)  →  QoE (user level)</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64240" cy="658368"/>
          </a:xfrm>
          <a:prstGeom prst="rect">
            <a:avLst/>
          </a:prstGeom>
          <a:noFill/>
          <a:ln/>
        </p:spPr>
        <p:txBody>
          <a:bodyPr wrap="square" lIns="0" tIns="0" rIns="0" bIns="0" rtlCol="0" anchor="ctr"/>
          <a:lstStyle/>
          <a:p>
            <a:pPr indent="0" marL="0">
              <a:buNone/>
            </a:pPr>
            <a:r>
              <a:rPr lang="en-US" sz="3000" b="1" dirty="0">
                <a:solidFill>
                  <a:srgbClr val="1A1633"/>
                </a:solidFill>
                <a:latin typeface="Cambria" pitchFamily="34" charset="0"/>
                <a:ea typeface="Cambria" pitchFamily="34" charset="-122"/>
                <a:cs typeface="Cambria" pitchFamily="34" charset="-120"/>
              </a:rPr>
              <a:t>Motivation: Why SDN Fits This Problem</a:t>
            </a:r>
            <a:endParaRPr lang="en-US" sz="3000" dirty="0"/>
          </a:p>
        </p:txBody>
      </p:sp>
      <p:sp>
        <p:nvSpPr>
          <p:cNvPr id="3" name="Text 1"/>
          <p:cNvSpPr/>
          <p:nvPr/>
        </p:nvSpPr>
        <p:spPr>
          <a:xfrm>
            <a:off x="566928" y="896112"/>
            <a:ext cx="11064240" cy="274320"/>
          </a:xfrm>
          <a:prstGeom prst="rect">
            <a:avLst/>
          </a:prstGeom>
          <a:noFill/>
          <a:ln/>
        </p:spPr>
        <p:txBody>
          <a:bodyPr wrap="square" lIns="0" tIns="0" rIns="0" bIns="0" rtlCol="0" anchor="ctr"/>
          <a:lstStyle/>
          <a:p>
            <a:pPr indent="0" marL="0">
              <a:buNone/>
            </a:pPr>
            <a:r>
              <a:rPr lang="en-US" sz="1150" b="1" spc="160" kern="0" dirty="0">
                <a:solidFill>
                  <a:srgbClr val="4C3B9E"/>
                </a:solidFill>
                <a:latin typeface="Calibri" pitchFamily="34" charset="0"/>
                <a:ea typeface="Calibri" pitchFamily="34" charset="-122"/>
                <a:cs typeface="Calibri" pitchFamily="34" charset="-120"/>
              </a:rPr>
              <a:t>PROGRAMMABLE CONTROL + NETWORK-WIDE VIEW</a:t>
            </a:r>
            <a:endParaRPr lang="en-US" sz="1150" dirty="0"/>
          </a:p>
        </p:txBody>
      </p:sp>
      <p:sp>
        <p:nvSpPr>
          <p:cNvPr id="4" name="Shape 2"/>
          <p:cNvSpPr/>
          <p:nvPr/>
        </p:nvSpPr>
        <p:spPr>
          <a:xfrm>
            <a:off x="548640" y="1298448"/>
            <a:ext cx="1554480" cy="914400"/>
          </a:xfrm>
          <a:prstGeom prst="roundRect">
            <a:avLst>
              <a:gd name="adj" fmla="val 9000"/>
            </a:avLst>
          </a:prstGeom>
          <a:solidFill>
            <a:srgbClr val="E6E2F6"/>
          </a:solidFill>
          <a:ln w="12700">
            <a:solidFill>
              <a:srgbClr val="7A6BD6"/>
            </a:solidFill>
            <a:prstDash val="solid"/>
          </a:ln>
        </p:spPr>
      </p:sp>
      <p:sp>
        <p:nvSpPr>
          <p:cNvPr id="5" name="Text 3"/>
          <p:cNvSpPr/>
          <p:nvPr/>
        </p:nvSpPr>
        <p:spPr>
          <a:xfrm>
            <a:off x="548640" y="1298448"/>
            <a:ext cx="1554480" cy="914400"/>
          </a:xfrm>
          <a:prstGeom prst="rect">
            <a:avLst/>
          </a:prstGeom>
          <a:noFill/>
          <a:ln/>
        </p:spPr>
        <p:txBody>
          <a:bodyPr wrap="square" lIns="0" tIns="0" rIns="0" bIns="0" rtlCol="0" anchor="ctr"/>
          <a:lstStyle/>
          <a:p>
            <a:pPr algn="ctr" indent="0" marL="0">
              <a:buNone/>
            </a:pPr>
            <a:r>
              <a:rPr lang="en-US" sz="1150" b="1" dirty="0">
                <a:solidFill>
                  <a:srgbClr val="4C3B9E"/>
                </a:solidFill>
                <a:latin typeface="Calibri" pitchFamily="34" charset="0"/>
                <a:ea typeface="Calibri" pitchFamily="34" charset="-122"/>
                <a:cs typeface="Calibri" pitchFamily="34" charset="-120"/>
              </a:rPr>
              <a:t>Video</a:t>
            </a:r>
            <a:endParaRPr lang="en-US" sz="1150" dirty="0"/>
          </a:p>
          <a:p>
            <a:pPr algn="ctr" indent="0" marL="0">
              <a:buNone/>
            </a:pPr>
            <a:r>
              <a:rPr lang="en-US" sz="1150" b="1" dirty="0">
                <a:solidFill>
                  <a:srgbClr val="4C3B9E"/>
                </a:solidFill>
                <a:latin typeface="Calibri" pitchFamily="34" charset="0"/>
                <a:ea typeface="Calibri" pitchFamily="34" charset="-122"/>
                <a:cs typeface="Calibri" pitchFamily="34" charset="-120"/>
              </a:rPr>
              <a:t>Streaming Traffic</a:t>
            </a:r>
            <a:endParaRPr lang="en-US" sz="1150" dirty="0"/>
          </a:p>
        </p:txBody>
      </p:sp>
      <p:sp>
        <p:nvSpPr>
          <p:cNvPr id="6" name="Shape 4"/>
          <p:cNvSpPr/>
          <p:nvPr/>
        </p:nvSpPr>
        <p:spPr>
          <a:xfrm>
            <a:off x="2157984" y="1636776"/>
            <a:ext cx="237744" cy="237744"/>
          </a:xfrm>
          <a:prstGeom prst="rightArrow">
            <a:avLst/>
          </a:prstGeom>
          <a:solidFill>
            <a:srgbClr val="E8912B"/>
          </a:solidFill>
          <a:ln w="12700">
            <a:solidFill>
              <a:srgbClr val="E8912B"/>
            </a:solidFill>
            <a:prstDash val="solid"/>
          </a:ln>
        </p:spPr>
      </p:sp>
      <p:sp>
        <p:nvSpPr>
          <p:cNvPr id="7" name="Shape 5"/>
          <p:cNvSpPr/>
          <p:nvPr/>
        </p:nvSpPr>
        <p:spPr>
          <a:xfrm>
            <a:off x="2450592" y="1298448"/>
            <a:ext cx="1554480" cy="914400"/>
          </a:xfrm>
          <a:prstGeom prst="roundRect">
            <a:avLst>
              <a:gd name="adj" fmla="val 9000"/>
            </a:avLst>
          </a:prstGeom>
          <a:solidFill>
            <a:srgbClr val="E6E2F6"/>
          </a:solidFill>
          <a:ln w="12700">
            <a:solidFill>
              <a:srgbClr val="7A6BD6"/>
            </a:solidFill>
            <a:prstDash val="solid"/>
          </a:ln>
        </p:spPr>
      </p:sp>
      <p:sp>
        <p:nvSpPr>
          <p:cNvPr id="8" name="Text 6"/>
          <p:cNvSpPr/>
          <p:nvPr/>
        </p:nvSpPr>
        <p:spPr>
          <a:xfrm>
            <a:off x="2450592" y="1298448"/>
            <a:ext cx="1554480" cy="914400"/>
          </a:xfrm>
          <a:prstGeom prst="rect">
            <a:avLst/>
          </a:prstGeom>
          <a:noFill/>
          <a:ln/>
        </p:spPr>
        <p:txBody>
          <a:bodyPr wrap="square" lIns="0" tIns="0" rIns="0" bIns="0" rtlCol="0" anchor="ctr"/>
          <a:lstStyle/>
          <a:p>
            <a:pPr algn="ctr" indent="0" marL="0">
              <a:buNone/>
            </a:pPr>
            <a:r>
              <a:rPr lang="en-US" sz="1150" b="1" dirty="0">
                <a:solidFill>
                  <a:srgbClr val="4C3B9E"/>
                </a:solidFill>
                <a:latin typeface="Calibri" pitchFamily="34" charset="0"/>
                <a:ea typeface="Calibri" pitchFamily="34" charset="-122"/>
                <a:cs typeface="Calibri" pitchFamily="34" charset="-120"/>
              </a:rPr>
              <a:t>Network</a:t>
            </a:r>
            <a:endParaRPr lang="en-US" sz="1150" dirty="0"/>
          </a:p>
          <a:p>
            <a:pPr algn="ctr" indent="0" marL="0">
              <a:buNone/>
            </a:pPr>
            <a:r>
              <a:rPr lang="en-US" sz="1150" b="1" dirty="0">
                <a:solidFill>
                  <a:srgbClr val="4C3B9E"/>
                </a:solidFill>
                <a:latin typeface="Calibri" pitchFamily="34" charset="0"/>
                <a:ea typeface="Calibri" pitchFamily="34" charset="-122"/>
                <a:cs typeface="Calibri" pitchFamily="34" charset="-120"/>
              </a:rPr>
              <a:t>Monitoring</a:t>
            </a:r>
            <a:endParaRPr lang="en-US" sz="1150" dirty="0"/>
          </a:p>
        </p:txBody>
      </p:sp>
      <p:sp>
        <p:nvSpPr>
          <p:cNvPr id="9" name="Shape 7"/>
          <p:cNvSpPr/>
          <p:nvPr/>
        </p:nvSpPr>
        <p:spPr>
          <a:xfrm>
            <a:off x="4059936" y="1636776"/>
            <a:ext cx="237744" cy="237744"/>
          </a:xfrm>
          <a:prstGeom prst="rightArrow">
            <a:avLst/>
          </a:prstGeom>
          <a:solidFill>
            <a:srgbClr val="E8912B"/>
          </a:solidFill>
          <a:ln w="12700">
            <a:solidFill>
              <a:srgbClr val="E8912B"/>
            </a:solidFill>
            <a:prstDash val="solid"/>
          </a:ln>
        </p:spPr>
      </p:sp>
      <p:sp>
        <p:nvSpPr>
          <p:cNvPr id="10" name="Shape 8"/>
          <p:cNvSpPr/>
          <p:nvPr/>
        </p:nvSpPr>
        <p:spPr>
          <a:xfrm>
            <a:off x="4352544" y="1298448"/>
            <a:ext cx="1554480" cy="914400"/>
          </a:xfrm>
          <a:prstGeom prst="roundRect">
            <a:avLst>
              <a:gd name="adj" fmla="val 9000"/>
            </a:avLst>
          </a:prstGeom>
          <a:solidFill>
            <a:srgbClr val="4C3B9E"/>
          </a:solidFill>
          <a:ln w="12700">
            <a:solidFill>
              <a:srgbClr val="4C3B9E"/>
            </a:solidFill>
            <a:prstDash val="solid"/>
          </a:ln>
          <a:effectLst>
            <a:outerShdw sx="100000" sy="100000" kx="0" ky="0" algn="bl" rotWithShape="0" blurRad="101600" dist="25400" dir="5400000">
              <a:srgbClr val="1A1633">
                <a:alpha val="18000"/>
              </a:srgbClr>
            </a:outerShdw>
          </a:effectLst>
        </p:spPr>
      </p:sp>
      <p:sp>
        <p:nvSpPr>
          <p:cNvPr id="11" name="Text 9"/>
          <p:cNvSpPr/>
          <p:nvPr/>
        </p:nvSpPr>
        <p:spPr>
          <a:xfrm>
            <a:off x="4352544" y="1298448"/>
            <a:ext cx="1554480" cy="9144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SDN</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Controller</a:t>
            </a:r>
            <a:endParaRPr lang="en-US" sz="1150" dirty="0"/>
          </a:p>
        </p:txBody>
      </p:sp>
      <p:sp>
        <p:nvSpPr>
          <p:cNvPr id="12" name="Shape 10"/>
          <p:cNvSpPr/>
          <p:nvPr/>
        </p:nvSpPr>
        <p:spPr>
          <a:xfrm>
            <a:off x="5961888" y="1636776"/>
            <a:ext cx="237744" cy="237744"/>
          </a:xfrm>
          <a:prstGeom prst="rightArrow">
            <a:avLst/>
          </a:prstGeom>
          <a:solidFill>
            <a:srgbClr val="E8912B"/>
          </a:solidFill>
          <a:ln w="12700">
            <a:solidFill>
              <a:srgbClr val="E8912B"/>
            </a:solidFill>
            <a:prstDash val="solid"/>
          </a:ln>
        </p:spPr>
      </p:sp>
      <p:sp>
        <p:nvSpPr>
          <p:cNvPr id="13" name="Shape 11"/>
          <p:cNvSpPr/>
          <p:nvPr/>
        </p:nvSpPr>
        <p:spPr>
          <a:xfrm>
            <a:off x="6254496" y="1298448"/>
            <a:ext cx="1554480" cy="914400"/>
          </a:xfrm>
          <a:prstGeom prst="roundRect">
            <a:avLst>
              <a:gd name="adj" fmla="val 9000"/>
            </a:avLst>
          </a:prstGeom>
          <a:solidFill>
            <a:srgbClr val="4C3B9E"/>
          </a:solidFill>
          <a:ln w="12700">
            <a:solidFill>
              <a:srgbClr val="4C3B9E"/>
            </a:solidFill>
            <a:prstDash val="solid"/>
          </a:ln>
          <a:effectLst>
            <a:outerShdw sx="100000" sy="100000" kx="0" ky="0" algn="bl" rotWithShape="0" blurRad="101600" dist="25400" dir="5400000">
              <a:srgbClr val="1A1633">
                <a:alpha val="18000"/>
              </a:srgbClr>
            </a:outerShdw>
          </a:effectLst>
        </p:spPr>
      </p:sp>
      <p:sp>
        <p:nvSpPr>
          <p:cNvPr id="14" name="Text 12"/>
          <p:cNvSpPr/>
          <p:nvPr/>
        </p:nvSpPr>
        <p:spPr>
          <a:xfrm>
            <a:off x="6254496" y="1298448"/>
            <a:ext cx="1554480" cy="9144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QoS</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Decision</a:t>
            </a:r>
            <a:endParaRPr lang="en-US" sz="1150" dirty="0"/>
          </a:p>
        </p:txBody>
      </p:sp>
      <p:sp>
        <p:nvSpPr>
          <p:cNvPr id="15" name="Shape 13"/>
          <p:cNvSpPr/>
          <p:nvPr/>
        </p:nvSpPr>
        <p:spPr>
          <a:xfrm>
            <a:off x="7863840" y="1636776"/>
            <a:ext cx="237744" cy="237744"/>
          </a:xfrm>
          <a:prstGeom prst="rightArrow">
            <a:avLst/>
          </a:prstGeom>
          <a:solidFill>
            <a:srgbClr val="E8912B"/>
          </a:solidFill>
          <a:ln w="12700">
            <a:solidFill>
              <a:srgbClr val="E8912B"/>
            </a:solidFill>
            <a:prstDash val="solid"/>
          </a:ln>
        </p:spPr>
      </p:sp>
      <p:sp>
        <p:nvSpPr>
          <p:cNvPr id="16" name="Shape 14"/>
          <p:cNvSpPr/>
          <p:nvPr/>
        </p:nvSpPr>
        <p:spPr>
          <a:xfrm>
            <a:off x="8156448" y="1298448"/>
            <a:ext cx="1554480" cy="914400"/>
          </a:xfrm>
          <a:prstGeom prst="roundRect">
            <a:avLst>
              <a:gd name="adj" fmla="val 9000"/>
            </a:avLst>
          </a:prstGeom>
          <a:solidFill>
            <a:srgbClr val="E6E2F6"/>
          </a:solidFill>
          <a:ln w="12700">
            <a:solidFill>
              <a:srgbClr val="7A6BD6"/>
            </a:solidFill>
            <a:prstDash val="solid"/>
          </a:ln>
        </p:spPr>
      </p:sp>
      <p:sp>
        <p:nvSpPr>
          <p:cNvPr id="17" name="Text 15"/>
          <p:cNvSpPr/>
          <p:nvPr/>
        </p:nvSpPr>
        <p:spPr>
          <a:xfrm>
            <a:off x="8156448" y="1298448"/>
            <a:ext cx="1554480" cy="914400"/>
          </a:xfrm>
          <a:prstGeom prst="rect">
            <a:avLst/>
          </a:prstGeom>
          <a:noFill/>
          <a:ln/>
        </p:spPr>
        <p:txBody>
          <a:bodyPr wrap="square" lIns="0" tIns="0" rIns="0" bIns="0" rtlCol="0" anchor="ctr"/>
          <a:lstStyle/>
          <a:p>
            <a:pPr algn="ctr" indent="0" marL="0">
              <a:buNone/>
            </a:pPr>
            <a:r>
              <a:rPr lang="en-US" sz="1150" b="1" dirty="0">
                <a:solidFill>
                  <a:srgbClr val="4C3B9E"/>
                </a:solidFill>
                <a:latin typeface="Calibri" pitchFamily="34" charset="0"/>
                <a:ea typeface="Calibri" pitchFamily="34" charset="-122"/>
                <a:cs typeface="Calibri" pitchFamily="34" charset="-120"/>
              </a:rPr>
              <a:t>Flow Rules</a:t>
            </a:r>
            <a:endParaRPr lang="en-US" sz="1150" dirty="0"/>
          </a:p>
          <a:p>
            <a:pPr algn="ctr" indent="0" marL="0">
              <a:buNone/>
            </a:pPr>
            <a:r>
              <a:rPr lang="en-US" sz="1150" b="1" dirty="0">
                <a:solidFill>
                  <a:srgbClr val="4C3B9E"/>
                </a:solidFill>
                <a:latin typeface="Calibri" pitchFamily="34" charset="0"/>
                <a:ea typeface="Calibri" pitchFamily="34" charset="-122"/>
                <a:cs typeface="Calibri" pitchFamily="34" charset="-120"/>
              </a:rPr>
              <a:t>(OpenFlow)</a:t>
            </a:r>
            <a:endParaRPr lang="en-US" sz="1150" dirty="0"/>
          </a:p>
        </p:txBody>
      </p:sp>
      <p:sp>
        <p:nvSpPr>
          <p:cNvPr id="18" name="Shape 16"/>
          <p:cNvSpPr/>
          <p:nvPr/>
        </p:nvSpPr>
        <p:spPr>
          <a:xfrm>
            <a:off x="9765792" y="1636776"/>
            <a:ext cx="237744" cy="237744"/>
          </a:xfrm>
          <a:prstGeom prst="rightArrow">
            <a:avLst/>
          </a:prstGeom>
          <a:solidFill>
            <a:srgbClr val="E8912B"/>
          </a:solidFill>
          <a:ln w="12700">
            <a:solidFill>
              <a:srgbClr val="E8912B"/>
            </a:solidFill>
            <a:prstDash val="solid"/>
          </a:ln>
        </p:spPr>
      </p:sp>
      <p:sp>
        <p:nvSpPr>
          <p:cNvPr id="19" name="Shape 17"/>
          <p:cNvSpPr/>
          <p:nvPr/>
        </p:nvSpPr>
        <p:spPr>
          <a:xfrm>
            <a:off x="10058400" y="1298448"/>
            <a:ext cx="1554480" cy="914400"/>
          </a:xfrm>
          <a:prstGeom prst="roundRect">
            <a:avLst>
              <a:gd name="adj" fmla="val 9000"/>
            </a:avLst>
          </a:prstGeom>
          <a:solidFill>
            <a:srgbClr val="E6E2F6"/>
          </a:solidFill>
          <a:ln w="12700">
            <a:solidFill>
              <a:srgbClr val="7A6BD6"/>
            </a:solidFill>
            <a:prstDash val="solid"/>
          </a:ln>
        </p:spPr>
      </p:sp>
      <p:sp>
        <p:nvSpPr>
          <p:cNvPr id="20" name="Text 18"/>
          <p:cNvSpPr/>
          <p:nvPr/>
        </p:nvSpPr>
        <p:spPr>
          <a:xfrm>
            <a:off x="10058400" y="1298448"/>
            <a:ext cx="1554480" cy="914400"/>
          </a:xfrm>
          <a:prstGeom prst="rect">
            <a:avLst/>
          </a:prstGeom>
          <a:noFill/>
          <a:ln/>
        </p:spPr>
        <p:txBody>
          <a:bodyPr wrap="square" lIns="0" tIns="0" rIns="0" bIns="0" rtlCol="0" anchor="ctr"/>
          <a:lstStyle/>
          <a:p>
            <a:pPr algn="ctr" indent="0" marL="0">
              <a:buNone/>
            </a:pPr>
            <a:r>
              <a:rPr lang="en-US" sz="1150" b="1" dirty="0">
                <a:solidFill>
                  <a:srgbClr val="4C3B9E"/>
                </a:solidFill>
                <a:latin typeface="Calibri" pitchFamily="34" charset="0"/>
                <a:ea typeface="Calibri" pitchFamily="34" charset="-122"/>
                <a:cs typeface="Calibri" pitchFamily="34" charset="-120"/>
              </a:rPr>
              <a:t>Network</a:t>
            </a:r>
            <a:endParaRPr lang="en-US" sz="1150" dirty="0"/>
          </a:p>
          <a:p>
            <a:pPr algn="ctr" indent="0" marL="0">
              <a:buNone/>
            </a:pPr>
            <a:r>
              <a:rPr lang="en-US" sz="1150" b="1" dirty="0">
                <a:solidFill>
                  <a:srgbClr val="4C3B9E"/>
                </a:solidFill>
                <a:latin typeface="Calibri" pitchFamily="34" charset="0"/>
                <a:ea typeface="Calibri" pitchFamily="34" charset="-122"/>
                <a:cs typeface="Calibri" pitchFamily="34" charset="-120"/>
              </a:rPr>
              <a:t>Devices</a:t>
            </a:r>
            <a:endParaRPr lang="en-US" sz="1150" dirty="0"/>
          </a:p>
        </p:txBody>
      </p:sp>
      <p:sp>
        <p:nvSpPr>
          <p:cNvPr id="21" name="Text 19"/>
          <p:cNvSpPr/>
          <p:nvPr/>
        </p:nvSpPr>
        <p:spPr>
          <a:xfrm>
            <a:off x="548640" y="2286000"/>
            <a:ext cx="11064240" cy="274320"/>
          </a:xfrm>
          <a:prstGeom prst="rect">
            <a:avLst/>
          </a:prstGeom>
          <a:noFill/>
          <a:ln/>
        </p:spPr>
        <p:txBody>
          <a:bodyPr wrap="square" lIns="0" tIns="0" rIns="0" bIns="0" rtlCol="0" anchor="ctr"/>
          <a:lstStyle/>
          <a:p>
            <a:pPr algn="ctr" indent="0" marL="0">
              <a:buNone/>
            </a:pPr>
            <a:r>
              <a:rPr lang="en-US" sz="1150" i="1" dirty="0">
                <a:solidFill>
                  <a:srgbClr val="6C6885"/>
                </a:solidFill>
                <a:latin typeface="Calibri" pitchFamily="34" charset="0"/>
                <a:ea typeface="Calibri" pitchFamily="34" charset="-122"/>
                <a:cs typeface="Calibri" pitchFamily="34" charset="-120"/>
              </a:rPr>
              <a:t>Closed control loop: the controller keeps measuring and keeps re-deciding while the video is still playing.</a:t>
            </a:r>
            <a:endParaRPr lang="en-US" sz="1150" dirty="0"/>
          </a:p>
        </p:txBody>
      </p:sp>
      <p:sp>
        <p:nvSpPr>
          <p:cNvPr id="22" name="Shape 20"/>
          <p:cNvSpPr/>
          <p:nvPr/>
        </p:nvSpPr>
        <p:spPr>
          <a:xfrm>
            <a:off x="548640" y="2743200"/>
            <a:ext cx="5349240" cy="2926080"/>
          </a:xfrm>
          <a:prstGeom prst="roundRect">
            <a:avLst>
              <a:gd name="adj" fmla="val 3125"/>
            </a:avLst>
          </a:prstGeom>
          <a:solidFill>
            <a:srgbClr val="F2F0FA"/>
          </a:solidFill>
          <a:ln w="15875">
            <a:solidFill>
              <a:srgbClr val="4C3B9E"/>
            </a:solidFill>
            <a:prstDash val="solid"/>
          </a:ln>
        </p:spPr>
      </p:sp>
      <p:sp>
        <p:nvSpPr>
          <p:cNvPr id="23" name="Text 21"/>
          <p:cNvSpPr/>
          <p:nvPr/>
        </p:nvSpPr>
        <p:spPr>
          <a:xfrm>
            <a:off x="804672" y="2926080"/>
            <a:ext cx="4846320" cy="365760"/>
          </a:xfrm>
          <a:prstGeom prst="rect">
            <a:avLst/>
          </a:prstGeom>
          <a:noFill/>
          <a:ln/>
        </p:spPr>
        <p:txBody>
          <a:bodyPr wrap="square" lIns="0" tIns="0" rIns="0" bIns="0" rtlCol="0" anchor="ctr"/>
          <a:lstStyle/>
          <a:p>
            <a:pPr indent="0" marL="0">
              <a:buNone/>
            </a:pPr>
            <a:r>
              <a:rPr lang="en-US" sz="1600" b="1" dirty="0">
                <a:solidFill>
                  <a:srgbClr val="4C3B9E"/>
                </a:solidFill>
                <a:latin typeface="Cambria" pitchFamily="34" charset="0"/>
                <a:ea typeface="Cambria" pitchFamily="34" charset="-122"/>
                <a:cs typeface="Cambria" pitchFamily="34" charset="-120"/>
              </a:rPr>
              <a:t>What SDN gives us</a:t>
            </a:r>
            <a:endParaRPr lang="en-US" sz="1600" dirty="0"/>
          </a:p>
        </p:txBody>
      </p:sp>
      <p:sp>
        <p:nvSpPr>
          <p:cNvPr id="24" name="Text 22"/>
          <p:cNvSpPr/>
          <p:nvPr/>
        </p:nvSpPr>
        <p:spPr>
          <a:xfrm>
            <a:off x="841248" y="3401568"/>
            <a:ext cx="4754880" cy="2121408"/>
          </a:xfrm>
          <a:prstGeom prst="rect">
            <a:avLst/>
          </a:prstGeom>
          <a:noFill/>
          <a:ln/>
        </p:spPr>
        <p:txBody>
          <a:bodyPr wrap="square" lIns="0" tIns="0" rIns="0" bIns="0" rtlCol="0" anchor="t"/>
          <a:lstStyle/>
          <a:p>
            <a:pPr marL="342900" indent="-342900">
              <a:lnSpc>
                <a:spcPct val="102000"/>
              </a:lnSpc>
              <a:spcAft>
                <a:spcPts val="900"/>
              </a:spcAft>
              <a:buSzPct val="100000"/>
              <a:buChar char="•"/>
            </a:pPr>
            <a:r>
              <a:rPr lang="en-US" sz="1250" dirty="0">
                <a:solidFill>
                  <a:srgbClr val="2A2740"/>
                </a:solidFill>
                <a:latin typeface="Calibri" pitchFamily="34" charset="0"/>
                <a:ea typeface="Calibri" pitchFamily="34" charset="-122"/>
                <a:cs typeface="Calibri" pitchFamily="34" charset="-120"/>
              </a:rPr>
              <a:t>Control plane separated from the data plane - forwarding logic moves out of the switch</a:t>
            </a:r>
            <a:endParaRPr lang="en-US" sz="1250" dirty="0"/>
          </a:p>
          <a:p>
            <a:pPr marL="342900" indent="-342900">
              <a:lnSpc>
                <a:spcPct val="102000"/>
              </a:lnSpc>
              <a:spcAft>
                <a:spcPts val="900"/>
              </a:spcAft>
              <a:buSzPct val="100000"/>
              <a:buChar char="•"/>
            </a:pPr>
            <a:r>
              <a:rPr lang="en-US" sz="1250" dirty="0">
                <a:solidFill>
                  <a:srgbClr val="2A2740"/>
                </a:solidFill>
                <a:latin typeface="Calibri" pitchFamily="34" charset="0"/>
                <a:ea typeface="Calibri" pitchFamily="34" charset="-122"/>
                <a:cs typeface="Calibri" pitchFamily="34" charset="-120"/>
              </a:rPr>
              <a:t>Centralised, network-wide view of topology, links and load</a:t>
            </a:r>
            <a:endParaRPr lang="en-US" sz="1250" dirty="0"/>
          </a:p>
          <a:p>
            <a:pPr marL="342900" indent="-342900">
              <a:lnSpc>
                <a:spcPct val="102000"/>
              </a:lnSpc>
              <a:spcAft>
                <a:spcPts val="900"/>
              </a:spcAft>
              <a:buSzPct val="100000"/>
              <a:buChar char="•"/>
            </a:pPr>
            <a:r>
              <a:rPr lang="en-US" sz="1250" dirty="0">
                <a:solidFill>
                  <a:srgbClr val="2A2740"/>
                </a:solidFill>
                <a:latin typeface="Calibri" pitchFamily="34" charset="0"/>
                <a:ea typeface="Calibri" pitchFamily="34" charset="-122"/>
                <a:cs typeface="Calibri" pitchFamily="34" charset="-120"/>
              </a:rPr>
              <a:t>Programmability through northbound APIs (Ryu, ONOS, OpenDaylight)</a:t>
            </a:r>
            <a:endParaRPr lang="en-US" sz="1250" dirty="0"/>
          </a:p>
          <a:p>
            <a:pPr marL="342900" indent="-342900">
              <a:lnSpc>
                <a:spcPct val="102000"/>
              </a:lnSpc>
              <a:spcAft>
                <a:spcPts val="900"/>
              </a:spcAft>
              <a:buSzPct val="100000"/>
              <a:buChar char="•"/>
            </a:pPr>
            <a:r>
              <a:rPr lang="en-US" sz="1250" dirty="0">
                <a:solidFill>
                  <a:srgbClr val="2A2740"/>
                </a:solidFill>
                <a:latin typeface="Calibri" pitchFamily="34" charset="0"/>
                <a:ea typeface="Calibri" pitchFamily="34" charset="-122"/>
                <a:cs typeface="Calibri" pitchFamily="34" charset="-120"/>
              </a:rPr>
              <a:t>Real-time monitoring from OpenFlow port and flow counters</a:t>
            </a:r>
            <a:endParaRPr lang="en-US" sz="1250" dirty="0"/>
          </a:p>
        </p:txBody>
      </p:sp>
      <p:sp>
        <p:nvSpPr>
          <p:cNvPr id="25" name="Shape 23"/>
          <p:cNvSpPr/>
          <p:nvPr/>
        </p:nvSpPr>
        <p:spPr>
          <a:xfrm>
            <a:off x="6263640" y="2743200"/>
            <a:ext cx="5349240" cy="2926080"/>
          </a:xfrm>
          <a:prstGeom prst="roundRect">
            <a:avLst>
              <a:gd name="adj" fmla="val 3125"/>
            </a:avLst>
          </a:prstGeom>
          <a:solidFill>
            <a:srgbClr val="FFFFFF"/>
          </a:solidFill>
          <a:ln w="15875">
            <a:solidFill>
              <a:srgbClr val="17A98F"/>
            </a:solidFill>
            <a:prstDash val="solid"/>
          </a:ln>
        </p:spPr>
      </p:sp>
      <p:sp>
        <p:nvSpPr>
          <p:cNvPr id="26" name="Text 24"/>
          <p:cNvSpPr/>
          <p:nvPr/>
        </p:nvSpPr>
        <p:spPr>
          <a:xfrm>
            <a:off x="6519672" y="2926080"/>
            <a:ext cx="4846320" cy="365760"/>
          </a:xfrm>
          <a:prstGeom prst="rect">
            <a:avLst/>
          </a:prstGeom>
          <a:noFill/>
          <a:ln/>
        </p:spPr>
        <p:txBody>
          <a:bodyPr wrap="square" lIns="0" tIns="0" rIns="0" bIns="0" rtlCol="0" anchor="ctr"/>
          <a:lstStyle/>
          <a:p>
            <a:pPr indent="0" marL="0">
              <a:buNone/>
            </a:pPr>
            <a:r>
              <a:rPr lang="en-US" sz="1600" b="1" dirty="0">
                <a:solidFill>
                  <a:srgbClr val="17A98F"/>
                </a:solidFill>
                <a:latin typeface="Cambria" pitchFamily="34" charset="0"/>
                <a:ea typeface="Cambria" pitchFamily="34" charset="-122"/>
                <a:cs typeface="Cambria" pitchFamily="34" charset="-120"/>
              </a:rPr>
              <a:t>What we can do with it for video</a:t>
            </a:r>
            <a:endParaRPr lang="en-US" sz="1600" dirty="0"/>
          </a:p>
        </p:txBody>
      </p:sp>
      <p:sp>
        <p:nvSpPr>
          <p:cNvPr id="27" name="Text 25"/>
          <p:cNvSpPr/>
          <p:nvPr/>
        </p:nvSpPr>
        <p:spPr>
          <a:xfrm>
            <a:off x="6556248" y="3401568"/>
            <a:ext cx="4754880" cy="2121408"/>
          </a:xfrm>
          <a:prstGeom prst="rect">
            <a:avLst/>
          </a:prstGeom>
          <a:noFill/>
          <a:ln/>
        </p:spPr>
        <p:txBody>
          <a:bodyPr wrap="square" lIns="0" tIns="0" rIns="0" bIns="0" rtlCol="0" anchor="t"/>
          <a:lstStyle/>
          <a:p>
            <a:pPr marL="342900" indent="-342900">
              <a:lnSpc>
                <a:spcPct val="102000"/>
              </a:lnSpc>
              <a:spcAft>
                <a:spcPts val="900"/>
              </a:spcAft>
              <a:buSzPct val="100000"/>
              <a:buChar char="•"/>
            </a:pPr>
            <a:r>
              <a:rPr lang="en-US" sz="1250" dirty="0">
                <a:solidFill>
                  <a:srgbClr val="2A2740"/>
                </a:solidFill>
                <a:latin typeface="Calibri" pitchFamily="34" charset="0"/>
                <a:ea typeface="Calibri" pitchFamily="34" charset="-122"/>
                <a:cs typeface="Calibri" pitchFamily="34" charset="-120"/>
              </a:rPr>
              <a:t>Classify and prioritise video flows into dedicated queues</a:t>
            </a:r>
            <a:endParaRPr lang="en-US" sz="1250" dirty="0"/>
          </a:p>
          <a:p>
            <a:pPr marL="342900" indent="-342900">
              <a:lnSpc>
                <a:spcPct val="102000"/>
              </a:lnSpc>
              <a:spcAft>
                <a:spcPts val="900"/>
              </a:spcAft>
              <a:buSzPct val="100000"/>
              <a:buChar char="•"/>
            </a:pPr>
            <a:r>
              <a:rPr lang="en-US" sz="1250" dirty="0">
                <a:solidFill>
                  <a:srgbClr val="2A2740"/>
                </a:solidFill>
                <a:latin typeface="Calibri" pitchFamily="34" charset="0"/>
                <a:ea typeface="Calibri" pitchFamily="34" charset="-122"/>
                <a:cs typeface="Calibri" pitchFamily="34" charset="-120"/>
              </a:rPr>
              <a:t>Dynamic QoS routing and rerouting around congested links</a:t>
            </a:r>
            <a:endParaRPr lang="en-US" sz="1250" dirty="0"/>
          </a:p>
          <a:p>
            <a:pPr marL="342900" indent="-342900">
              <a:lnSpc>
                <a:spcPct val="102000"/>
              </a:lnSpc>
              <a:spcAft>
                <a:spcPts val="900"/>
              </a:spcAft>
              <a:buSzPct val="100000"/>
              <a:buChar char="•"/>
            </a:pPr>
            <a:r>
              <a:rPr lang="en-US" sz="1250" dirty="0">
                <a:solidFill>
                  <a:srgbClr val="2A2740"/>
                </a:solidFill>
                <a:latin typeface="Calibri" pitchFamily="34" charset="0"/>
                <a:ea typeface="Calibri" pitchFamily="34" charset="-122"/>
                <a:cs typeface="Calibri" pitchFamily="34" charset="-120"/>
              </a:rPr>
              <a:t>Per-flow bandwidth allocation, metering and rate limiting</a:t>
            </a:r>
            <a:endParaRPr lang="en-US" sz="1250" dirty="0"/>
          </a:p>
          <a:p>
            <a:pPr marL="342900" indent="-342900">
              <a:lnSpc>
                <a:spcPct val="102000"/>
              </a:lnSpc>
              <a:spcAft>
                <a:spcPts val="900"/>
              </a:spcAft>
              <a:buSzPct val="100000"/>
              <a:buChar char="•"/>
            </a:pPr>
            <a:r>
              <a:rPr lang="en-US" sz="1250" dirty="0">
                <a:solidFill>
                  <a:srgbClr val="2A2740"/>
                </a:solidFill>
                <a:latin typeface="Calibri" pitchFamily="34" charset="0"/>
                <a:ea typeface="Calibri" pitchFamily="34" charset="-122"/>
                <a:cs typeface="Calibri" pitchFamily="34" charset="-120"/>
              </a:rPr>
              <a:t>Close the loop on QoE - measure, decide, enforce, re-measure</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64240" cy="658368"/>
          </a:xfrm>
          <a:prstGeom prst="rect">
            <a:avLst/>
          </a:prstGeom>
          <a:noFill/>
          <a:ln/>
        </p:spPr>
        <p:txBody>
          <a:bodyPr wrap="square" lIns="0" tIns="0" rIns="0" bIns="0" rtlCol="0" anchor="ctr"/>
          <a:lstStyle/>
          <a:p>
            <a:pPr indent="0" marL="0">
              <a:buNone/>
            </a:pPr>
            <a:r>
              <a:rPr lang="en-US" sz="3000" b="1" dirty="0">
                <a:solidFill>
                  <a:srgbClr val="1A1633"/>
                </a:solidFill>
                <a:latin typeface="Cambria" pitchFamily="34" charset="0"/>
                <a:ea typeface="Cambria" pitchFamily="34" charset="-122"/>
                <a:cs typeface="Cambria" pitchFamily="34" charset="-120"/>
              </a:rPr>
              <a:t>Use Case Selection and Objectives</a:t>
            </a:r>
            <a:endParaRPr lang="en-US" sz="3000" dirty="0"/>
          </a:p>
        </p:txBody>
      </p:sp>
      <p:sp>
        <p:nvSpPr>
          <p:cNvPr id="3" name="Text 1"/>
          <p:cNvSpPr/>
          <p:nvPr/>
        </p:nvSpPr>
        <p:spPr>
          <a:xfrm>
            <a:off x="566928" y="896112"/>
            <a:ext cx="11064240" cy="274320"/>
          </a:xfrm>
          <a:prstGeom prst="rect">
            <a:avLst/>
          </a:prstGeom>
          <a:noFill/>
          <a:ln/>
        </p:spPr>
        <p:txBody>
          <a:bodyPr wrap="square" lIns="0" tIns="0" rIns="0" bIns="0" rtlCol="0" anchor="ctr"/>
          <a:lstStyle/>
          <a:p>
            <a:pPr indent="0" marL="0">
              <a:buNone/>
            </a:pPr>
            <a:r>
              <a:rPr lang="en-US" sz="1150" b="1" spc="160" kern="0" dirty="0">
                <a:solidFill>
                  <a:srgbClr val="4C3B9E"/>
                </a:solidFill>
                <a:latin typeface="Calibri" pitchFamily="34" charset="0"/>
                <a:ea typeface="Calibri" pitchFamily="34" charset="-122"/>
                <a:cs typeface="Calibri" pitchFamily="34" charset="-120"/>
              </a:rPr>
              <a:t>SCOPE, JUSTIFICATION AND WHAT WE AIM TO ACHIEVE</a:t>
            </a:r>
            <a:endParaRPr lang="en-US" sz="1150" dirty="0"/>
          </a:p>
        </p:txBody>
      </p:sp>
      <p:sp>
        <p:nvSpPr>
          <p:cNvPr id="4" name="Shape 2"/>
          <p:cNvSpPr/>
          <p:nvPr/>
        </p:nvSpPr>
        <p:spPr>
          <a:xfrm>
            <a:off x="548640" y="1298448"/>
            <a:ext cx="4206240" cy="3977640"/>
          </a:xfrm>
          <a:prstGeom prst="roundRect">
            <a:avLst>
              <a:gd name="adj" fmla="val 2299"/>
            </a:avLst>
          </a:prstGeom>
          <a:solidFill>
            <a:srgbClr val="F2F0FA"/>
          </a:solidFill>
          <a:ln w="15875">
            <a:solidFill>
              <a:srgbClr val="4C3B9E"/>
            </a:solidFill>
            <a:prstDash val="solid"/>
          </a:ln>
        </p:spPr>
      </p:sp>
      <p:sp>
        <p:nvSpPr>
          <p:cNvPr id="5" name="Text 3"/>
          <p:cNvSpPr/>
          <p:nvPr/>
        </p:nvSpPr>
        <p:spPr>
          <a:xfrm>
            <a:off x="804672" y="1444752"/>
            <a:ext cx="3703320" cy="365760"/>
          </a:xfrm>
          <a:prstGeom prst="rect">
            <a:avLst/>
          </a:prstGeom>
          <a:noFill/>
          <a:ln/>
        </p:spPr>
        <p:txBody>
          <a:bodyPr wrap="square" lIns="0" tIns="0" rIns="0" bIns="0" rtlCol="0" anchor="ctr"/>
          <a:lstStyle/>
          <a:p>
            <a:pPr indent="0" marL="0">
              <a:buNone/>
            </a:pPr>
            <a:r>
              <a:rPr lang="en-US" sz="1600" b="1" dirty="0">
                <a:solidFill>
                  <a:srgbClr val="4C3B9E"/>
                </a:solidFill>
                <a:latin typeface="Cambria" pitchFamily="34" charset="0"/>
                <a:ea typeface="Cambria" pitchFamily="34" charset="-122"/>
                <a:cs typeface="Cambria" pitchFamily="34" charset="-120"/>
              </a:rPr>
              <a:t>Why this use case?</a:t>
            </a:r>
            <a:endParaRPr lang="en-US" sz="1600" dirty="0"/>
          </a:p>
        </p:txBody>
      </p:sp>
      <p:sp>
        <p:nvSpPr>
          <p:cNvPr id="6" name="Text 4"/>
          <p:cNvSpPr/>
          <p:nvPr/>
        </p:nvSpPr>
        <p:spPr>
          <a:xfrm>
            <a:off x="822960" y="1874520"/>
            <a:ext cx="3657600" cy="3291840"/>
          </a:xfrm>
          <a:prstGeom prst="rect">
            <a:avLst/>
          </a:prstGeom>
          <a:noFill/>
          <a:ln/>
        </p:spPr>
        <p:txBody>
          <a:bodyPr wrap="square" lIns="0" tIns="0" rIns="0" bIns="0" rtlCol="0" anchor="t"/>
          <a:lstStyle/>
          <a:p>
            <a:pPr marL="342900" indent="-342900">
              <a:lnSpc>
                <a:spcPct val="102000"/>
              </a:lnSpc>
              <a:spcAft>
                <a:spcPts val="900"/>
              </a:spcAft>
              <a:buSzPct val="100000"/>
              <a:buChar char="•"/>
            </a:pPr>
            <a:r>
              <a:rPr lang="en-US" sz="1200" dirty="0">
                <a:solidFill>
                  <a:srgbClr val="2A2740"/>
                </a:solidFill>
                <a:latin typeface="Calibri" pitchFamily="34" charset="0"/>
                <a:ea typeface="Calibri" pitchFamily="34" charset="-122"/>
                <a:cs typeface="Calibri" pitchFamily="34" charset="-120"/>
              </a:rPr>
              <a:t>Video is the largest and most quality-sensitive traffic class in campus, ISP and enterprise networks.</a:t>
            </a:r>
            <a:endParaRPr lang="en-US" sz="1200" dirty="0"/>
          </a:p>
          <a:p>
            <a:pPr marL="342900" indent="-342900">
              <a:lnSpc>
                <a:spcPct val="102000"/>
              </a:lnSpc>
              <a:spcAft>
                <a:spcPts val="900"/>
              </a:spcAft>
              <a:buSzPct val="100000"/>
              <a:buChar char="•"/>
            </a:pPr>
            <a:r>
              <a:rPr lang="en-US" sz="1200" dirty="0">
                <a:solidFill>
                  <a:srgbClr val="2A2740"/>
                </a:solidFill>
                <a:latin typeface="Calibri" pitchFamily="34" charset="0"/>
                <a:ea typeface="Calibri" pitchFamily="34" charset="-122"/>
                <a:cs typeface="Calibri" pitchFamily="34" charset="-120"/>
              </a:rPr>
              <a:t>Its requirements are measurable - delay, jitter, loss, throughput - so QoS policy can be evaluated objectively.</a:t>
            </a:r>
            <a:endParaRPr lang="en-US" sz="1200" dirty="0"/>
          </a:p>
          <a:p>
            <a:pPr marL="342900" indent="-342900">
              <a:lnSpc>
                <a:spcPct val="102000"/>
              </a:lnSpc>
              <a:spcAft>
                <a:spcPts val="900"/>
              </a:spcAft>
              <a:buSzPct val="100000"/>
              <a:buChar char="•"/>
            </a:pPr>
            <a:r>
              <a:rPr lang="en-US" sz="1200" dirty="0">
                <a:solidFill>
                  <a:srgbClr val="2A2740"/>
                </a:solidFill>
                <a:latin typeface="Calibri" pitchFamily="34" charset="0"/>
                <a:ea typeface="Calibri" pitchFamily="34" charset="-122"/>
                <a:cs typeface="Calibri" pitchFamily="34" charset="-120"/>
              </a:rPr>
              <a:t>Static QoS classes cannot follow traffic that changes second by second.</a:t>
            </a:r>
            <a:endParaRPr lang="en-US" sz="1200" dirty="0"/>
          </a:p>
          <a:p>
            <a:pPr marL="342900" indent="-342900">
              <a:lnSpc>
                <a:spcPct val="102000"/>
              </a:lnSpc>
              <a:spcAft>
                <a:spcPts val="900"/>
              </a:spcAft>
              <a:buSzPct val="100000"/>
              <a:buChar char="•"/>
            </a:pPr>
            <a:r>
              <a:rPr lang="en-US" sz="1200" dirty="0">
                <a:solidFill>
                  <a:srgbClr val="2A2740"/>
                </a:solidFill>
                <a:latin typeface="Calibri" pitchFamily="34" charset="0"/>
                <a:ea typeface="Calibri" pitchFamily="34" charset="-122"/>
                <a:cs typeface="Calibri" pitchFamily="34" charset="-120"/>
              </a:rPr>
              <a:t>Adaptive players react only at the client; they cannot see or fix the bottleneck.</a:t>
            </a:r>
            <a:endParaRPr lang="en-US" sz="1200" dirty="0"/>
          </a:p>
          <a:p>
            <a:pPr marL="342900" indent="-342900">
              <a:lnSpc>
                <a:spcPct val="102000"/>
              </a:lnSpc>
              <a:spcAft>
                <a:spcPts val="900"/>
              </a:spcAft>
              <a:buSzPct val="100000"/>
              <a:buChar char="•"/>
            </a:pPr>
            <a:r>
              <a:rPr lang="en-US" sz="1200" dirty="0">
                <a:solidFill>
                  <a:srgbClr val="2A2740"/>
                </a:solidFill>
                <a:latin typeface="Calibri" pitchFamily="34" charset="0"/>
                <a:ea typeface="Calibri" pitchFamily="34" charset="-122"/>
                <a:cs typeface="Calibri" pitchFamily="34" charset="-120"/>
              </a:rPr>
              <a:t>SDN adds the missing piece: a controller that sees the network and can act on it.</a:t>
            </a:r>
            <a:endParaRPr lang="en-US" sz="1200" dirty="0"/>
          </a:p>
        </p:txBody>
      </p:sp>
      <p:sp>
        <p:nvSpPr>
          <p:cNvPr id="7" name="Text 5"/>
          <p:cNvSpPr/>
          <p:nvPr/>
        </p:nvSpPr>
        <p:spPr>
          <a:xfrm>
            <a:off x="5120640" y="1298448"/>
            <a:ext cx="6492240" cy="320040"/>
          </a:xfrm>
          <a:prstGeom prst="rect">
            <a:avLst/>
          </a:prstGeom>
          <a:noFill/>
          <a:ln/>
        </p:spPr>
        <p:txBody>
          <a:bodyPr wrap="square" lIns="0" tIns="0" rIns="0" bIns="0" rtlCol="0" anchor="ctr"/>
          <a:lstStyle/>
          <a:p>
            <a:pPr indent="0" marL="0">
              <a:buNone/>
            </a:pPr>
            <a:r>
              <a:rPr lang="en-US" sz="1600" b="1" dirty="0">
                <a:solidFill>
                  <a:srgbClr val="17A98F"/>
                </a:solidFill>
                <a:latin typeface="Cambria" pitchFamily="34" charset="0"/>
                <a:ea typeface="Cambria" pitchFamily="34" charset="-122"/>
                <a:cs typeface="Cambria" pitchFamily="34" charset="-120"/>
              </a:rPr>
              <a:t>Objectives</a:t>
            </a:r>
            <a:endParaRPr lang="en-US" sz="1600" dirty="0"/>
          </a:p>
        </p:txBody>
      </p:sp>
      <p:sp>
        <p:nvSpPr>
          <p:cNvPr id="8" name="Shape 6"/>
          <p:cNvSpPr/>
          <p:nvPr/>
        </p:nvSpPr>
        <p:spPr>
          <a:xfrm>
            <a:off x="5120640" y="1737360"/>
            <a:ext cx="3108960" cy="1051560"/>
          </a:xfrm>
          <a:prstGeom prst="roundRect">
            <a:avLst>
              <a:gd name="adj" fmla="val 6957"/>
            </a:avLst>
          </a:prstGeom>
          <a:solidFill>
            <a:srgbClr val="FFFFFF"/>
          </a:solidFill>
          <a:ln w="12700">
            <a:solidFill>
              <a:srgbClr val="7A6BD6"/>
            </a:solidFill>
            <a:prstDash val="solid"/>
          </a:ln>
          <a:effectLst>
            <a:outerShdw sx="100000" sy="100000" kx="0" ky="0" algn="bl" rotWithShape="0" blurRad="76200" dist="12700" dir="5400000">
              <a:srgbClr val="1A1633">
                <a:alpha val="10000"/>
              </a:srgbClr>
            </a:outerShdw>
          </a:effectLst>
        </p:spPr>
      </p:sp>
      <p:sp>
        <p:nvSpPr>
          <p:cNvPr id="9" name="Shape 7"/>
          <p:cNvSpPr/>
          <p:nvPr/>
        </p:nvSpPr>
        <p:spPr>
          <a:xfrm>
            <a:off x="5266944" y="1892808"/>
            <a:ext cx="310896" cy="310896"/>
          </a:xfrm>
          <a:prstGeom prst="ellipse">
            <a:avLst/>
          </a:prstGeom>
          <a:solidFill>
            <a:srgbClr val="17A98F"/>
          </a:solidFill>
          <a:ln w="12700">
            <a:solidFill>
              <a:srgbClr val="17A98F"/>
            </a:solidFill>
            <a:prstDash val="solid"/>
          </a:ln>
        </p:spPr>
      </p:sp>
      <p:sp>
        <p:nvSpPr>
          <p:cNvPr id="10" name="Text 8"/>
          <p:cNvSpPr/>
          <p:nvPr/>
        </p:nvSpPr>
        <p:spPr>
          <a:xfrm>
            <a:off x="5266944" y="1892808"/>
            <a:ext cx="31089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O1</a:t>
            </a:r>
            <a:endParaRPr lang="en-US" sz="950" dirty="0"/>
          </a:p>
        </p:txBody>
      </p:sp>
      <p:sp>
        <p:nvSpPr>
          <p:cNvPr id="11" name="Text 9"/>
          <p:cNvSpPr/>
          <p:nvPr/>
        </p:nvSpPr>
        <p:spPr>
          <a:xfrm>
            <a:off x="5650992" y="1847088"/>
            <a:ext cx="2450592" cy="841248"/>
          </a:xfrm>
          <a:prstGeom prst="rect">
            <a:avLst/>
          </a:prstGeom>
          <a:noFill/>
          <a:ln/>
        </p:spPr>
        <p:txBody>
          <a:bodyPr wrap="square" lIns="0" tIns="0" rIns="0" bIns="0" rtlCol="0" anchor="ctr"/>
          <a:lstStyle/>
          <a:p>
            <a:pPr indent="0" marL="0">
              <a:lnSpc>
                <a:spcPct val="100000"/>
              </a:lnSpc>
              <a:buNone/>
            </a:pPr>
            <a:r>
              <a:rPr lang="en-US" sz="1100" dirty="0">
                <a:solidFill>
                  <a:srgbClr val="2A2740"/>
                </a:solidFill>
                <a:latin typeface="Calibri" pitchFamily="34" charset="0"/>
                <a:ea typeface="Calibri" pitchFamily="34" charset="-122"/>
                <a:cs typeface="Calibri" pitchFamily="34" charset="-120"/>
              </a:rPr>
              <a:t>Monitor link load, delay, jitter and loss continuously from the controller</a:t>
            </a:r>
            <a:endParaRPr lang="en-US" sz="1100" dirty="0"/>
          </a:p>
        </p:txBody>
      </p:sp>
      <p:sp>
        <p:nvSpPr>
          <p:cNvPr id="12" name="Shape 10"/>
          <p:cNvSpPr/>
          <p:nvPr/>
        </p:nvSpPr>
        <p:spPr>
          <a:xfrm>
            <a:off x="8503920" y="1737360"/>
            <a:ext cx="3108960" cy="1051560"/>
          </a:xfrm>
          <a:prstGeom prst="roundRect">
            <a:avLst>
              <a:gd name="adj" fmla="val 6957"/>
            </a:avLst>
          </a:prstGeom>
          <a:solidFill>
            <a:srgbClr val="FFFFFF"/>
          </a:solidFill>
          <a:ln w="12700">
            <a:solidFill>
              <a:srgbClr val="7A6BD6"/>
            </a:solidFill>
            <a:prstDash val="solid"/>
          </a:ln>
          <a:effectLst>
            <a:outerShdw sx="100000" sy="100000" kx="0" ky="0" algn="bl" rotWithShape="0" blurRad="76200" dist="12700" dir="5400000">
              <a:srgbClr val="1A1633">
                <a:alpha val="10000"/>
              </a:srgbClr>
            </a:outerShdw>
          </a:effectLst>
        </p:spPr>
      </p:sp>
      <p:sp>
        <p:nvSpPr>
          <p:cNvPr id="13" name="Shape 11"/>
          <p:cNvSpPr/>
          <p:nvPr/>
        </p:nvSpPr>
        <p:spPr>
          <a:xfrm>
            <a:off x="8650224" y="1892808"/>
            <a:ext cx="310896" cy="310896"/>
          </a:xfrm>
          <a:prstGeom prst="ellipse">
            <a:avLst/>
          </a:prstGeom>
          <a:solidFill>
            <a:srgbClr val="17A98F"/>
          </a:solidFill>
          <a:ln w="12700">
            <a:solidFill>
              <a:srgbClr val="17A98F"/>
            </a:solidFill>
            <a:prstDash val="solid"/>
          </a:ln>
        </p:spPr>
      </p:sp>
      <p:sp>
        <p:nvSpPr>
          <p:cNvPr id="14" name="Text 12"/>
          <p:cNvSpPr/>
          <p:nvPr/>
        </p:nvSpPr>
        <p:spPr>
          <a:xfrm>
            <a:off x="8650224" y="1892808"/>
            <a:ext cx="31089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O2</a:t>
            </a:r>
            <a:endParaRPr lang="en-US" sz="950" dirty="0"/>
          </a:p>
        </p:txBody>
      </p:sp>
      <p:sp>
        <p:nvSpPr>
          <p:cNvPr id="15" name="Text 13"/>
          <p:cNvSpPr/>
          <p:nvPr/>
        </p:nvSpPr>
        <p:spPr>
          <a:xfrm>
            <a:off x="9034272" y="1847088"/>
            <a:ext cx="2450592" cy="841248"/>
          </a:xfrm>
          <a:prstGeom prst="rect">
            <a:avLst/>
          </a:prstGeom>
          <a:noFill/>
          <a:ln/>
        </p:spPr>
        <p:txBody>
          <a:bodyPr wrap="square" lIns="0" tIns="0" rIns="0" bIns="0" rtlCol="0" anchor="ctr"/>
          <a:lstStyle/>
          <a:p>
            <a:pPr indent="0" marL="0">
              <a:lnSpc>
                <a:spcPct val="100000"/>
              </a:lnSpc>
              <a:buNone/>
            </a:pPr>
            <a:r>
              <a:rPr lang="en-US" sz="1100" dirty="0">
                <a:solidFill>
                  <a:srgbClr val="2A2740"/>
                </a:solidFill>
                <a:latin typeface="Calibri" pitchFamily="34" charset="0"/>
                <a:ea typeface="Calibri" pitchFamily="34" charset="-122"/>
                <a:cs typeface="Calibri" pitchFamily="34" charset="-120"/>
              </a:rPr>
              <a:t>Detect congestion and performance degradation on active video paths</a:t>
            </a:r>
            <a:endParaRPr lang="en-US" sz="1100" dirty="0"/>
          </a:p>
        </p:txBody>
      </p:sp>
      <p:sp>
        <p:nvSpPr>
          <p:cNvPr id="16" name="Shape 14"/>
          <p:cNvSpPr/>
          <p:nvPr/>
        </p:nvSpPr>
        <p:spPr>
          <a:xfrm>
            <a:off x="5120640" y="2953512"/>
            <a:ext cx="3108960" cy="1051560"/>
          </a:xfrm>
          <a:prstGeom prst="roundRect">
            <a:avLst>
              <a:gd name="adj" fmla="val 6957"/>
            </a:avLst>
          </a:prstGeom>
          <a:solidFill>
            <a:srgbClr val="FFFFFF"/>
          </a:solidFill>
          <a:ln w="12700">
            <a:solidFill>
              <a:srgbClr val="7A6BD6"/>
            </a:solidFill>
            <a:prstDash val="solid"/>
          </a:ln>
          <a:effectLst>
            <a:outerShdw sx="100000" sy="100000" kx="0" ky="0" algn="bl" rotWithShape="0" blurRad="76200" dist="12700" dir="5400000">
              <a:srgbClr val="1A1633">
                <a:alpha val="10000"/>
              </a:srgbClr>
            </a:outerShdw>
          </a:effectLst>
        </p:spPr>
      </p:sp>
      <p:sp>
        <p:nvSpPr>
          <p:cNvPr id="17" name="Shape 15"/>
          <p:cNvSpPr/>
          <p:nvPr/>
        </p:nvSpPr>
        <p:spPr>
          <a:xfrm>
            <a:off x="5266944" y="3108960"/>
            <a:ext cx="310896" cy="310896"/>
          </a:xfrm>
          <a:prstGeom prst="ellipse">
            <a:avLst/>
          </a:prstGeom>
          <a:solidFill>
            <a:srgbClr val="17A98F"/>
          </a:solidFill>
          <a:ln w="12700">
            <a:solidFill>
              <a:srgbClr val="17A98F"/>
            </a:solidFill>
            <a:prstDash val="solid"/>
          </a:ln>
        </p:spPr>
      </p:sp>
      <p:sp>
        <p:nvSpPr>
          <p:cNvPr id="18" name="Text 16"/>
          <p:cNvSpPr/>
          <p:nvPr/>
        </p:nvSpPr>
        <p:spPr>
          <a:xfrm>
            <a:off x="5266944" y="3108960"/>
            <a:ext cx="31089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O3</a:t>
            </a:r>
            <a:endParaRPr lang="en-US" sz="950" dirty="0"/>
          </a:p>
        </p:txBody>
      </p:sp>
      <p:sp>
        <p:nvSpPr>
          <p:cNvPr id="19" name="Text 17"/>
          <p:cNvSpPr/>
          <p:nvPr/>
        </p:nvSpPr>
        <p:spPr>
          <a:xfrm>
            <a:off x="5650992" y="3063240"/>
            <a:ext cx="2450592" cy="841248"/>
          </a:xfrm>
          <a:prstGeom prst="rect">
            <a:avLst/>
          </a:prstGeom>
          <a:noFill/>
          <a:ln/>
        </p:spPr>
        <p:txBody>
          <a:bodyPr wrap="square" lIns="0" tIns="0" rIns="0" bIns="0" rtlCol="0" anchor="ctr"/>
          <a:lstStyle/>
          <a:p>
            <a:pPr indent="0" marL="0">
              <a:lnSpc>
                <a:spcPct val="100000"/>
              </a:lnSpc>
              <a:buNone/>
            </a:pPr>
            <a:r>
              <a:rPr lang="en-US" sz="1100" dirty="0">
                <a:solidFill>
                  <a:srgbClr val="2A2740"/>
                </a:solidFill>
                <a:latin typeface="Calibri" pitchFamily="34" charset="0"/>
                <a:ea typeface="Calibri" pitchFamily="34" charset="-122"/>
                <a:cs typeface="Calibri" pitchFamily="34" charset="-120"/>
              </a:rPr>
              <a:t>Classify and prioritise video flows over background traffic</a:t>
            </a:r>
            <a:endParaRPr lang="en-US" sz="1100" dirty="0"/>
          </a:p>
        </p:txBody>
      </p:sp>
      <p:sp>
        <p:nvSpPr>
          <p:cNvPr id="20" name="Shape 18"/>
          <p:cNvSpPr/>
          <p:nvPr/>
        </p:nvSpPr>
        <p:spPr>
          <a:xfrm>
            <a:off x="8503920" y="2953512"/>
            <a:ext cx="3108960" cy="1051560"/>
          </a:xfrm>
          <a:prstGeom prst="roundRect">
            <a:avLst>
              <a:gd name="adj" fmla="val 6957"/>
            </a:avLst>
          </a:prstGeom>
          <a:solidFill>
            <a:srgbClr val="FFFFFF"/>
          </a:solidFill>
          <a:ln w="12700">
            <a:solidFill>
              <a:srgbClr val="7A6BD6"/>
            </a:solidFill>
            <a:prstDash val="solid"/>
          </a:ln>
          <a:effectLst>
            <a:outerShdw sx="100000" sy="100000" kx="0" ky="0" algn="bl" rotWithShape="0" blurRad="76200" dist="12700" dir="5400000">
              <a:srgbClr val="1A1633">
                <a:alpha val="10000"/>
              </a:srgbClr>
            </a:outerShdw>
          </a:effectLst>
        </p:spPr>
      </p:sp>
      <p:sp>
        <p:nvSpPr>
          <p:cNvPr id="21" name="Shape 19"/>
          <p:cNvSpPr/>
          <p:nvPr/>
        </p:nvSpPr>
        <p:spPr>
          <a:xfrm>
            <a:off x="8650224" y="3108960"/>
            <a:ext cx="310896" cy="310896"/>
          </a:xfrm>
          <a:prstGeom prst="ellipse">
            <a:avLst/>
          </a:prstGeom>
          <a:solidFill>
            <a:srgbClr val="17A98F"/>
          </a:solidFill>
          <a:ln w="12700">
            <a:solidFill>
              <a:srgbClr val="17A98F"/>
            </a:solidFill>
            <a:prstDash val="solid"/>
          </a:ln>
        </p:spPr>
      </p:sp>
      <p:sp>
        <p:nvSpPr>
          <p:cNvPr id="22" name="Text 20"/>
          <p:cNvSpPr/>
          <p:nvPr/>
        </p:nvSpPr>
        <p:spPr>
          <a:xfrm>
            <a:off x="8650224" y="3108960"/>
            <a:ext cx="31089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O4</a:t>
            </a:r>
            <a:endParaRPr lang="en-US" sz="950" dirty="0"/>
          </a:p>
        </p:txBody>
      </p:sp>
      <p:sp>
        <p:nvSpPr>
          <p:cNvPr id="23" name="Text 21"/>
          <p:cNvSpPr/>
          <p:nvPr/>
        </p:nvSpPr>
        <p:spPr>
          <a:xfrm>
            <a:off x="9034272" y="3063240"/>
            <a:ext cx="2450592" cy="841248"/>
          </a:xfrm>
          <a:prstGeom prst="rect">
            <a:avLst/>
          </a:prstGeom>
          <a:noFill/>
          <a:ln/>
        </p:spPr>
        <p:txBody>
          <a:bodyPr wrap="square" lIns="0" tIns="0" rIns="0" bIns="0" rtlCol="0" anchor="ctr"/>
          <a:lstStyle/>
          <a:p>
            <a:pPr indent="0" marL="0">
              <a:lnSpc>
                <a:spcPct val="100000"/>
              </a:lnSpc>
              <a:buNone/>
            </a:pPr>
            <a:r>
              <a:rPr lang="en-US" sz="1100" dirty="0">
                <a:solidFill>
                  <a:srgbClr val="2A2740"/>
                </a:solidFill>
                <a:latin typeface="Calibri" pitchFamily="34" charset="0"/>
                <a:ea typeface="Calibri" pitchFamily="34" charset="-122"/>
                <a:cs typeface="Calibri" pitchFamily="34" charset="-120"/>
              </a:rPr>
              <a:t>Allocate bandwidth dynamically and reroute flows when a path degrades</a:t>
            </a:r>
            <a:endParaRPr lang="en-US" sz="1100" dirty="0"/>
          </a:p>
        </p:txBody>
      </p:sp>
      <p:sp>
        <p:nvSpPr>
          <p:cNvPr id="24" name="Shape 22"/>
          <p:cNvSpPr/>
          <p:nvPr/>
        </p:nvSpPr>
        <p:spPr>
          <a:xfrm>
            <a:off x="5120640" y="4169664"/>
            <a:ext cx="3108960" cy="1051560"/>
          </a:xfrm>
          <a:prstGeom prst="roundRect">
            <a:avLst>
              <a:gd name="adj" fmla="val 6957"/>
            </a:avLst>
          </a:prstGeom>
          <a:solidFill>
            <a:srgbClr val="FFFFFF"/>
          </a:solidFill>
          <a:ln w="12700">
            <a:solidFill>
              <a:srgbClr val="7A6BD6"/>
            </a:solidFill>
            <a:prstDash val="solid"/>
          </a:ln>
          <a:effectLst>
            <a:outerShdw sx="100000" sy="100000" kx="0" ky="0" algn="bl" rotWithShape="0" blurRad="76200" dist="12700" dir="5400000">
              <a:srgbClr val="1A1633">
                <a:alpha val="10000"/>
              </a:srgbClr>
            </a:outerShdw>
          </a:effectLst>
        </p:spPr>
      </p:sp>
      <p:sp>
        <p:nvSpPr>
          <p:cNvPr id="25" name="Shape 23"/>
          <p:cNvSpPr/>
          <p:nvPr/>
        </p:nvSpPr>
        <p:spPr>
          <a:xfrm>
            <a:off x="5266944" y="4325112"/>
            <a:ext cx="310896" cy="310896"/>
          </a:xfrm>
          <a:prstGeom prst="ellipse">
            <a:avLst/>
          </a:prstGeom>
          <a:solidFill>
            <a:srgbClr val="17A98F"/>
          </a:solidFill>
          <a:ln w="12700">
            <a:solidFill>
              <a:srgbClr val="17A98F"/>
            </a:solidFill>
            <a:prstDash val="solid"/>
          </a:ln>
        </p:spPr>
      </p:sp>
      <p:sp>
        <p:nvSpPr>
          <p:cNvPr id="26" name="Text 24"/>
          <p:cNvSpPr/>
          <p:nvPr/>
        </p:nvSpPr>
        <p:spPr>
          <a:xfrm>
            <a:off x="5266944" y="4325112"/>
            <a:ext cx="31089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O5</a:t>
            </a:r>
            <a:endParaRPr lang="en-US" sz="950" dirty="0"/>
          </a:p>
        </p:txBody>
      </p:sp>
      <p:sp>
        <p:nvSpPr>
          <p:cNvPr id="27" name="Text 25"/>
          <p:cNvSpPr/>
          <p:nvPr/>
        </p:nvSpPr>
        <p:spPr>
          <a:xfrm>
            <a:off x="5650992" y="4279392"/>
            <a:ext cx="2450592" cy="841248"/>
          </a:xfrm>
          <a:prstGeom prst="rect">
            <a:avLst/>
          </a:prstGeom>
          <a:noFill/>
          <a:ln/>
        </p:spPr>
        <p:txBody>
          <a:bodyPr wrap="square" lIns="0" tIns="0" rIns="0" bIns="0" rtlCol="0" anchor="ctr"/>
          <a:lstStyle/>
          <a:p>
            <a:pPr indent="0" marL="0">
              <a:lnSpc>
                <a:spcPct val="100000"/>
              </a:lnSpc>
              <a:buNone/>
            </a:pPr>
            <a:r>
              <a:rPr lang="en-US" sz="1100" dirty="0">
                <a:solidFill>
                  <a:srgbClr val="2A2740"/>
                </a:solidFill>
                <a:latin typeface="Calibri" pitchFamily="34" charset="0"/>
                <a:ea typeface="Calibri" pitchFamily="34" charset="-122"/>
                <a:cs typeface="Calibri" pitchFamily="34" charset="-120"/>
              </a:rPr>
              <a:t>Reduce packet loss, latency, jitter and rebuffering events</a:t>
            </a:r>
            <a:endParaRPr lang="en-US" sz="1100" dirty="0"/>
          </a:p>
        </p:txBody>
      </p:sp>
      <p:sp>
        <p:nvSpPr>
          <p:cNvPr id="28" name="Shape 26"/>
          <p:cNvSpPr/>
          <p:nvPr/>
        </p:nvSpPr>
        <p:spPr>
          <a:xfrm>
            <a:off x="8503920" y="4169664"/>
            <a:ext cx="3108960" cy="1051560"/>
          </a:xfrm>
          <a:prstGeom prst="roundRect">
            <a:avLst>
              <a:gd name="adj" fmla="val 6957"/>
            </a:avLst>
          </a:prstGeom>
          <a:solidFill>
            <a:srgbClr val="FFFFFF"/>
          </a:solidFill>
          <a:ln w="12700">
            <a:solidFill>
              <a:srgbClr val="7A6BD6"/>
            </a:solidFill>
            <a:prstDash val="solid"/>
          </a:ln>
          <a:effectLst>
            <a:outerShdw sx="100000" sy="100000" kx="0" ky="0" algn="bl" rotWithShape="0" blurRad="76200" dist="12700" dir="5400000">
              <a:srgbClr val="1A1633">
                <a:alpha val="10000"/>
              </a:srgbClr>
            </a:outerShdw>
          </a:effectLst>
        </p:spPr>
      </p:sp>
      <p:sp>
        <p:nvSpPr>
          <p:cNvPr id="29" name="Shape 27"/>
          <p:cNvSpPr/>
          <p:nvPr/>
        </p:nvSpPr>
        <p:spPr>
          <a:xfrm>
            <a:off x="8650224" y="4325112"/>
            <a:ext cx="310896" cy="310896"/>
          </a:xfrm>
          <a:prstGeom prst="ellipse">
            <a:avLst/>
          </a:prstGeom>
          <a:solidFill>
            <a:srgbClr val="17A98F"/>
          </a:solidFill>
          <a:ln w="12700">
            <a:solidFill>
              <a:srgbClr val="17A98F"/>
            </a:solidFill>
            <a:prstDash val="solid"/>
          </a:ln>
        </p:spPr>
      </p:sp>
      <p:sp>
        <p:nvSpPr>
          <p:cNvPr id="30" name="Text 28"/>
          <p:cNvSpPr/>
          <p:nvPr/>
        </p:nvSpPr>
        <p:spPr>
          <a:xfrm>
            <a:off x="8650224" y="4325112"/>
            <a:ext cx="31089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O6</a:t>
            </a:r>
            <a:endParaRPr lang="en-US" sz="950" dirty="0"/>
          </a:p>
        </p:txBody>
      </p:sp>
      <p:sp>
        <p:nvSpPr>
          <p:cNvPr id="31" name="Text 29"/>
          <p:cNvSpPr/>
          <p:nvPr/>
        </p:nvSpPr>
        <p:spPr>
          <a:xfrm>
            <a:off x="9034272" y="4279392"/>
            <a:ext cx="2450592" cy="841248"/>
          </a:xfrm>
          <a:prstGeom prst="rect">
            <a:avLst/>
          </a:prstGeom>
          <a:noFill/>
          <a:ln/>
        </p:spPr>
        <p:txBody>
          <a:bodyPr wrap="square" lIns="0" tIns="0" rIns="0" bIns="0" rtlCol="0" anchor="ctr"/>
          <a:lstStyle/>
          <a:p>
            <a:pPr indent="0" marL="0">
              <a:lnSpc>
                <a:spcPct val="100000"/>
              </a:lnSpc>
              <a:buNone/>
            </a:pPr>
            <a:r>
              <a:rPr lang="en-US" sz="1100" dirty="0">
                <a:solidFill>
                  <a:srgbClr val="2A2740"/>
                </a:solidFill>
                <a:latin typeface="Calibri" pitchFamily="34" charset="0"/>
                <a:ea typeface="Calibri" pitchFamily="34" charset="-122"/>
                <a:cs typeface="Calibri" pitchFamily="34" charset="-120"/>
              </a:rPr>
              <a:t>Improve measured video QoE, not just raw network numbers</a:t>
            </a:r>
            <a:endParaRPr lang="en-US" sz="1100" dirty="0"/>
          </a:p>
        </p:txBody>
      </p:sp>
      <p:sp>
        <p:nvSpPr>
          <p:cNvPr id="32" name="Shape 30"/>
          <p:cNvSpPr/>
          <p:nvPr/>
        </p:nvSpPr>
        <p:spPr>
          <a:xfrm>
            <a:off x="548640" y="5468112"/>
            <a:ext cx="5486400" cy="868680"/>
          </a:xfrm>
          <a:prstGeom prst="roundRect">
            <a:avLst>
              <a:gd name="adj" fmla="val 9474"/>
            </a:avLst>
          </a:prstGeom>
          <a:solidFill>
            <a:srgbClr val="1A1633"/>
          </a:solidFill>
          <a:ln w="12700">
            <a:solidFill>
              <a:srgbClr val="1A1633"/>
            </a:solidFill>
            <a:prstDash val="solid"/>
          </a:ln>
        </p:spPr>
      </p:sp>
      <p:sp>
        <p:nvSpPr>
          <p:cNvPr id="33" name="Text 31"/>
          <p:cNvSpPr/>
          <p:nvPr/>
        </p:nvSpPr>
        <p:spPr>
          <a:xfrm>
            <a:off x="777240" y="5532120"/>
            <a:ext cx="5029200" cy="731520"/>
          </a:xfrm>
          <a:prstGeom prst="rect">
            <a:avLst/>
          </a:prstGeom>
          <a:noFill/>
          <a:ln/>
        </p:spPr>
        <p:txBody>
          <a:bodyPr wrap="square" lIns="0" tIns="0" rIns="0" bIns="0" rtlCol="0" anchor="ctr"/>
          <a:lstStyle/>
          <a:p>
            <a:pPr indent="0" marL="0">
              <a:buNone/>
            </a:pPr>
            <a:r>
              <a:rPr lang="en-US" sz="1150" b="1" dirty="0">
                <a:solidFill>
                  <a:srgbClr val="E8912B"/>
                </a:solidFill>
                <a:latin typeface="Calibri" pitchFamily="34" charset="0"/>
                <a:ea typeface="Calibri" pitchFamily="34" charset="-122"/>
                <a:cs typeface="Calibri" pitchFamily="34" charset="-120"/>
              </a:rPr>
              <a:t>QoS - network level:  </a:t>
            </a:r>
            <a:pPr indent="0" marL="0">
              <a:buNone/>
            </a:pPr>
            <a:r>
              <a:rPr lang="en-US" sz="1150" dirty="0">
                <a:solidFill>
                  <a:srgbClr val="FFFFFF"/>
                </a:solidFill>
                <a:latin typeface="Calibri" pitchFamily="34" charset="0"/>
                <a:ea typeface="Calibri" pitchFamily="34" charset="-122"/>
                <a:cs typeface="Calibri" pitchFamily="34" charset="-120"/>
              </a:rPr>
              <a:t>delay, jitter, packet loss, throughput, link utilisation. What the controller can measure and control.</a:t>
            </a:r>
            <a:endParaRPr lang="en-US" sz="1150" dirty="0"/>
          </a:p>
        </p:txBody>
      </p:sp>
      <p:sp>
        <p:nvSpPr>
          <p:cNvPr id="34" name="Shape 32"/>
          <p:cNvSpPr/>
          <p:nvPr/>
        </p:nvSpPr>
        <p:spPr>
          <a:xfrm>
            <a:off x="6263640" y="5468112"/>
            <a:ext cx="5349240" cy="868680"/>
          </a:xfrm>
          <a:prstGeom prst="roundRect">
            <a:avLst>
              <a:gd name="adj" fmla="val 9474"/>
            </a:avLst>
          </a:prstGeom>
          <a:solidFill>
            <a:srgbClr val="E6E2F6"/>
          </a:solidFill>
          <a:ln w="12700">
            <a:solidFill>
              <a:srgbClr val="7A6BD6"/>
            </a:solidFill>
            <a:prstDash val="solid"/>
          </a:ln>
        </p:spPr>
      </p:sp>
      <p:sp>
        <p:nvSpPr>
          <p:cNvPr id="35" name="Text 33"/>
          <p:cNvSpPr/>
          <p:nvPr/>
        </p:nvSpPr>
        <p:spPr>
          <a:xfrm>
            <a:off x="6492240" y="5532120"/>
            <a:ext cx="4892040" cy="731520"/>
          </a:xfrm>
          <a:prstGeom prst="rect">
            <a:avLst/>
          </a:prstGeom>
          <a:noFill/>
          <a:ln/>
        </p:spPr>
        <p:txBody>
          <a:bodyPr wrap="square" lIns="0" tIns="0" rIns="0" bIns="0" rtlCol="0" anchor="ctr"/>
          <a:lstStyle/>
          <a:p>
            <a:pPr indent="0" marL="0">
              <a:buNone/>
            </a:pPr>
            <a:r>
              <a:rPr lang="en-US" sz="1150" b="1" dirty="0">
                <a:solidFill>
                  <a:srgbClr val="4C3B9E"/>
                </a:solidFill>
                <a:latin typeface="Calibri" pitchFamily="34" charset="0"/>
                <a:ea typeface="Calibri" pitchFamily="34" charset="-122"/>
                <a:cs typeface="Calibri" pitchFamily="34" charset="-120"/>
              </a:rPr>
              <a:t>QoE - user level:  </a:t>
            </a:r>
            <a:pPr indent="0" marL="0">
              <a:buNone/>
            </a:pPr>
            <a:r>
              <a:rPr lang="en-US" sz="1150" dirty="0">
                <a:solidFill>
                  <a:srgbClr val="2A2740"/>
                </a:solidFill>
                <a:latin typeface="Calibri" pitchFamily="34" charset="0"/>
                <a:ea typeface="Calibri" pitchFamily="34" charset="-122"/>
                <a:cs typeface="Calibri" pitchFamily="34" charset="-120"/>
              </a:rPr>
              <a:t>startup delay, stall count and duration, bitrate switches, perceived quality (MOS, SSIM, VMAF).</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64240" cy="658368"/>
          </a:xfrm>
          <a:prstGeom prst="rect">
            <a:avLst/>
          </a:prstGeom>
          <a:noFill/>
          <a:ln/>
        </p:spPr>
        <p:txBody>
          <a:bodyPr wrap="square" lIns="0" tIns="0" rIns="0" bIns="0" rtlCol="0" anchor="ctr"/>
          <a:lstStyle/>
          <a:p>
            <a:pPr indent="0" marL="0">
              <a:buNone/>
            </a:pPr>
            <a:r>
              <a:rPr lang="en-US" sz="3000" b="1" dirty="0">
                <a:solidFill>
                  <a:srgbClr val="1A1633"/>
                </a:solidFill>
                <a:latin typeface="Cambria" pitchFamily="34" charset="0"/>
                <a:ea typeface="Cambria" pitchFamily="34" charset="-122"/>
                <a:cs typeface="Cambria" pitchFamily="34" charset="-120"/>
              </a:rPr>
              <a:t>Literature Review I - Foundations of SDN-Based Video QoS</a:t>
            </a:r>
            <a:endParaRPr lang="en-US" sz="3000" dirty="0"/>
          </a:p>
        </p:txBody>
      </p:sp>
      <p:sp>
        <p:nvSpPr>
          <p:cNvPr id="3" name="Text 1"/>
          <p:cNvSpPr/>
          <p:nvPr/>
        </p:nvSpPr>
        <p:spPr>
          <a:xfrm>
            <a:off x="566928" y="896112"/>
            <a:ext cx="11064240" cy="274320"/>
          </a:xfrm>
          <a:prstGeom prst="rect">
            <a:avLst/>
          </a:prstGeom>
          <a:noFill/>
          <a:ln/>
        </p:spPr>
        <p:txBody>
          <a:bodyPr wrap="square" lIns="0" tIns="0" rIns="0" bIns="0" rtlCol="0" anchor="ctr"/>
          <a:lstStyle/>
          <a:p>
            <a:pPr indent="0" marL="0">
              <a:buNone/>
            </a:pPr>
            <a:r>
              <a:rPr lang="en-US" sz="1150" b="1" spc="160" kern="0" dirty="0">
                <a:solidFill>
                  <a:srgbClr val="4C3B9E"/>
                </a:solidFill>
                <a:latin typeface="Calibri" pitchFamily="34" charset="0"/>
                <a:ea typeface="Calibri" pitchFamily="34" charset="-122"/>
                <a:cs typeface="Calibri" pitchFamily="34" charset="-120"/>
              </a:rPr>
              <a:t>CONTROLLER-DRIVEN QoS ROUTING AND NETWORK-ASSISTED STREAMING</a:t>
            </a:r>
            <a:endParaRPr lang="en-US" sz="1150" dirty="0"/>
          </a:p>
        </p:txBody>
      </p:sp>
      <p:sp>
        <p:nvSpPr>
          <p:cNvPr id="4" name="Shape 2"/>
          <p:cNvSpPr/>
          <p:nvPr/>
        </p:nvSpPr>
        <p:spPr>
          <a:xfrm>
            <a:off x="548640" y="1280160"/>
            <a:ext cx="3520440" cy="3794760"/>
          </a:xfrm>
          <a:prstGeom prst="roundRect">
            <a:avLst>
              <a:gd name="adj" fmla="val 2597"/>
            </a:avLst>
          </a:prstGeom>
          <a:solidFill>
            <a:srgbClr val="FFFFFF"/>
          </a:solidFill>
          <a:ln w="15875">
            <a:solidFill>
              <a:srgbClr val="4C3B9E"/>
            </a:solidFill>
            <a:prstDash val="solid"/>
          </a:ln>
          <a:effectLst>
            <a:outerShdw sx="100000" sy="100000" kx="0" ky="0" algn="bl" rotWithShape="0" blurRad="88900" dist="25400" dir="5400000">
              <a:srgbClr val="1A1633">
                <a:alpha val="10000"/>
              </a:srgbClr>
            </a:outerShdw>
          </a:effectLst>
        </p:spPr>
      </p:sp>
      <p:sp>
        <p:nvSpPr>
          <p:cNvPr id="5" name="Shape 3"/>
          <p:cNvSpPr/>
          <p:nvPr/>
        </p:nvSpPr>
        <p:spPr>
          <a:xfrm>
            <a:off x="749808" y="1444752"/>
            <a:ext cx="384048" cy="384048"/>
          </a:xfrm>
          <a:prstGeom prst="ellipse">
            <a:avLst/>
          </a:prstGeom>
          <a:solidFill>
            <a:srgbClr val="4C3B9E"/>
          </a:solidFill>
          <a:ln w="12700">
            <a:solidFill>
              <a:srgbClr val="4C3B9E"/>
            </a:solidFill>
            <a:prstDash val="solid"/>
          </a:ln>
        </p:spPr>
      </p:sp>
      <p:sp>
        <p:nvSpPr>
          <p:cNvPr id="6" name="Text 4"/>
          <p:cNvSpPr/>
          <p:nvPr/>
        </p:nvSpPr>
        <p:spPr>
          <a:xfrm>
            <a:off x="749808" y="144475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207008" y="1371600"/>
            <a:ext cx="2651760" cy="566928"/>
          </a:xfrm>
          <a:prstGeom prst="rect">
            <a:avLst/>
          </a:prstGeom>
          <a:noFill/>
          <a:ln/>
        </p:spPr>
        <p:txBody>
          <a:bodyPr wrap="square" lIns="0" tIns="0" rIns="0" bIns="0" rtlCol="0" anchor="ctr"/>
          <a:lstStyle/>
          <a:p>
            <a:pPr indent="0" marL="0">
              <a:lnSpc>
                <a:spcPct val="95000"/>
              </a:lnSpc>
              <a:buNone/>
            </a:pPr>
            <a:r>
              <a:rPr lang="en-US" sz="1150" b="1" dirty="0">
                <a:solidFill>
                  <a:srgbClr val="2A2740"/>
                </a:solidFill>
                <a:latin typeface="Cambria" pitchFamily="34" charset="0"/>
                <a:ea typeface="Cambria" pitchFamily="34" charset="-122"/>
                <a:cs typeface="Cambria" pitchFamily="34" charset="-120"/>
              </a:rPr>
              <a:t>OpenQoS: An OpenFlow controller design for multimedia delivery with end-to-end QoS</a:t>
            </a:r>
            <a:endParaRPr lang="en-US" sz="1150" dirty="0"/>
          </a:p>
        </p:txBody>
      </p:sp>
      <p:sp>
        <p:nvSpPr>
          <p:cNvPr id="8" name="Text 6"/>
          <p:cNvSpPr/>
          <p:nvPr/>
        </p:nvSpPr>
        <p:spPr>
          <a:xfrm>
            <a:off x="749808" y="1975104"/>
            <a:ext cx="3118104" cy="310896"/>
          </a:xfrm>
          <a:prstGeom prst="rect">
            <a:avLst/>
          </a:prstGeom>
          <a:noFill/>
          <a:ln/>
        </p:spPr>
        <p:txBody>
          <a:bodyPr wrap="square" lIns="0" tIns="0" rIns="0" bIns="0" rtlCol="0" anchor="ctr"/>
          <a:lstStyle/>
          <a:p>
            <a:pPr indent="0" marL="0">
              <a:buNone/>
            </a:pPr>
            <a:r>
              <a:rPr lang="en-US" sz="1000" i="1" dirty="0">
                <a:solidFill>
                  <a:srgbClr val="6C6885"/>
                </a:solidFill>
                <a:latin typeface="Calibri" pitchFamily="34" charset="0"/>
                <a:ea typeface="Calibri" pitchFamily="34" charset="-122"/>
                <a:cs typeface="Calibri" pitchFamily="34" charset="-120"/>
              </a:rPr>
              <a:t>Egilmez, Dane, Bagci &amp; Tekalp — APSIPA ASC, 2012</a:t>
            </a:r>
            <a:endParaRPr lang="en-US" sz="1000" dirty="0"/>
          </a:p>
        </p:txBody>
      </p:sp>
      <p:sp>
        <p:nvSpPr>
          <p:cNvPr id="9" name="Text 7"/>
          <p:cNvSpPr/>
          <p:nvPr/>
        </p:nvSpPr>
        <p:spPr>
          <a:xfrm>
            <a:off x="749808" y="2304288"/>
            <a:ext cx="3118104" cy="2651760"/>
          </a:xfrm>
          <a:prstGeom prst="rect">
            <a:avLst/>
          </a:prstGeom>
          <a:noFill/>
          <a:ln/>
        </p:spPr>
        <p:txBody>
          <a:bodyPr wrap="square" lIns="0" tIns="0" rIns="0" bIns="0" rtlCol="0" anchor="t"/>
          <a:lstStyle/>
          <a:p>
            <a:pPr indent="0" marL="0">
              <a:lnSpc>
                <a:spcPct val="100000"/>
              </a:lnSpc>
              <a:spcAft>
                <a:spcPts val="800"/>
              </a:spcAft>
              <a:buNone/>
            </a:pPr>
            <a:r>
              <a:rPr lang="en-US" sz="1130" dirty="0">
                <a:solidFill>
                  <a:srgbClr val="2A2740"/>
                </a:solidFill>
                <a:latin typeface="Calibri" pitchFamily="34" charset="0"/>
                <a:ea typeface="Calibri" pitchFamily="34" charset="-122"/>
                <a:cs typeface="Calibri" pitchFamily="34" charset="-120"/>
              </a:rPr>
              <a:t>Problem: Best-effort routing gives no quality guarantee to multimedia flows.</a:t>
            </a:r>
            <a:endParaRPr lang="en-US" sz="1130" dirty="0"/>
          </a:p>
          <a:p>
            <a:pPr indent="0" marL="0">
              <a:lnSpc>
                <a:spcPct val="100000"/>
              </a:lnSpc>
              <a:spcAft>
                <a:spcPts val="800"/>
              </a:spcAft>
              <a:buNone/>
            </a:pPr>
            <a:r>
              <a:rPr lang="en-US" sz="1130" dirty="0">
                <a:solidFill>
                  <a:srgbClr val="2A2740"/>
                </a:solidFill>
                <a:latin typeface="Calibri" pitchFamily="34" charset="0"/>
                <a:ea typeface="Calibri" pitchFamily="34" charset="-122"/>
                <a:cs typeface="Calibri" pitchFamily="34" charset="-120"/>
              </a:rPr>
              <a:t>Approach: An OpenFlow controller places video on dynamically optimised QoS routes (loss-based metric, LARAC), while other traffic keeps the shortest path; links are polled so congested paths are recomputed.</a:t>
            </a:r>
            <a:endParaRPr lang="en-US" sz="1130" dirty="0"/>
          </a:p>
          <a:p>
            <a:pPr indent="0" marL="0">
              <a:lnSpc>
                <a:spcPct val="100000"/>
              </a:lnSpc>
              <a:spcAft>
                <a:spcPts val="800"/>
              </a:spcAft>
              <a:buNone/>
            </a:pPr>
            <a:r>
              <a:rPr lang="en-US" sz="1130" dirty="0">
                <a:solidFill>
                  <a:srgbClr val="2A2740"/>
                </a:solidFill>
                <a:latin typeface="Calibri" pitchFamily="34" charset="0"/>
                <a:ea typeface="Calibri" pitchFamily="34" charset="-122"/>
                <a:cs typeface="Calibri" pitchFamily="34" charset="-120"/>
              </a:rPr>
              <a:t>Findings: Seamless delivery with little or no visible artifact, and no adverse effect on the other traffic classes.</a:t>
            </a:r>
            <a:endParaRPr lang="en-US" sz="1130" dirty="0"/>
          </a:p>
          <a:p>
            <a:pPr indent="0" marL="0">
              <a:lnSpc>
                <a:spcPct val="100000"/>
              </a:lnSpc>
              <a:spcAft>
                <a:spcPts val="800"/>
              </a:spcAft>
              <a:buNone/>
            </a:pPr>
            <a:r>
              <a:rPr lang="en-US" sz="1130" dirty="0">
                <a:solidFill>
                  <a:srgbClr val="2A2740"/>
                </a:solidFill>
                <a:latin typeface="Calibri" pitchFamily="34" charset="0"/>
                <a:ea typeface="Calibri" pitchFamily="34" charset="-122"/>
                <a:cs typeface="Calibri" pitchFamily="34" charset="-120"/>
              </a:rPr>
              <a:t>Relevance: The foundational proof that controller-driven QoS routing works for video.</a:t>
            </a:r>
            <a:endParaRPr lang="en-US" sz="1130" dirty="0"/>
          </a:p>
        </p:txBody>
      </p:sp>
      <p:sp>
        <p:nvSpPr>
          <p:cNvPr id="10" name="Shape 8"/>
          <p:cNvSpPr/>
          <p:nvPr/>
        </p:nvSpPr>
        <p:spPr>
          <a:xfrm>
            <a:off x="4325112" y="1280160"/>
            <a:ext cx="3520440" cy="3794760"/>
          </a:xfrm>
          <a:prstGeom prst="roundRect">
            <a:avLst>
              <a:gd name="adj" fmla="val 2597"/>
            </a:avLst>
          </a:prstGeom>
          <a:solidFill>
            <a:srgbClr val="F2F0FA"/>
          </a:solidFill>
          <a:ln w="15875">
            <a:solidFill>
              <a:srgbClr val="4C3B9E"/>
            </a:solidFill>
            <a:prstDash val="solid"/>
          </a:ln>
          <a:effectLst>
            <a:outerShdw sx="100000" sy="100000" kx="0" ky="0" algn="bl" rotWithShape="0" blurRad="88900" dist="25400" dir="5400000">
              <a:srgbClr val="1A1633">
                <a:alpha val="10000"/>
              </a:srgbClr>
            </a:outerShdw>
          </a:effectLst>
        </p:spPr>
      </p:sp>
      <p:sp>
        <p:nvSpPr>
          <p:cNvPr id="11" name="Shape 9"/>
          <p:cNvSpPr/>
          <p:nvPr/>
        </p:nvSpPr>
        <p:spPr>
          <a:xfrm>
            <a:off x="4526280" y="1444752"/>
            <a:ext cx="384048" cy="384048"/>
          </a:xfrm>
          <a:prstGeom prst="ellipse">
            <a:avLst/>
          </a:prstGeom>
          <a:solidFill>
            <a:srgbClr val="4C3B9E"/>
          </a:solidFill>
          <a:ln w="12700">
            <a:solidFill>
              <a:srgbClr val="4C3B9E"/>
            </a:solidFill>
            <a:prstDash val="solid"/>
          </a:ln>
        </p:spPr>
      </p:sp>
      <p:sp>
        <p:nvSpPr>
          <p:cNvPr id="12" name="Text 10"/>
          <p:cNvSpPr/>
          <p:nvPr/>
        </p:nvSpPr>
        <p:spPr>
          <a:xfrm>
            <a:off x="4526280" y="144475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p:nvPr/>
        </p:nvSpPr>
        <p:spPr>
          <a:xfrm>
            <a:off x="4983480" y="1371600"/>
            <a:ext cx="2651760" cy="566928"/>
          </a:xfrm>
          <a:prstGeom prst="rect">
            <a:avLst/>
          </a:prstGeom>
          <a:noFill/>
          <a:ln/>
        </p:spPr>
        <p:txBody>
          <a:bodyPr wrap="square" lIns="0" tIns="0" rIns="0" bIns="0" rtlCol="0" anchor="ctr"/>
          <a:lstStyle/>
          <a:p>
            <a:pPr indent="0" marL="0">
              <a:lnSpc>
                <a:spcPct val="95000"/>
              </a:lnSpc>
              <a:buNone/>
            </a:pPr>
            <a:r>
              <a:rPr lang="en-US" sz="1150" b="1" dirty="0">
                <a:solidFill>
                  <a:srgbClr val="2A2740"/>
                </a:solidFill>
                <a:latin typeface="Cambria" pitchFamily="34" charset="0"/>
                <a:ea typeface="Cambria" pitchFamily="34" charset="-122"/>
                <a:cs typeface="Cambria" pitchFamily="34" charset="-120"/>
              </a:rPr>
              <a:t>Delivering stable high-quality video: an SDN architecture with DASH assisting network elements</a:t>
            </a:r>
            <a:endParaRPr lang="en-US" sz="1150" dirty="0"/>
          </a:p>
        </p:txBody>
      </p:sp>
      <p:sp>
        <p:nvSpPr>
          <p:cNvPr id="14" name="Text 12"/>
          <p:cNvSpPr/>
          <p:nvPr/>
        </p:nvSpPr>
        <p:spPr>
          <a:xfrm>
            <a:off x="4526280" y="1975104"/>
            <a:ext cx="3118104" cy="310896"/>
          </a:xfrm>
          <a:prstGeom prst="rect">
            <a:avLst/>
          </a:prstGeom>
          <a:noFill/>
          <a:ln/>
        </p:spPr>
        <p:txBody>
          <a:bodyPr wrap="square" lIns="0" tIns="0" rIns="0" bIns="0" rtlCol="0" anchor="ctr"/>
          <a:lstStyle/>
          <a:p>
            <a:pPr indent="0" marL="0">
              <a:buNone/>
            </a:pPr>
            <a:r>
              <a:rPr lang="en-US" sz="1000" i="1" dirty="0">
                <a:solidFill>
                  <a:srgbClr val="6C6885"/>
                </a:solidFill>
                <a:latin typeface="Calibri" pitchFamily="34" charset="0"/>
                <a:ea typeface="Calibri" pitchFamily="34" charset="-122"/>
                <a:cs typeface="Calibri" pitchFamily="34" charset="-120"/>
              </a:rPr>
              <a:t>Kleinrouweler, Cabrero &amp; Cesar — ACM MMSys, 2016</a:t>
            </a:r>
            <a:endParaRPr lang="en-US" sz="1000" dirty="0"/>
          </a:p>
        </p:txBody>
      </p:sp>
      <p:sp>
        <p:nvSpPr>
          <p:cNvPr id="15" name="Text 13"/>
          <p:cNvSpPr/>
          <p:nvPr/>
        </p:nvSpPr>
        <p:spPr>
          <a:xfrm>
            <a:off x="4526280" y="2304288"/>
            <a:ext cx="3118104" cy="2651760"/>
          </a:xfrm>
          <a:prstGeom prst="rect">
            <a:avLst/>
          </a:prstGeom>
          <a:noFill/>
          <a:ln/>
        </p:spPr>
        <p:txBody>
          <a:bodyPr wrap="square" lIns="0" tIns="0" rIns="0" bIns="0" rtlCol="0" anchor="t"/>
          <a:lstStyle/>
          <a:p>
            <a:pPr indent="0" marL="0">
              <a:lnSpc>
                <a:spcPct val="100000"/>
              </a:lnSpc>
              <a:spcAft>
                <a:spcPts val="800"/>
              </a:spcAft>
              <a:buNone/>
            </a:pPr>
            <a:r>
              <a:rPr lang="en-US" sz="1130" dirty="0">
                <a:solidFill>
                  <a:srgbClr val="2A2740"/>
                </a:solidFill>
                <a:latin typeface="Calibri" pitchFamily="34" charset="0"/>
                <a:ea typeface="Calibri" pitchFamily="34" charset="-122"/>
                <a:cs typeface="Calibri" pitchFamily="34" charset="-120"/>
              </a:rPr>
              <a:t>Problem: Competing DASH clients on a shared bottleneck produce unstable quality and freezes.</a:t>
            </a:r>
            <a:endParaRPr lang="en-US" sz="1130" dirty="0"/>
          </a:p>
          <a:p>
            <a:pPr indent="0" marL="0">
              <a:lnSpc>
                <a:spcPct val="100000"/>
              </a:lnSpc>
              <a:spcAft>
                <a:spcPts val="800"/>
              </a:spcAft>
              <a:buNone/>
            </a:pPr>
            <a:r>
              <a:rPr lang="en-US" sz="1130" dirty="0">
                <a:solidFill>
                  <a:srgbClr val="2A2740"/>
                </a:solidFill>
                <a:latin typeface="Calibri" pitchFamily="34" charset="0"/>
                <a:ea typeface="Calibri" pitchFamily="34" charset="-122"/>
                <a:cs typeface="Calibri" pitchFamily="34" charset="-120"/>
              </a:rPr>
              <a:t>Approach: SDN-based assisting network elements signal a target bitrate to each player and shape the bandwidth given to it.</a:t>
            </a:r>
            <a:endParaRPr lang="en-US" sz="1130" dirty="0"/>
          </a:p>
          <a:p>
            <a:pPr indent="0" marL="0">
              <a:lnSpc>
                <a:spcPct val="100000"/>
              </a:lnSpc>
              <a:spcAft>
                <a:spcPts val="800"/>
              </a:spcAft>
              <a:buNone/>
            </a:pPr>
            <a:r>
              <a:rPr lang="en-US" sz="1130" dirty="0">
                <a:solidFill>
                  <a:srgbClr val="2A2740"/>
                </a:solidFill>
                <a:latin typeface="Calibri" pitchFamily="34" charset="0"/>
                <a:ea typeface="Calibri" pitchFamily="34" charset="-122"/>
                <a:cs typeface="Calibri" pitchFamily="34" charset="-120"/>
              </a:rPr>
              <a:t>Findings: Markedly more stable, higher and fairer quality across clients; scaled in later work to hundreds of concurrent players.</a:t>
            </a:r>
            <a:endParaRPr lang="en-US" sz="1130" dirty="0"/>
          </a:p>
          <a:p>
            <a:pPr indent="0" marL="0">
              <a:lnSpc>
                <a:spcPct val="100000"/>
              </a:lnSpc>
              <a:spcAft>
                <a:spcPts val="800"/>
              </a:spcAft>
              <a:buNone/>
            </a:pPr>
            <a:r>
              <a:rPr lang="en-US" sz="1130" dirty="0">
                <a:solidFill>
                  <a:srgbClr val="2A2740"/>
                </a:solidFill>
                <a:latin typeface="Calibri" pitchFamily="34" charset="0"/>
                <a:ea typeface="Calibri" pitchFamily="34" charset="-122"/>
                <a:cs typeface="Calibri" pitchFamily="34" charset="-120"/>
              </a:rPr>
              <a:t>Relevance: Shows the network can guide the player instead of competing with it.</a:t>
            </a:r>
            <a:endParaRPr lang="en-US" sz="1130" dirty="0"/>
          </a:p>
        </p:txBody>
      </p:sp>
      <p:sp>
        <p:nvSpPr>
          <p:cNvPr id="16" name="Shape 14"/>
          <p:cNvSpPr/>
          <p:nvPr/>
        </p:nvSpPr>
        <p:spPr>
          <a:xfrm>
            <a:off x="8101584" y="1280160"/>
            <a:ext cx="3520440" cy="3794760"/>
          </a:xfrm>
          <a:prstGeom prst="roundRect">
            <a:avLst>
              <a:gd name="adj" fmla="val 2597"/>
            </a:avLst>
          </a:prstGeom>
          <a:solidFill>
            <a:srgbClr val="FFFFFF"/>
          </a:solidFill>
          <a:ln w="15875">
            <a:solidFill>
              <a:srgbClr val="4C3B9E"/>
            </a:solidFill>
            <a:prstDash val="solid"/>
          </a:ln>
          <a:effectLst>
            <a:outerShdw sx="100000" sy="100000" kx="0" ky="0" algn="bl" rotWithShape="0" blurRad="88900" dist="25400" dir="5400000">
              <a:srgbClr val="1A1633">
                <a:alpha val="10000"/>
              </a:srgbClr>
            </a:outerShdw>
          </a:effectLst>
        </p:spPr>
      </p:sp>
      <p:sp>
        <p:nvSpPr>
          <p:cNvPr id="17" name="Shape 15"/>
          <p:cNvSpPr/>
          <p:nvPr/>
        </p:nvSpPr>
        <p:spPr>
          <a:xfrm>
            <a:off x="8302752" y="1444752"/>
            <a:ext cx="384048" cy="384048"/>
          </a:xfrm>
          <a:prstGeom prst="ellipse">
            <a:avLst/>
          </a:prstGeom>
          <a:solidFill>
            <a:srgbClr val="4C3B9E"/>
          </a:solidFill>
          <a:ln w="12700">
            <a:solidFill>
              <a:srgbClr val="4C3B9E"/>
            </a:solidFill>
            <a:prstDash val="solid"/>
          </a:ln>
        </p:spPr>
      </p:sp>
      <p:sp>
        <p:nvSpPr>
          <p:cNvPr id="18" name="Text 16"/>
          <p:cNvSpPr/>
          <p:nvPr/>
        </p:nvSpPr>
        <p:spPr>
          <a:xfrm>
            <a:off x="8302752" y="144475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p:nvPr/>
        </p:nvSpPr>
        <p:spPr>
          <a:xfrm>
            <a:off x="8759952" y="1371600"/>
            <a:ext cx="2651760" cy="566928"/>
          </a:xfrm>
          <a:prstGeom prst="rect">
            <a:avLst/>
          </a:prstGeom>
          <a:noFill/>
          <a:ln/>
        </p:spPr>
        <p:txBody>
          <a:bodyPr wrap="square" lIns="0" tIns="0" rIns="0" bIns="0" rtlCol="0" anchor="ctr"/>
          <a:lstStyle/>
          <a:p>
            <a:pPr indent="0" marL="0">
              <a:lnSpc>
                <a:spcPct val="95000"/>
              </a:lnSpc>
              <a:buNone/>
            </a:pPr>
            <a:r>
              <a:rPr lang="en-US" sz="1150" b="1" dirty="0">
                <a:solidFill>
                  <a:srgbClr val="2A2740"/>
                </a:solidFill>
                <a:latin typeface="Cambria" pitchFamily="34" charset="0"/>
                <a:ea typeface="Cambria" pitchFamily="34" charset="-122"/>
                <a:cs typeface="Cambria" pitchFamily="34" charset="-120"/>
              </a:rPr>
              <a:t>SDNDASH: Improving QoE of HTTP adaptive streaming using software defined networking</a:t>
            </a:r>
            <a:endParaRPr lang="en-US" sz="1150" dirty="0"/>
          </a:p>
        </p:txBody>
      </p:sp>
      <p:sp>
        <p:nvSpPr>
          <p:cNvPr id="20" name="Text 18"/>
          <p:cNvSpPr/>
          <p:nvPr/>
        </p:nvSpPr>
        <p:spPr>
          <a:xfrm>
            <a:off x="8302752" y="1975104"/>
            <a:ext cx="3118104" cy="310896"/>
          </a:xfrm>
          <a:prstGeom prst="rect">
            <a:avLst/>
          </a:prstGeom>
          <a:noFill/>
          <a:ln/>
        </p:spPr>
        <p:txBody>
          <a:bodyPr wrap="square" lIns="0" tIns="0" rIns="0" bIns="0" rtlCol="0" anchor="ctr"/>
          <a:lstStyle/>
          <a:p>
            <a:pPr indent="0" marL="0">
              <a:buNone/>
            </a:pPr>
            <a:r>
              <a:rPr lang="en-US" sz="1000" i="1" dirty="0">
                <a:solidFill>
                  <a:srgbClr val="6C6885"/>
                </a:solidFill>
                <a:latin typeface="Calibri" pitchFamily="34" charset="0"/>
                <a:ea typeface="Calibri" pitchFamily="34" charset="-122"/>
                <a:cs typeface="Calibri" pitchFamily="34" charset="-120"/>
              </a:rPr>
              <a:t>Bentaleb, Begen &amp; Zimmermann — ACM Multimedia, 2016</a:t>
            </a:r>
            <a:endParaRPr lang="en-US" sz="1000" dirty="0"/>
          </a:p>
        </p:txBody>
      </p:sp>
      <p:sp>
        <p:nvSpPr>
          <p:cNvPr id="21" name="Text 19"/>
          <p:cNvSpPr/>
          <p:nvPr/>
        </p:nvSpPr>
        <p:spPr>
          <a:xfrm>
            <a:off x="8302752" y="2304288"/>
            <a:ext cx="3118104" cy="2651760"/>
          </a:xfrm>
          <a:prstGeom prst="rect">
            <a:avLst/>
          </a:prstGeom>
          <a:noFill/>
          <a:ln/>
        </p:spPr>
        <p:txBody>
          <a:bodyPr wrap="square" lIns="0" tIns="0" rIns="0" bIns="0" rtlCol="0" anchor="t"/>
          <a:lstStyle/>
          <a:p>
            <a:pPr indent="0" marL="0">
              <a:lnSpc>
                <a:spcPct val="100000"/>
              </a:lnSpc>
              <a:spcAft>
                <a:spcPts val="800"/>
              </a:spcAft>
              <a:buNone/>
            </a:pPr>
            <a:r>
              <a:rPr lang="en-US" sz="1130" dirty="0">
                <a:solidFill>
                  <a:srgbClr val="2A2740"/>
                </a:solidFill>
                <a:latin typeface="Calibri" pitchFamily="34" charset="0"/>
                <a:ea typeface="Calibri" pitchFamily="34" charset="-122"/>
                <a:cs typeface="Calibri" pitchFamily="34" charset="-120"/>
              </a:rPr>
              <a:t>Problem: Client-driven HAS causes unfair bandwidth competition, quality oscillation and under-utilisation.</a:t>
            </a:r>
            <a:endParaRPr lang="en-US" sz="1130" dirty="0"/>
          </a:p>
          <a:p>
            <a:pPr indent="0" marL="0">
              <a:lnSpc>
                <a:spcPct val="100000"/>
              </a:lnSpc>
              <a:spcAft>
                <a:spcPts val="800"/>
              </a:spcAft>
              <a:buNone/>
            </a:pPr>
            <a:r>
              <a:rPr lang="en-US" sz="1130" dirty="0">
                <a:solidFill>
                  <a:srgbClr val="2A2740"/>
                </a:solidFill>
                <a:latin typeface="Calibri" pitchFamily="34" charset="0"/>
                <a:ea typeface="Calibri" pitchFamily="34" charset="-122"/>
                <a:cs typeface="Calibri" pitchFamily="34" charset="-120"/>
              </a:rPr>
              <a:t>Approach: An SDN architecture for dynamic, per-client resource allocation and QoE management at the controller.</a:t>
            </a:r>
            <a:endParaRPr lang="en-US" sz="1130" dirty="0"/>
          </a:p>
          <a:p>
            <a:pPr indent="0" marL="0">
              <a:lnSpc>
                <a:spcPct val="100000"/>
              </a:lnSpc>
              <a:spcAft>
                <a:spcPts val="800"/>
              </a:spcAft>
              <a:buNone/>
            </a:pPr>
            <a:r>
              <a:rPr lang="en-US" sz="1130" dirty="0">
                <a:solidFill>
                  <a:srgbClr val="2A2740"/>
                </a:solidFill>
                <a:latin typeface="Calibri" pitchFamily="34" charset="0"/>
                <a:ea typeface="Calibri" pitchFamily="34" charset="-122"/>
                <a:cs typeface="Calibri" pitchFamily="34" charset="-120"/>
              </a:rPr>
              <a:t>Findings: Per-client QoE improved by at least 30%, and up to 80% more clients supported at the same QoE.</a:t>
            </a:r>
            <a:endParaRPr lang="en-US" sz="1130" dirty="0"/>
          </a:p>
          <a:p>
            <a:pPr indent="0" marL="0">
              <a:lnSpc>
                <a:spcPct val="100000"/>
              </a:lnSpc>
              <a:spcAft>
                <a:spcPts val="800"/>
              </a:spcAft>
              <a:buNone/>
            </a:pPr>
            <a:r>
              <a:rPr lang="en-US" sz="1130" dirty="0">
                <a:solidFill>
                  <a:srgbClr val="2A2740"/>
                </a:solidFill>
                <a:latin typeface="Calibri" pitchFamily="34" charset="0"/>
                <a:ea typeface="Calibri" pitchFamily="34" charset="-122"/>
                <a:cs typeface="Calibri" pitchFamily="34" charset="-120"/>
              </a:rPr>
              <a:t>Relevance: Quantifies the QoE gain achievable from SDN-side control.</a:t>
            </a:r>
            <a:endParaRPr lang="en-US" sz="1130" dirty="0"/>
          </a:p>
        </p:txBody>
      </p:sp>
      <p:sp>
        <p:nvSpPr>
          <p:cNvPr id="22" name="Text 20"/>
          <p:cNvSpPr/>
          <p:nvPr/>
        </p:nvSpPr>
        <p:spPr>
          <a:xfrm>
            <a:off x="548640" y="5321808"/>
            <a:ext cx="11064240" cy="548640"/>
          </a:xfrm>
          <a:prstGeom prst="rect">
            <a:avLst/>
          </a:prstGeom>
          <a:noFill/>
          <a:ln/>
        </p:spPr>
        <p:txBody>
          <a:bodyPr wrap="square" lIns="0" tIns="0" rIns="0" bIns="0" rtlCol="0" anchor="t"/>
          <a:lstStyle/>
          <a:p>
            <a:pPr indent="0" marL="0">
              <a:lnSpc>
                <a:spcPct val="115000"/>
              </a:lnSpc>
              <a:buNone/>
            </a:pPr>
            <a:r>
              <a:rPr lang="en-US" sz="900" b="1" dirty="0">
                <a:solidFill>
                  <a:srgbClr val="4C3B9E"/>
                </a:solidFill>
                <a:latin typeface="Calibri" pitchFamily="34" charset="0"/>
                <a:ea typeface="Calibri" pitchFamily="34" charset="-122"/>
                <a:cs typeface="Calibri" pitchFamily="34" charset="-120"/>
              </a:rPr>
              <a:t>References  </a:t>
            </a:r>
            <a:pPr indent="0" marL="0">
              <a:lnSpc>
                <a:spcPct val="115000"/>
              </a:lnSpc>
              <a:buNone/>
            </a:pPr>
            <a:r>
              <a:rPr lang="en-US" sz="900" dirty="0">
                <a:solidFill>
                  <a:srgbClr val="6C6885"/>
                </a:solidFill>
                <a:latin typeface="Calibri" pitchFamily="34" charset="0"/>
                <a:ea typeface="Calibri" pitchFamily="34" charset="-122"/>
                <a:cs typeface="Calibri" pitchFamily="34" charset="-120"/>
              </a:rPr>
              <a:t>[1] H. E. Egilmez, S. T. Dane, K. T. Bagci, A. M. Tekalp, APSIPA ASC 2012.   </a:t>
            </a:r>
            <a:pPr indent="0" marL="0">
              <a:lnSpc>
                <a:spcPct val="115000"/>
              </a:lnSpc>
              <a:buNone/>
            </a:pPr>
            <a:r>
              <a:rPr lang="en-US" sz="900" dirty="0">
                <a:solidFill>
                  <a:srgbClr val="6C6885"/>
                </a:solidFill>
                <a:latin typeface="Calibri" pitchFamily="34" charset="0"/>
                <a:ea typeface="Calibri" pitchFamily="34" charset="-122"/>
                <a:cs typeface="Calibri" pitchFamily="34" charset="-120"/>
              </a:rPr>
              <a:t>[2] J. W. Kleinrouweler, S. Cabrero, P. Cesar, ACM MMSys 2016, pp. 4:1-4:10, doi:10.1145/2910017.2910599.   </a:t>
            </a:r>
            <a:pPr indent="0" marL="0">
              <a:lnSpc>
                <a:spcPct val="115000"/>
              </a:lnSpc>
              <a:buNone/>
            </a:pPr>
            <a:r>
              <a:rPr lang="en-US" sz="900" dirty="0">
                <a:solidFill>
                  <a:srgbClr val="6C6885"/>
                </a:solidFill>
                <a:latin typeface="Calibri" pitchFamily="34" charset="0"/>
                <a:ea typeface="Calibri" pitchFamily="34" charset="-122"/>
                <a:cs typeface="Calibri" pitchFamily="34" charset="-120"/>
              </a:rPr>
              <a:t>[3] A. Bentaleb, A. C. Begen, R. Zimmermann, ACM MM 2016, pp. 1296-1305, doi:10.1145/2964284.2964332.</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64240" cy="658368"/>
          </a:xfrm>
          <a:prstGeom prst="rect">
            <a:avLst/>
          </a:prstGeom>
          <a:noFill/>
          <a:ln/>
        </p:spPr>
        <p:txBody>
          <a:bodyPr wrap="square" lIns="0" tIns="0" rIns="0" bIns="0" rtlCol="0" anchor="ctr"/>
          <a:lstStyle/>
          <a:p>
            <a:pPr indent="0" marL="0">
              <a:buNone/>
            </a:pPr>
            <a:r>
              <a:rPr lang="en-US" sz="3000" b="1" dirty="0">
                <a:solidFill>
                  <a:srgbClr val="1A1633"/>
                </a:solidFill>
                <a:latin typeface="Cambria" pitchFamily="34" charset="0"/>
                <a:ea typeface="Cambria" pitchFamily="34" charset="-122"/>
                <a:cs typeface="Cambria" pitchFamily="34" charset="-120"/>
              </a:rPr>
              <a:t>Literature Review II - Synthesis and Research Gap</a:t>
            </a:r>
            <a:endParaRPr lang="en-US" sz="3000" dirty="0"/>
          </a:p>
        </p:txBody>
      </p:sp>
      <p:sp>
        <p:nvSpPr>
          <p:cNvPr id="3" name="Text 1"/>
          <p:cNvSpPr/>
          <p:nvPr/>
        </p:nvSpPr>
        <p:spPr>
          <a:xfrm>
            <a:off x="566928" y="896112"/>
            <a:ext cx="11064240" cy="274320"/>
          </a:xfrm>
          <a:prstGeom prst="rect">
            <a:avLst/>
          </a:prstGeom>
          <a:noFill/>
          <a:ln/>
        </p:spPr>
        <p:txBody>
          <a:bodyPr wrap="square" lIns="0" tIns="0" rIns="0" bIns="0" rtlCol="0" anchor="ctr"/>
          <a:lstStyle/>
          <a:p>
            <a:pPr indent="0" marL="0">
              <a:buNone/>
            </a:pPr>
            <a:r>
              <a:rPr lang="en-US" sz="1150" b="1" spc="160" kern="0" dirty="0">
                <a:solidFill>
                  <a:srgbClr val="4C3B9E"/>
                </a:solidFill>
                <a:latin typeface="Calibri" pitchFamily="34" charset="0"/>
                <a:ea typeface="Calibri" pitchFamily="34" charset="-122"/>
                <a:cs typeface="Calibri" pitchFamily="34" charset="-120"/>
              </a:rPr>
              <a:t>FROM STATIC POLICY TO LEARNING-BASED QoS CONTROL</a:t>
            </a:r>
            <a:endParaRPr lang="en-US" sz="1150" dirty="0"/>
          </a:p>
        </p:txBody>
      </p:sp>
      <p:sp>
        <p:nvSpPr>
          <p:cNvPr id="4" name="Shape 2"/>
          <p:cNvSpPr/>
          <p:nvPr/>
        </p:nvSpPr>
        <p:spPr>
          <a:xfrm>
            <a:off x="548640" y="1298448"/>
            <a:ext cx="6400800" cy="1508760"/>
          </a:xfrm>
          <a:prstGeom prst="roundRect">
            <a:avLst>
              <a:gd name="adj" fmla="val 5455"/>
            </a:avLst>
          </a:prstGeom>
          <a:solidFill>
            <a:srgbClr val="FFFFFF"/>
          </a:solidFill>
          <a:ln w="12700">
            <a:solidFill>
              <a:srgbClr val="7A6BD6"/>
            </a:solidFill>
            <a:prstDash val="solid"/>
          </a:ln>
          <a:effectLst>
            <a:outerShdw sx="100000" sy="100000" kx="0" ky="0" algn="bl" rotWithShape="0" blurRad="76200" dist="12700" dir="5400000">
              <a:srgbClr val="1A1633">
                <a:alpha val="9000"/>
              </a:srgbClr>
            </a:outerShdw>
          </a:effectLst>
        </p:spPr>
      </p:sp>
      <p:sp>
        <p:nvSpPr>
          <p:cNvPr id="5" name="Shape 3"/>
          <p:cNvSpPr/>
          <p:nvPr/>
        </p:nvSpPr>
        <p:spPr>
          <a:xfrm>
            <a:off x="749808" y="1481328"/>
            <a:ext cx="365760" cy="365760"/>
          </a:xfrm>
          <a:prstGeom prst="ellipse">
            <a:avLst/>
          </a:prstGeom>
          <a:solidFill>
            <a:srgbClr val="4C3B9E"/>
          </a:solidFill>
          <a:ln w="12700">
            <a:solidFill>
              <a:srgbClr val="4C3B9E"/>
            </a:solidFill>
            <a:prstDash val="solid"/>
          </a:ln>
        </p:spPr>
      </p:sp>
      <p:sp>
        <p:nvSpPr>
          <p:cNvPr id="6" name="Text 4"/>
          <p:cNvSpPr/>
          <p:nvPr/>
        </p:nvSpPr>
        <p:spPr>
          <a:xfrm>
            <a:off x="749808" y="1481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7" name="Text 5"/>
          <p:cNvSpPr/>
          <p:nvPr/>
        </p:nvSpPr>
        <p:spPr>
          <a:xfrm>
            <a:off x="1225296" y="1426464"/>
            <a:ext cx="5486400" cy="310896"/>
          </a:xfrm>
          <a:prstGeom prst="rect">
            <a:avLst/>
          </a:prstGeom>
          <a:noFill/>
          <a:ln/>
        </p:spPr>
        <p:txBody>
          <a:bodyPr wrap="square" lIns="0" tIns="0" rIns="0" bIns="0" rtlCol="0" anchor="ctr"/>
          <a:lstStyle/>
          <a:p>
            <a:pPr indent="0" marL="0">
              <a:buNone/>
            </a:pPr>
            <a:r>
              <a:rPr lang="en-US" sz="1200" b="1" dirty="0">
                <a:solidFill>
                  <a:srgbClr val="2A2740"/>
                </a:solidFill>
                <a:latin typeface="Cambria" pitchFamily="34" charset="0"/>
                <a:ea typeface="Cambria" pitchFamily="34" charset="-122"/>
                <a:cs typeface="Cambria" pitchFamily="34" charset="-120"/>
              </a:rPr>
              <a:t>VQoSRR: Video streaming adaptive QoS routing with resource reservation for SDN</a:t>
            </a:r>
            <a:endParaRPr lang="en-US" sz="1200" dirty="0"/>
          </a:p>
        </p:txBody>
      </p:sp>
      <p:sp>
        <p:nvSpPr>
          <p:cNvPr id="8" name="Text 6"/>
          <p:cNvSpPr/>
          <p:nvPr/>
        </p:nvSpPr>
        <p:spPr>
          <a:xfrm>
            <a:off x="1225296" y="1728216"/>
            <a:ext cx="5486400" cy="237744"/>
          </a:xfrm>
          <a:prstGeom prst="rect">
            <a:avLst/>
          </a:prstGeom>
          <a:noFill/>
          <a:ln/>
        </p:spPr>
        <p:txBody>
          <a:bodyPr wrap="square" lIns="0" tIns="0" rIns="0" bIns="0" rtlCol="0" anchor="ctr"/>
          <a:lstStyle/>
          <a:p>
            <a:pPr indent="0" marL="0">
              <a:buNone/>
            </a:pPr>
            <a:r>
              <a:rPr lang="en-US" sz="950" i="1" dirty="0">
                <a:solidFill>
                  <a:srgbClr val="6C6885"/>
                </a:solidFill>
                <a:latin typeface="Calibri" pitchFamily="34" charset="0"/>
                <a:ea typeface="Calibri" pitchFamily="34" charset="-122"/>
                <a:cs typeface="Calibri" pitchFamily="34" charset="-120"/>
              </a:rPr>
              <a:t>Elbasheer, Aldegheishem, Alrajeh &amp; Lloret — Electronics (MDPI), 2022</a:t>
            </a:r>
            <a:endParaRPr lang="en-US" sz="950" dirty="0"/>
          </a:p>
        </p:txBody>
      </p:sp>
      <p:sp>
        <p:nvSpPr>
          <p:cNvPr id="9" name="Text 7"/>
          <p:cNvSpPr/>
          <p:nvPr/>
        </p:nvSpPr>
        <p:spPr>
          <a:xfrm>
            <a:off x="777240" y="1993392"/>
            <a:ext cx="5943600" cy="731520"/>
          </a:xfrm>
          <a:prstGeom prst="rect">
            <a:avLst/>
          </a:prstGeom>
          <a:noFill/>
          <a:ln/>
        </p:spPr>
        <p:txBody>
          <a:bodyPr wrap="square" lIns="0" tIns="0" rIns="0" bIns="0" rtlCol="0" anchor="ctr"/>
          <a:lstStyle/>
          <a:p>
            <a:pPr indent="0" marL="0">
              <a:lnSpc>
                <a:spcPct val="100000"/>
              </a:lnSpc>
              <a:buNone/>
            </a:pPr>
            <a:r>
              <a:rPr lang="en-US" sz="1050" dirty="0">
                <a:solidFill>
                  <a:srgbClr val="2A2740"/>
                </a:solidFill>
                <a:latin typeface="Calibri" pitchFamily="34" charset="0"/>
                <a:ea typeface="Calibri" pitchFamily="34" charset="-122"/>
                <a:cs typeface="Calibri" pitchFamily="34" charset="-120"/>
              </a:rPr>
              <a:t>Combines QoS-based route computation with queue-based resource reservation, and shifts a flow to an alternative path when QoE is violated. Reported effective control over both routes and resources, with video quality maintained.</a:t>
            </a:r>
            <a:endParaRPr lang="en-US" sz="1050" dirty="0"/>
          </a:p>
        </p:txBody>
      </p:sp>
      <p:sp>
        <p:nvSpPr>
          <p:cNvPr id="10" name="Shape 8"/>
          <p:cNvSpPr/>
          <p:nvPr/>
        </p:nvSpPr>
        <p:spPr>
          <a:xfrm>
            <a:off x="548640" y="2926080"/>
            <a:ext cx="6400800" cy="1508760"/>
          </a:xfrm>
          <a:prstGeom prst="roundRect">
            <a:avLst>
              <a:gd name="adj" fmla="val 5455"/>
            </a:avLst>
          </a:prstGeom>
          <a:solidFill>
            <a:srgbClr val="FFFFFF"/>
          </a:solidFill>
          <a:ln w="12700">
            <a:solidFill>
              <a:srgbClr val="7A6BD6"/>
            </a:solidFill>
            <a:prstDash val="solid"/>
          </a:ln>
          <a:effectLst>
            <a:outerShdw sx="100000" sy="100000" kx="0" ky="0" algn="bl" rotWithShape="0" blurRad="76200" dist="12700" dir="5400000">
              <a:srgbClr val="1A1633">
                <a:alpha val="9000"/>
              </a:srgbClr>
            </a:outerShdw>
          </a:effectLst>
        </p:spPr>
      </p:sp>
      <p:sp>
        <p:nvSpPr>
          <p:cNvPr id="11" name="Shape 9"/>
          <p:cNvSpPr/>
          <p:nvPr/>
        </p:nvSpPr>
        <p:spPr>
          <a:xfrm>
            <a:off x="749808" y="3108960"/>
            <a:ext cx="365760" cy="365760"/>
          </a:xfrm>
          <a:prstGeom prst="ellipse">
            <a:avLst/>
          </a:prstGeom>
          <a:solidFill>
            <a:srgbClr val="4C3B9E"/>
          </a:solidFill>
          <a:ln w="12700">
            <a:solidFill>
              <a:srgbClr val="4C3B9E"/>
            </a:solidFill>
            <a:prstDash val="solid"/>
          </a:ln>
        </p:spPr>
      </p:sp>
      <p:sp>
        <p:nvSpPr>
          <p:cNvPr id="12" name="Text 10"/>
          <p:cNvSpPr/>
          <p:nvPr/>
        </p:nvSpPr>
        <p:spPr>
          <a:xfrm>
            <a:off x="749808" y="310896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3" name="Text 11"/>
          <p:cNvSpPr/>
          <p:nvPr/>
        </p:nvSpPr>
        <p:spPr>
          <a:xfrm>
            <a:off x="1225296" y="3054096"/>
            <a:ext cx="5486400" cy="310896"/>
          </a:xfrm>
          <a:prstGeom prst="rect">
            <a:avLst/>
          </a:prstGeom>
          <a:noFill/>
          <a:ln/>
        </p:spPr>
        <p:txBody>
          <a:bodyPr wrap="square" lIns="0" tIns="0" rIns="0" bIns="0" rtlCol="0" anchor="ctr"/>
          <a:lstStyle/>
          <a:p>
            <a:pPr indent="0" marL="0">
              <a:buNone/>
            </a:pPr>
            <a:r>
              <a:rPr lang="en-US" sz="1200" b="1" dirty="0">
                <a:solidFill>
                  <a:srgbClr val="2A2740"/>
                </a:solidFill>
                <a:latin typeface="Cambria" pitchFamily="34" charset="0"/>
                <a:ea typeface="Cambria" pitchFamily="34" charset="-122"/>
                <a:cs typeface="Cambria" pitchFamily="34" charset="-120"/>
              </a:rPr>
              <a:t>A reinforcement learning-based routing for real-time multimedia traffic over SDN</a:t>
            </a:r>
            <a:endParaRPr lang="en-US" sz="1200" dirty="0"/>
          </a:p>
        </p:txBody>
      </p:sp>
      <p:sp>
        <p:nvSpPr>
          <p:cNvPr id="14" name="Text 12"/>
          <p:cNvSpPr/>
          <p:nvPr/>
        </p:nvSpPr>
        <p:spPr>
          <a:xfrm>
            <a:off x="1225296" y="3355848"/>
            <a:ext cx="5486400" cy="237744"/>
          </a:xfrm>
          <a:prstGeom prst="rect">
            <a:avLst/>
          </a:prstGeom>
          <a:noFill/>
          <a:ln/>
        </p:spPr>
        <p:txBody>
          <a:bodyPr wrap="square" lIns="0" tIns="0" rIns="0" bIns="0" rtlCol="0" anchor="ctr"/>
          <a:lstStyle/>
          <a:p>
            <a:pPr indent="0" marL="0">
              <a:buNone/>
            </a:pPr>
            <a:r>
              <a:rPr lang="en-US" sz="950" i="1" dirty="0">
                <a:solidFill>
                  <a:srgbClr val="6C6885"/>
                </a:solidFill>
                <a:latin typeface="Calibri" pitchFamily="34" charset="0"/>
                <a:ea typeface="Calibri" pitchFamily="34" charset="-122"/>
                <a:cs typeface="Calibri" pitchFamily="34" charset="-120"/>
              </a:rPr>
              <a:t>Al Jameel, Kanakis, Turner, Al-Sherbaz &amp; Bhaya — Electronics (MDPI), 2022</a:t>
            </a:r>
            <a:endParaRPr lang="en-US" sz="950" dirty="0"/>
          </a:p>
        </p:txBody>
      </p:sp>
      <p:sp>
        <p:nvSpPr>
          <p:cNvPr id="15" name="Text 13"/>
          <p:cNvSpPr/>
          <p:nvPr/>
        </p:nvSpPr>
        <p:spPr>
          <a:xfrm>
            <a:off x="777240" y="3621024"/>
            <a:ext cx="5943600" cy="731520"/>
          </a:xfrm>
          <a:prstGeom prst="rect">
            <a:avLst/>
          </a:prstGeom>
          <a:noFill/>
          <a:ln/>
        </p:spPr>
        <p:txBody>
          <a:bodyPr wrap="square" lIns="0" tIns="0" rIns="0" bIns="0" rtlCol="0" anchor="ctr"/>
          <a:lstStyle/>
          <a:p>
            <a:pPr indent="0" marL="0">
              <a:lnSpc>
                <a:spcPct val="100000"/>
              </a:lnSpc>
              <a:buNone/>
            </a:pPr>
            <a:r>
              <a:rPr lang="en-US" sz="1050" dirty="0">
                <a:solidFill>
                  <a:srgbClr val="2A2740"/>
                </a:solidFill>
                <a:latin typeface="Calibri" pitchFamily="34" charset="0"/>
                <a:ea typeface="Calibri" pitchFamily="34" charset="-122"/>
                <a:cs typeface="Calibri" pitchFamily="34" charset="-120"/>
              </a:rPr>
              <a:t>An RL agent explores and learns paths for video flows inside the SDN environment, rather than following a fixed metric. Evaluated under low and high load using VMAF and SSIM - i.e. judged on perceptual quality, not only on QoS counters.</a:t>
            </a:r>
            <a:endParaRPr lang="en-US" sz="1050" dirty="0"/>
          </a:p>
        </p:txBody>
      </p:sp>
      <p:sp>
        <p:nvSpPr>
          <p:cNvPr id="16" name="Shape 14"/>
          <p:cNvSpPr/>
          <p:nvPr/>
        </p:nvSpPr>
        <p:spPr>
          <a:xfrm>
            <a:off x="548640" y="4553712"/>
            <a:ext cx="6400800" cy="1508760"/>
          </a:xfrm>
          <a:prstGeom prst="roundRect">
            <a:avLst>
              <a:gd name="adj" fmla="val 5455"/>
            </a:avLst>
          </a:prstGeom>
          <a:solidFill>
            <a:srgbClr val="FFFFFF"/>
          </a:solidFill>
          <a:ln w="12700">
            <a:solidFill>
              <a:srgbClr val="7A6BD6"/>
            </a:solidFill>
            <a:prstDash val="solid"/>
          </a:ln>
          <a:effectLst>
            <a:outerShdw sx="100000" sy="100000" kx="0" ky="0" algn="bl" rotWithShape="0" blurRad="76200" dist="12700" dir="5400000">
              <a:srgbClr val="1A1633">
                <a:alpha val="9000"/>
              </a:srgbClr>
            </a:outerShdw>
          </a:effectLst>
        </p:spPr>
      </p:sp>
      <p:sp>
        <p:nvSpPr>
          <p:cNvPr id="17" name="Shape 15"/>
          <p:cNvSpPr/>
          <p:nvPr/>
        </p:nvSpPr>
        <p:spPr>
          <a:xfrm>
            <a:off x="749808" y="4736592"/>
            <a:ext cx="365760" cy="365760"/>
          </a:xfrm>
          <a:prstGeom prst="ellipse">
            <a:avLst/>
          </a:prstGeom>
          <a:solidFill>
            <a:srgbClr val="4C3B9E"/>
          </a:solidFill>
          <a:ln w="12700">
            <a:solidFill>
              <a:srgbClr val="4C3B9E"/>
            </a:solidFill>
            <a:prstDash val="solid"/>
          </a:ln>
        </p:spPr>
      </p:sp>
      <p:sp>
        <p:nvSpPr>
          <p:cNvPr id="18" name="Text 16"/>
          <p:cNvSpPr/>
          <p:nvPr/>
        </p:nvSpPr>
        <p:spPr>
          <a:xfrm>
            <a:off x="749808" y="473659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19" name="Text 17"/>
          <p:cNvSpPr/>
          <p:nvPr/>
        </p:nvSpPr>
        <p:spPr>
          <a:xfrm>
            <a:off x="1225296" y="4681728"/>
            <a:ext cx="5486400" cy="310896"/>
          </a:xfrm>
          <a:prstGeom prst="rect">
            <a:avLst/>
          </a:prstGeom>
          <a:noFill/>
          <a:ln/>
        </p:spPr>
        <p:txBody>
          <a:bodyPr wrap="square" lIns="0" tIns="0" rIns="0" bIns="0" rtlCol="0" anchor="ctr"/>
          <a:lstStyle/>
          <a:p>
            <a:pPr indent="0" marL="0">
              <a:buNone/>
            </a:pPr>
            <a:r>
              <a:rPr lang="en-US" sz="1200" b="1" dirty="0">
                <a:solidFill>
                  <a:srgbClr val="2A2740"/>
                </a:solidFill>
                <a:latin typeface="Cambria" pitchFamily="34" charset="0"/>
                <a:ea typeface="Cambria" pitchFamily="34" charset="-122"/>
                <a:cs typeface="Cambria" pitchFamily="34" charset="-120"/>
              </a:rPr>
              <a:t>QoE-driven adaptive video streaming: architectures, techniques and future challenges toward 6G</a:t>
            </a:r>
            <a:endParaRPr lang="en-US" sz="1200" dirty="0"/>
          </a:p>
        </p:txBody>
      </p:sp>
      <p:sp>
        <p:nvSpPr>
          <p:cNvPr id="20" name="Text 18"/>
          <p:cNvSpPr/>
          <p:nvPr/>
        </p:nvSpPr>
        <p:spPr>
          <a:xfrm>
            <a:off x="1225296" y="4983480"/>
            <a:ext cx="5486400" cy="237744"/>
          </a:xfrm>
          <a:prstGeom prst="rect">
            <a:avLst/>
          </a:prstGeom>
          <a:noFill/>
          <a:ln/>
        </p:spPr>
        <p:txBody>
          <a:bodyPr wrap="square" lIns="0" tIns="0" rIns="0" bIns="0" rtlCol="0" anchor="ctr"/>
          <a:lstStyle/>
          <a:p>
            <a:pPr indent="0" marL="0">
              <a:buNone/>
            </a:pPr>
            <a:r>
              <a:rPr lang="en-US" sz="950" i="1" dirty="0">
                <a:solidFill>
                  <a:srgbClr val="6C6885"/>
                </a:solidFill>
                <a:latin typeface="Calibri" pitchFamily="34" charset="0"/>
                <a:ea typeface="Calibri" pitchFamily="34" charset="-122"/>
                <a:cs typeface="Calibri" pitchFamily="34" charset="-120"/>
              </a:rPr>
              <a:t>Alsader, Barakabitze &amp; Mkwawa — IEEE Access, 2025</a:t>
            </a:r>
            <a:endParaRPr lang="en-US" sz="950" dirty="0"/>
          </a:p>
        </p:txBody>
      </p:sp>
      <p:sp>
        <p:nvSpPr>
          <p:cNvPr id="21" name="Text 19"/>
          <p:cNvSpPr/>
          <p:nvPr/>
        </p:nvSpPr>
        <p:spPr>
          <a:xfrm>
            <a:off x="777240" y="5248656"/>
            <a:ext cx="5943600" cy="731520"/>
          </a:xfrm>
          <a:prstGeom prst="rect">
            <a:avLst/>
          </a:prstGeom>
          <a:noFill/>
          <a:ln/>
        </p:spPr>
        <p:txBody>
          <a:bodyPr wrap="square" lIns="0" tIns="0" rIns="0" bIns="0" rtlCol="0" anchor="ctr"/>
          <a:lstStyle/>
          <a:p>
            <a:pPr indent="0" marL="0">
              <a:lnSpc>
                <a:spcPct val="100000"/>
              </a:lnSpc>
              <a:buNone/>
            </a:pPr>
            <a:r>
              <a:rPr lang="en-US" sz="1050" dirty="0">
                <a:solidFill>
                  <a:srgbClr val="2A2740"/>
                </a:solidFill>
                <a:latin typeface="Calibri" pitchFamily="34" charset="0"/>
                <a:ea typeface="Calibri" pitchFamily="34" charset="-122"/>
                <a:cs typeface="Calibri" pitchFamily="34" charset="-120"/>
              </a:rPr>
              <a:t>Recent survey of QoE-driven streaming across SDN, NFV and MEC with AI/ML and cloud-edge architectures. Confirms that real-time QoE monitoring and resource allocation across diverse services remain open problems.</a:t>
            </a:r>
            <a:endParaRPr lang="en-US" sz="1050" dirty="0"/>
          </a:p>
        </p:txBody>
      </p:sp>
      <p:sp>
        <p:nvSpPr>
          <p:cNvPr id="22" name="Shape 20"/>
          <p:cNvSpPr/>
          <p:nvPr/>
        </p:nvSpPr>
        <p:spPr>
          <a:xfrm>
            <a:off x="7315200" y="1298448"/>
            <a:ext cx="4297680" cy="2148840"/>
          </a:xfrm>
          <a:prstGeom prst="roundRect">
            <a:avLst>
              <a:gd name="adj" fmla="val 4255"/>
            </a:avLst>
          </a:prstGeom>
          <a:solidFill>
            <a:srgbClr val="F2F0FA"/>
          </a:solidFill>
          <a:ln w="15875">
            <a:solidFill>
              <a:srgbClr val="4C3B9E"/>
            </a:solidFill>
            <a:prstDash val="solid"/>
          </a:ln>
        </p:spPr>
      </p:sp>
      <p:sp>
        <p:nvSpPr>
          <p:cNvPr id="23" name="Text 21"/>
          <p:cNvSpPr/>
          <p:nvPr/>
        </p:nvSpPr>
        <p:spPr>
          <a:xfrm>
            <a:off x="7543800" y="1417320"/>
            <a:ext cx="3840480" cy="292608"/>
          </a:xfrm>
          <a:prstGeom prst="rect">
            <a:avLst/>
          </a:prstGeom>
          <a:noFill/>
          <a:ln/>
        </p:spPr>
        <p:txBody>
          <a:bodyPr wrap="square" lIns="0" tIns="0" rIns="0" bIns="0" rtlCol="0" anchor="ctr"/>
          <a:lstStyle/>
          <a:p>
            <a:pPr indent="0" marL="0">
              <a:buNone/>
            </a:pPr>
            <a:r>
              <a:rPr lang="en-US" sz="1350" b="1" dirty="0">
                <a:solidFill>
                  <a:srgbClr val="4C3B9E"/>
                </a:solidFill>
                <a:latin typeface="Cambria" pitchFamily="34" charset="0"/>
                <a:ea typeface="Cambria" pitchFamily="34" charset="-122"/>
                <a:cs typeface="Cambria" pitchFamily="34" charset="-120"/>
              </a:rPr>
              <a:t>What the literature agrees on</a:t>
            </a:r>
            <a:endParaRPr lang="en-US" sz="1350" dirty="0"/>
          </a:p>
        </p:txBody>
      </p:sp>
      <p:sp>
        <p:nvSpPr>
          <p:cNvPr id="24" name="Text 22"/>
          <p:cNvSpPr/>
          <p:nvPr/>
        </p:nvSpPr>
        <p:spPr>
          <a:xfrm>
            <a:off x="7571232" y="1764792"/>
            <a:ext cx="3794760" cy="1600200"/>
          </a:xfrm>
          <a:prstGeom prst="rect">
            <a:avLst/>
          </a:prstGeom>
          <a:noFill/>
          <a:ln/>
        </p:spPr>
        <p:txBody>
          <a:bodyPr wrap="square" lIns="0" tIns="0" rIns="0" bIns="0" rtlCol="0" anchor="ctr"/>
          <a:lstStyle/>
          <a:p>
            <a:pPr marL="342900" indent="-342900">
              <a:lnSpc>
                <a:spcPct val="100000"/>
              </a:lnSpc>
              <a:spcAft>
                <a:spcPts val="600"/>
              </a:spcAft>
              <a:buSzPct val="100000"/>
              <a:buChar char="•"/>
            </a:pPr>
            <a:r>
              <a:rPr lang="en-US" sz="1050" dirty="0">
                <a:solidFill>
                  <a:srgbClr val="2A2740"/>
                </a:solidFill>
                <a:latin typeface="Calibri" pitchFamily="34" charset="0"/>
                <a:ea typeface="Calibri" pitchFamily="34" charset="-122"/>
                <a:cs typeface="Calibri" pitchFamily="34" charset="-120"/>
              </a:rPr>
              <a:t>Common pattern: monitor → classify → prioritise → route or reserve → enforce flow rules</a:t>
            </a:r>
            <a:endParaRPr lang="en-US" sz="1050" dirty="0"/>
          </a:p>
          <a:p>
            <a:pPr marL="342900" indent="-342900">
              <a:lnSpc>
                <a:spcPct val="100000"/>
              </a:lnSpc>
              <a:spcAft>
                <a:spcPts val="600"/>
              </a:spcAft>
              <a:buSzPct val="100000"/>
              <a:buChar char="•"/>
            </a:pPr>
            <a:r>
              <a:rPr lang="en-US" sz="1050" dirty="0">
                <a:solidFill>
                  <a:srgbClr val="2A2740"/>
                </a:solidFill>
                <a:latin typeface="Calibri" pitchFamily="34" charset="0"/>
                <a:ea typeface="Calibri" pitchFamily="34" charset="-122"/>
                <a:cs typeface="Calibri" pitchFamily="34" charset="-120"/>
              </a:rPr>
              <a:t>Metrics optimised: delay, jitter, loss, throughput; increasingly QoE (MOS, SSIM, VMAF, stalls)</a:t>
            </a:r>
            <a:endParaRPr lang="en-US" sz="1050" dirty="0"/>
          </a:p>
          <a:p>
            <a:pPr marL="342900" indent="-342900">
              <a:lnSpc>
                <a:spcPct val="100000"/>
              </a:lnSpc>
              <a:spcAft>
                <a:spcPts val="600"/>
              </a:spcAft>
              <a:buSzPct val="100000"/>
              <a:buChar char="•"/>
            </a:pPr>
            <a:r>
              <a:rPr lang="en-US" sz="1050" dirty="0">
                <a:solidFill>
                  <a:srgbClr val="2A2740"/>
                </a:solidFill>
                <a:latin typeface="Calibri" pitchFamily="34" charset="0"/>
                <a:ea typeface="Calibri" pitchFamily="34" charset="-122"/>
                <a:cs typeface="Calibri" pitchFamily="34" charset="-120"/>
              </a:rPr>
              <a:t>Tooling: OpenFlow with Ryu / ONOS / OpenDaylight, queues and DSCP marking, Mininet testbeds</a:t>
            </a:r>
            <a:endParaRPr lang="en-US" sz="1050" dirty="0"/>
          </a:p>
          <a:p>
            <a:pPr marL="342900" indent="-342900">
              <a:lnSpc>
                <a:spcPct val="100000"/>
              </a:lnSpc>
              <a:spcAft>
                <a:spcPts val="600"/>
              </a:spcAft>
              <a:buSzPct val="100000"/>
              <a:buChar char="•"/>
            </a:pPr>
            <a:r>
              <a:rPr lang="en-US" sz="1050" dirty="0">
                <a:solidFill>
                  <a:srgbClr val="2A2740"/>
                </a:solidFill>
                <a:latin typeface="Calibri" pitchFamily="34" charset="0"/>
                <a:ea typeface="Calibri" pitchFamily="34" charset="-122"/>
                <a:cs typeface="Calibri" pitchFamily="34" charset="-120"/>
              </a:rPr>
              <a:t>Strength: consistent, measurable gains over best-effort baselines</a:t>
            </a:r>
            <a:endParaRPr lang="en-US" sz="1050" dirty="0"/>
          </a:p>
        </p:txBody>
      </p:sp>
      <p:sp>
        <p:nvSpPr>
          <p:cNvPr id="25" name="Shape 23"/>
          <p:cNvSpPr/>
          <p:nvPr/>
        </p:nvSpPr>
        <p:spPr>
          <a:xfrm>
            <a:off x="7315200" y="3611880"/>
            <a:ext cx="4297680" cy="2331720"/>
          </a:xfrm>
          <a:prstGeom prst="roundRect">
            <a:avLst>
              <a:gd name="adj" fmla="val 3922"/>
            </a:avLst>
          </a:prstGeom>
          <a:solidFill>
            <a:srgbClr val="1A1633"/>
          </a:solidFill>
          <a:ln w="19050">
            <a:solidFill>
              <a:srgbClr val="E8912B"/>
            </a:solidFill>
            <a:prstDash val="solid"/>
          </a:ln>
        </p:spPr>
      </p:sp>
      <p:sp>
        <p:nvSpPr>
          <p:cNvPr id="26" name="Text 24"/>
          <p:cNvSpPr/>
          <p:nvPr/>
        </p:nvSpPr>
        <p:spPr>
          <a:xfrm>
            <a:off x="7543800" y="3730752"/>
            <a:ext cx="3840480" cy="292608"/>
          </a:xfrm>
          <a:prstGeom prst="rect">
            <a:avLst/>
          </a:prstGeom>
          <a:noFill/>
          <a:ln/>
        </p:spPr>
        <p:txBody>
          <a:bodyPr wrap="square" lIns="0" tIns="0" rIns="0" bIns="0" rtlCol="0" anchor="ctr"/>
          <a:lstStyle/>
          <a:p>
            <a:pPr indent="0" marL="0">
              <a:buNone/>
            </a:pPr>
            <a:r>
              <a:rPr lang="en-US" sz="1350" b="1" dirty="0">
                <a:solidFill>
                  <a:srgbClr val="E8912B"/>
                </a:solidFill>
                <a:latin typeface="Cambria" pitchFamily="34" charset="0"/>
                <a:ea typeface="Cambria" pitchFamily="34" charset="-122"/>
                <a:cs typeface="Cambria" pitchFamily="34" charset="-120"/>
              </a:rPr>
              <a:t>Research gap</a:t>
            </a:r>
            <a:endParaRPr lang="en-US" sz="1350" dirty="0"/>
          </a:p>
        </p:txBody>
      </p:sp>
      <p:sp>
        <p:nvSpPr>
          <p:cNvPr id="27" name="Text 25"/>
          <p:cNvSpPr/>
          <p:nvPr/>
        </p:nvSpPr>
        <p:spPr>
          <a:xfrm>
            <a:off x="7571232" y="4069080"/>
            <a:ext cx="3794760" cy="1783080"/>
          </a:xfrm>
          <a:prstGeom prst="rect">
            <a:avLst/>
          </a:prstGeom>
          <a:noFill/>
          <a:ln/>
        </p:spPr>
        <p:txBody>
          <a:bodyPr wrap="square" lIns="0" tIns="0" rIns="0" bIns="0" rtlCol="0" anchor="ctr"/>
          <a:lstStyle/>
          <a:p>
            <a:pPr marL="342900" indent="-342900">
              <a:lnSpc>
                <a:spcPct val="100000"/>
              </a:lnSpc>
              <a:spcAft>
                <a:spcPts val="600"/>
              </a:spcAft>
              <a:buSzPct val="100000"/>
              <a:buChar char="•"/>
            </a:pPr>
            <a:r>
              <a:rPr lang="en-US" sz="1050" dirty="0">
                <a:solidFill>
                  <a:srgbClr val="FFFFFF"/>
                </a:solidFill>
                <a:latin typeface="Calibri" pitchFamily="34" charset="0"/>
                <a:ea typeface="Calibri" pitchFamily="34" charset="-122"/>
                <a:cs typeface="Calibri" pitchFamily="34" charset="-120"/>
              </a:rPr>
              <a:t>Adapting QoS decisions fast enough for traffic that changes second by second</a:t>
            </a:r>
            <a:endParaRPr lang="en-US" sz="1050" dirty="0"/>
          </a:p>
          <a:p>
            <a:pPr marL="342900" indent="-342900">
              <a:lnSpc>
                <a:spcPct val="100000"/>
              </a:lnSpc>
              <a:spcAft>
                <a:spcPts val="600"/>
              </a:spcAft>
              <a:buSzPct val="100000"/>
              <a:buChar char="•"/>
            </a:pPr>
            <a:r>
              <a:rPr lang="en-US" sz="1050" dirty="0">
                <a:solidFill>
                  <a:srgbClr val="FFFFFF"/>
                </a:solidFill>
                <a:latin typeface="Calibri" pitchFamily="34" charset="0"/>
                <a:ea typeface="Calibri" pitchFamily="34" charset="-122"/>
                <a:cs typeface="Calibri" pitchFamily="34" charset="-120"/>
              </a:rPr>
              <a:t>QoS targets met, yet QoE still poor - the mapping between them is not solved</a:t>
            </a:r>
            <a:endParaRPr lang="en-US" sz="1050" dirty="0"/>
          </a:p>
          <a:p>
            <a:pPr marL="342900" indent="-342900">
              <a:lnSpc>
                <a:spcPct val="100000"/>
              </a:lnSpc>
              <a:spcAft>
                <a:spcPts val="600"/>
              </a:spcAft>
              <a:buSzPct val="100000"/>
              <a:buChar char="•"/>
            </a:pPr>
            <a:r>
              <a:rPr lang="en-US" sz="1050" dirty="0">
                <a:solidFill>
                  <a:srgbClr val="FFFFFF"/>
                </a:solidFill>
                <a:latin typeface="Calibri" pitchFamily="34" charset="0"/>
                <a:ea typeface="Calibri" pitchFamily="34" charset="-122"/>
                <a:cs typeface="Calibri" pitchFamily="34" charset="-120"/>
              </a:rPr>
              <a:t>Scalability of centralised control: monitoring overhead and controller load</a:t>
            </a:r>
            <a:endParaRPr lang="en-US" sz="1050" dirty="0"/>
          </a:p>
          <a:p>
            <a:pPr marL="342900" indent="-342900">
              <a:lnSpc>
                <a:spcPct val="100000"/>
              </a:lnSpc>
              <a:spcAft>
                <a:spcPts val="600"/>
              </a:spcAft>
              <a:buSzPct val="100000"/>
              <a:buChar char="•"/>
            </a:pPr>
            <a:r>
              <a:rPr lang="en-US" sz="1050" dirty="0">
                <a:solidFill>
                  <a:srgbClr val="FFFFFF"/>
                </a:solidFill>
                <a:latin typeface="Calibri" pitchFamily="34" charset="0"/>
                <a:ea typeface="Calibri" pitchFamily="34" charset="-122"/>
                <a:cs typeface="Calibri" pitchFamily="34" charset="-120"/>
              </a:rPr>
              <a:t>Heterogeneous video and access networks need policies that generalise, not hand-tuned thresholds</a:t>
            </a:r>
            <a:endParaRPr lang="en-US" sz="1050" dirty="0"/>
          </a:p>
        </p:txBody>
      </p:sp>
      <p:sp>
        <p:nvSpPr>
          <p:cNvPr id="28" name="Text 26"/>
          <p:cNvSpPr/>
          <p:nvPr/>
        </p:nvSpPr>
        <p:spPr>
          <a:xfrm>
            <a:off x="548640" y="6080760"/>
            <a:ext cx="11064240" cy="457200"/>
          </a:xfrm>
          <a:prstGeom prst="rect">
            <a:avLst/>
          </a:prstGeom>
          <a:noFill/>
          <a:ln/>
        </p:spPr>
        <p:txBody>
          <a:bodyPr wrap="square" lIns="0" tIns="0" rIns="0" bIns="0" rtlCol="0" anchor="ctr"/>
          <a:lstStyle/>
          <a:p>
            <a:pPr indent="0" marL="0">
              <a:lnSpc>
                <a:spcPct val="115000"/>
              </a:lnSpc>
              <a:buNone/>
            </a:pPr>
            <a:r>
              <a:rPr lang="en-US" sz="900" b="1" dirty="0">
                <a:solidFill>
                  <a:srgbClr val="4C3B9E"/>
                </a:solidFill>
                <a:latin typeface="Calibri" pitchFamily="34" charset="0"/>
                <a:ea typeface="Calibri" pitchFamily="34" charset="-122"/>
                <a:cs typeface="Calibri" pitchFamily="34" charset="-120"/>
              </a:rPr>
              <a:t>References  </a:t>
            </a:r>
            <a:pPr indent="0" marL="0">
              <a:lnSpc>
                <a:spcPct val="115000"/>
              </a:lnSpc>
              <a:buNone/>
            </a:pPr>
            <a:r>
              <a:rPr lang="en-US" sz="900" dirty="0">
                <a:solidFill>
                  <a:srgbClr val="6C6885"/>
                </a:solidFill>
                <a:latin typeface="Calibri" pitchFamily="34" charset="0"/>
                <a:ea typeface="Calibri" pitchFamily="34" charset="-122"/>
                <a:cs typeface="Calibri" pitchFamily="34" charset="-120"/>
              </a:rPr>
              <a:t>[4] M. O. Elbasheer et al., Electronics 11(8):1252, 2022, doi:10.3390/electronics11081252.   </a:t>
            </a:r>
            <a:pPr indent="0" marL="0">
              <a:lnSpc>
                <a:spcPct val="115000"/>
              </a:lnSpc>
              <a:buNone/>
            </a:pPr>
            <a:r>
              <a:rPr lang="en-US" sz="900" dirty="0">
                <a:solidFill>
                  <a:srgbClr val="6C6885"/>
                </a:solidFill>
                <a:latin typeface="Calibri" pitchFamily="34" charset="0"/>
                <a:ea typeface="Calibri" pitchFamily="34" charset="-122"/>
                <a:cs typeface="Calibri" pitchFamily="34" charset="-120"/>
              </a:rPr>
              <a:t>[5] M. Al Jameel et al., Electronics 11(15):2441, 2022, doi:10.3390/electronics11152441.   </a:t>
            </a:r>
            <a:pPr indent="0" marL="0">
              <a:lnSpc>
                <a:spcPct val="115000"/>
              </a:lnSpc>
              <a:buNone/>
            </a:pPr>
            <a:r>
              <a:rPr lang="en-US" sz="900" dirty="0">
                <a:solidFill>
                  <a:srgbClr val="6C6885"/>
                </a:solidFill>
                <a:latin typeface="Calibri" pitchFamily="34" charset="0"/>
                <a:ea typeface="Calibri" pitchFamily="34" charset="-122"/>
                <a:cs typeface="Calibri" pitchFamily="34" charset="-120"/>
              </a:rPr>
              <a:t>[6] M. Alsader, A. A. Barakabitze, I.-H. Mkwawa, IEEE Access 13:157408-157441, 2025.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633"/>
        </a:solidFill>
      </p:bgPr>
    </p:bg>
    <p:spTree>
      <p:nvGrpSpPr>
        <p:cNvPr id="1" name=""/>
        <p:cNvGrpSpPr/>
        <p:nvPr/>
      </p:nvGrpSpPr>
      <p:grpSpPr>
        <a:xfrm>
          <a:off x="0" y="0"/>
          <a:ext cx="0" cy="0"/>
          <a:chOff x="0" y="0"/>
          <a:chExt cx="0" cy="0"/>
        </a:xfrm>
      </p:grpSpPr>
      <p:sp>
        <p:nvSpPr>
          <p:cNvPr id="2" name="Text 0"/>
          <p:cNvSpPr/>
          <p:nvPr/>
        </p:nvSpPr>
        <p:spPr>
          <a:xfrm>
            <a:off x="548640" y="274320"/>
            <a:ext cx="11064240" cy="658368"/>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Proposed Use Case Framework and Takeaways</a:t>
            </a:r>
            <a:endParaRPr lang="en-US" sz="3000" dirty="0"/>
          </a:p>
        </p:txBody>
      </p:sp>
      <p:sp>
        <p:nvSpPr>
          <p:cNvPr id="3" name="Text 1"/>
          <p:cNvSpPr/>
          <p:nvPr/>
        </p:nvSpPr>
        <p:spPr>
          <a:xfrm>
            <a:off x="566928" y="896112"/>
            <a:ext cx="11064240" cy="274320"/>
          </a:xfrm>
          <a:prstGeom prst="rect">
            <a:avLst/>
          </a:prstGeom>
          <a:noFill/>
          <a:ln/>
        </p:spPr>
        <p:txBody>
          <a:bodyPr wrap="square" lIns="0" tIns="0" rIns="0" bIns="0" rtlCol="0" anchor="ctr"/>
          <a:lstStyle/>
          <a:p>
            <a:pPr indent="0" marL="0">
              <a:buNone/>
            </a:pPr>
            <a:r>
              <a:rPr lang="en-US" sz="1150" b="1" spc="160" kern="0" dirty="0">
                <a:solidFill>
                  <a:srgbClr val="E8912B"/>
                </a:solidFill>
                <a:latin typeface="Calibri" pitchFamily="34" charset="0"/>
                <a:ea typeface="Calibri" pitchFamily="34" charset="-122"/>
                <a:cs typeface="Calibri" pitchFamily="34" charset="-120"/>
              </a:rPr>
              <a:t>MEASURE  ·  DECIDE  ·  ENFORCE  ·  RE-MEASURE</a:t>
            </a:r>
            <a:endParaRPr lang="en-US" sz="1150" dirty="0"/>
          </a:p>
        </p:txBody>
      </p:sp>
      <p:sp>
        <p:nvSpPr>
          <p:cNvPr id="4" name="Shape 2"/>
          <p:cNvSpPr/>
          <p:nvPr/>
        </p:nvSpPr>
        <p:spPr>
          <a:xfrm>
            <a:off x="548640" y="1325880"/>
            <a:ext cx="7132320" cy="1691640"/>
          </a:xfrm>
          <a:prstGeom prst="roundRect">
            <a:avLst>
              <a:gd name="adj" fmla="val 5405"/>
            </a:avLst>
          </a:prstGeom>
          <a:solidFill>
            <a:srgbClr val="241E45"/>
          </a:solidFill>
          <a:ln w="15875">
            <a:solidFill>
              <a:srgbClr val="7A6BD6"/>
            </a:solidFill>
            <a:prstDash val="solid"/>
          </a:ln>
        </p:spPr>
      </p:sp>
      <p:sp>
        <p:nvSpPr>
          <p:cNvPr id="5" name="Text 3"/>
          <p:cNvSpPr/>
          <p:nvPr/>
        </p:nvSpPr>
        <p:spPr>
          <a:xfrm>
            <a:off x="777240" y="1417320"/>
            <a:ext cx="6675120" cy="274320"/>
          </a:xfrm>
          <a:prstGeom prst="rect">
            <a:avLst/>
          </a:prstGeom>
          <a:noFill/>
          <a:ln/>
        </p:spPr>
        <p:txBody>
          <a:bodyPr wrap="square" lIns="0" tIns="0" rIns="0" bIns="0" rtlCol="0" anchor="ctr"/>
          <a:lstStyle/>
          <a:p>
            <a:pPr indent="0" marL="0">
              <a:buNone/>
            </a:pPr>
            <a:r>
              <a:rPr lang="en-US" sz="1000" b="1" spc="140" kern="0" dirty="0">
                <a:solidFill>
                  <a:srgbClr val="7A6BD6"/>
                </a:solidFill>
                <a:latin typeface="Calibri" pitchFamily="34" charset="0"/>
                <a:ea typeface="Calibri" pitchFamily="34" charset="-122"/>
                <a:cs typeface="Calibri" pitchFamily="34" charset="-120"/>
              </a:rPr>
              <a:t>SDN CONTROLLER  ·  CONTROL PLANE</a:t>
            </a:r>
            <a:endParaRPr lang="en-US" sz="1000" dirty="0"/>
          </a:p>
        </p:txBody>
      </p:sp>
      <p:sp>
        <p:nvSpPr>
          <p:cNvPr id="6" name="Shape 4"/>
          <p:cNvSpPr/>
          <p:nvPr/>
        </p:nvSpPr>
        <p:spPr>
          <a:xfrm>
            <a:off x="777240" y="1755648"/>
            <a:ext cx="2103120" cy="1143000"/>
          </a:xfrm>
          <a:prstGeom prst="roundRect">
            <a:avLst>
              <a:gd name="adj" fmla="val 6400"/>
            </a:avLst>
          </a:prstGeom>
          <a:solidFill>
            <a:srgbClr val="312A5C"/>
          </a:solidFill>
          <a:ln w="12700">
            <a:solidFill>
              <a:srgbClr val="7A6BD6"/>
            </a:solidFill>
            <a:prstDash val="solid"/>
          </a:ln>
        </p:spPr>
      </p:sp>
      <p:sp>
        <p:nvSpPr>
          <p:cNvPr id="7" name="Text 5"/>
          <p:cNvSpPr/>
          <p:nvPr/>
        </p:nvSpPr>
        <p:spPr>
          <a:xfrm>
            <a:off x="850392" y="1755648"/>
            <a:ext cx="1956816" cy="1143000"/>
          </a:xfrm>
          <a:prstGeom prst="rect">
            <a:avLst/>
          </a:prstGeom>
          <a:noFill/>
          <a:ln/>
        </p:spPr>
        <p:txBody>
          <a:bodyPr wrap="square" lIns="0" tIns="0" rIns="0" bIns="0" rtlCol="0" anchor="ctr"/>
          <a:lstStyle/>
          <a:p>
            <a:pPr algn="ctr" indent="0" marL="0">
              <a:lnSpc>
                <a:spcPct val="100000"/>
              </a:lnSpc>
              <a:buNone/>
            </a:pPr>
            <a:r>
              <a:rPr lang="en-US" sz="1150" b="1" dirty="0">
                <a:solidFill>
                  <a:srgbClr val="FFFFFF"/>
                </a:solidFill>
                <a:latin typeface="Calibri" pitchFamily="34" charset="0"/>
                <a:ea typeface="Calibri" pitchFamily="34" charset="-122"/>
                <a:cs typeface="Calibri" pitchFamily="34" charset="-120"/>
              </a:rPr>
              <a:t>Monitoring &amp;</a:t>
            </a:r>
            <a:endParaRPr lang="en-US" sz="1150" dirty="0"/>
          </a:p>
          <a:p>
            <a:pPr algn="ctr" indent="0" marL="0">
              <a:lnSpc>
                <a:spcPct val="100000"/>
              </a:lnSpc>
              <a:buNone/>
            </a:pPr>
            <a:r>
              <a:rPr lang="en-US" sz="1150" b="1" dirty="0">
                <a:solidFill>
                  <a:srgbClr val="FFFFFF"/>
                </a:solidFill>
                <a:latin typeface="Calibri" pitchFamily="34" charset="0"/>
                <a:ea typeface="Calibri" pitchFamily="34" charset="-122"/>
                <a:cs typeface="Calibri" pitchFamily="34" charset="-120"/>
              </a:rPr>
              <a:t>Statistics</a:t>
            </a:r>
            <a:endParaRPr lang="en-US" sz="1150" dirty="0"/>
          </a:p>
          <a:p>
            <a:pPr algn="ctr" indent="0" marL="0">
              <a:lnSpc>
                <a:spcPct val="100000"/>
              </a:lnSpc>
              <a:buNone/>
            </a:pPr>
            <a:r>
              <a:rPr lang="en-US" sz="950" dirty="0">
                <a:solidFill>
                  <a:srgbClr val="E6E2F6"/>
                </a:solidFill>
                <a:latin typeface="Calibri" pitchFamily="34" charset="0"/>
                <a:ea typeface="Calibri" pitchFamily="34" charset="-122"/>
                <a:cs typeface="Calibri" pitchFamily="34" charset="-120"/>
              </a:rPr>
              <a:t>port / flow counters,</a:t>
            </a:r>
            <a:endParaRPr lang="en-US" sz="1150" dirty="0"/>
          </a:p>
          <a:p>
            <a:pPr algn="ctr" indent="0" marL="0">
              <a:lnSpc>
                <a:spcPct val="100000"/>
              </a:lnSpc>
              <a:buNone/>
            </a:pPr>
            <a:r>
              <a:rPr lang="en-US" sz="950" dirty="0">
                <a:solidFill>
                  <a:srgbClr val="E6E2F6"/>
                </a:solidFill>
                <a:latin typeface="Calibri" pitchFamily="34" charset="0"/>
                <a:ea typeface="Calibri" pitchFamily="34" charset="-122"/>
                <a:cs typeface="Calibri" pitchFamily="34" charset="-120"/>
              </a:rPr>
              <a:t>delay, jitter, loss</a:t>
            </a:r>
            <a:endParaRPr lang="en-US" sz="1150" dirty="0"/>
          </a:p>
        </p:txBody>
      </p:sp>
      <p:sp>
        <p:nvSpPr>
          <p:cNvPr id="8" name="Shape 6"/>
          <p:cNvSpPr/>
          <p:nvPr/>
        </p:nvSpPr>
        <p:spPr>
          <a:xfrm>
            <a:off x="3108960" y="1755648"/>
            <a:ext cx="2103120" cy="1143000"/>
          </a:xfrm>
          <a:prstGeom prst="roundRect">
            <a:avLst>
              <a:gd name="adj" fmla="val 6400"/>
            </a:avLst>
          </a:prstGeom>
          <a:solidFill>
            <a:srgbClr val="4C3B9E"/>
          </a:solidFill>
          <a:ln w="12700">
            <a:solidFill>
              <a:srgbClr val="E8912B"/>
            </a:solidFill>
            <a:prstDash val="solid"/>
          </a:ln>
        </p:spPr>
      </p:sp>
      <p:sp>
        <p:nvSpPr>
          <p:cNvPr id="9" name="Text 7"/>
          <p:cNvSpPr/>
          <p:nvPr/>
        </p:nvSpPr>
        <p:spPr>
          <a:xfrm>
            <a:off x="3182112" y="1755648"/>
            <a:ext cx="1956816" cy="1143000"/>
          </a:xfrm>
          <a:prstGeom prst="rect">
            <a:avLst/>
          </a:prstGeom>
          <a:noFill/>
          <a:ln/>
        </p:spPr>
        <p:txBody>
          <a:bodyPr wrap="square" lIns="0" tIns="0" rIns="0" bIns="0" rtlCol="0" anchor="ctr"/>
          <a:lstStyle/>
          <a:p>
            <a:pPr algn="ctr" indent="0" marL="0">
              <a:lnSpc>
                <a:spcPct val="100000"/>
              </a:lnSpc>
              <a:buNone/>
            </a:pPr>
            <a:r>
              <a:rPr lang="en-US" sz="1150" b="1" dirty="0">
                <a:solidFill>
                  <a:srgbClr val="FFFFFF"/>
                </a:solidFill>
                <a:latin typeface="Calibri" pitchFamily="34" charset="0"/>
                <a:ea typeface="Calibri" pitchFamily="34" charset="-122"/>
                <a:cs typeface="Calibri" pitchFamily="34" charset="-120"/>
              </a:rPr>
              <a:t>QoS Decision</a:t>
            </a:r>
            <a:endParaRPr lang="en-US" sz="1150" dirty="0"/>
          </a:p>
          <a:p>
            <a:pPr algn="ctr" indent="0" marL="0">
              <a:lnSpc>
                <a:spcPct val="100000"/>
              </a:lnSpc>
              <a:buNone/>
            </a:pPr>
            <a:r>
              <a:rPr lang="en-US" sz="1150" b="1" dirty="0">
                <a:solidFill>
                  <a:srgbClr val="FFFFFF"/>
                </a:solidFill>
                <a:latin typeface="Calibri" pitchFamily="34" charset="0"/>
                <a:ea typeface="Calibri" pitchFamily="34" charset="-122"/>
                <a:cs typeface="Calibri" pitchFamily="34" charset="-120"/>
              </a:rPr>
              <a:t>Module</a:t>
            </a:r>
            <a:endParaRPr lang="en-US" sz="1150" dirty="0"/>
          </a:p>
          <a:p>
            <a:pPr algn="ctr" indent="0" marL="0">
              <a:lnSpc>
                <a:spcPct val="100000"/>
              </a:lnSpc>
              <a:buNone/>
            </a:pPr>
            <a:r>
              <a:rPr lang="en-US" sz="950" dirty="0">
                <a:solidFill>
                  <a:srgbClr val="E6E2F6"/>
                </a:solidFill>
                <a:latin typeface="Calibri" pitchFamily="34" charset="0"/>
                <a:ea typeface="Calibri" pitchFamily="34" charset="-122"/>
                <a:cs typeface="Calibri" pitchFamily="34" charset="-120"/>
              </a:rPr>
              <a:t>detect congestion,</a:t>
            </a:r>
            <a:endParaRPr lang="en-US" sz="1150" dirty="0"/>
          </a:p>
          <a:p>
            <a:pPr algn="ctr" indent="0" marL="0">
              <a:lnSpc>
                <a:spcPct val="100000"/>
              </a:lnSpc>
              <a:buNone/>
            </a:pPr>
            <a:r>
              <a:rPr lang="en-US" sz="950" dirty="0">
                <a:solidFill>
                  <a:srgbClr val="E6E2F6"/>
                </a:solidFill>
                <a:latin typeface="Calibri" pitchFamily="34" charset="0"/>
                <a:ea typeface="Calibri" pitchFamily="34" charset="-122"/>
                <a:cs typeface="Calibri" pitchFamily="34" charset="-120"/>
              </a:rPr>
              <a:t>choose path &amp; queue</a:t>
            </a:r>
            <a:endParaRPr lang="en-US" sz="1150" dirty="0"/>
          </a:p>
        </p:txBody>
      </p:sp>
      <p:sp>
        <p:nvSpPr>
          <p:cNvPr id="10" name="Shape 8"/>
          <p:cNvSpPr/>
          <p:nvPr/>
        </p:nvSpPr>
        <p:spPr>
          <a:xfrm>
            <a:off x="5440680" y="1755648"/>
            <a:ext cx="2103120" cy="1143000"/>
          </a:xfrm>
          <a:prstGeom prst="roundRect">
            <a:avLst>
              <a:gd name="adj" fmla="val 6400"/>
            </a:avLst>
          </a:prstGeom>
          <a:solidFill>
            <a:srgbClr val="312A5C"/>
          </a:solidFill>
          <a:ln w="12700">
            <a:solidFill>
              <a:srgbClr val="7A6BD6"/>
            </a:solidFill>
            <a:prstDash val="solid"/>
          </a:ln>
        </p:spPr>
      </p:sp>
      <p:sp>
        <p:nvSpPr>
          <p:cNvPr id="11" name="Text 9"/>
          <p:cNvSpPr/>
          <p:nvPr/>
        </p:nvSpPr>
        <p:spPr>
          <a:xfrm>
            <a:off x="5513832" y="1755648"/>
            <a:ext cx="1956816" cy="1143000"/>
          </a:xfrm>
          <a:prstGeom prst="rect">
            <a:avLst/>
          </a:prstGeom>
          <a:noFill/>
          <a:ln/>
        </p:spPr>
        <p:txBody>
          <a:bodyPr wrap="square" lIns="0" tIns="0" rIns="0" bIns="0" rtlCol="0" anchor="ctr"/>
          <a:lstStyle/>
          <a:p>
            <a:pPr algn="ctr" indent="0" marL="0">
              <a:lnSpc>
                <a:spcPct val="100000"/>
              </a:lnSpc>
              <a:buNone/>
            </a:pPr>
            <a:r>
              <a:rPr lang="en-US" sz="1150" b="1" dirty="0">
                <a:solidFill>
                  <a:srgbClr val="FFFFFF"/>
                </a:solidFill>
                <a:latin typeface="Calibri" pitchFamily="34" charset="0"/>
                <a:ea typeface="Calibri" pitchFamily="34" charset="-122"/>
                <a:cs typeface="Calibri" pitchFamily="34" charset="-120"/>
              </a:rPr>
              <a:t>Flow Rule</a:t>
            </a:r>
            <a:endParaRPr lang="en-US" sz="1150" dirty="0"/>
          </a:p>
          <a:p>
            <a:pPr algn="ctr" indent="0" marL="0">
              <a:lnSpc>
                <a:spcPct val="100000"/>
              </a:lnSpc>
              <a:buNone/>
            </a:pPr>
            <a:r>
              <a:rPr lang="en-US" sz="1150" b="1" dirty="0">
                <a:solidFill>
                  <a:srgbClr val="FFFFFF"/>
                </a:solidFill>
                <a:latin typeface="Calibri" pitchFamily="34" charset="0"/>
                <a:ea typeface="Calibri" pitchFamily="34" charset="-122"/>
                <a:cs typeface="Calibri" pitchFamily="34" charset="-120"/>
              </a:rPr>
              <a:t>Enforcement</a:t>
            </a:r>
            <a:endParaRPr lang="en-US" sz="1150" dirty="0"/>
          </a:p>
          <a:p>
            <a:pPr algn="ctr" indent="0" marL="0">
              <a:lnSpc>
                <a:spcPct val="100000"/>
              </a:lnSpc>
              <a:buNone/>
            </a:pPr>
            <a:r>
              <a:rPr lang="en-US" sz="950" dirty="0">
                <a:solidFill>
                  <a:srgbClr val="E6E2F6"/>
                </a:solidFill>
                <a:latin typeface="Calibri" pitchFamily="34" charset="0"/>
                <a:ea typeface="Calibri" pitchFamily="34" charset="-122"/>
                <a:cs typeface="Calibri" pitchFamily="34" charset="-120"/>
              </a:rPr>
              <a:t>install / update</a:t>
            </a:r>
            <a:endParaRPr lang="en-US" sz="1150" dirty="0"/>
          </a:p>
          <a:p>
            <a:pPr algn="ctr" indent="0" marL="0">
              <a:lnSpc>
                <a:spcPct val="100000"/>
              </a:lnSpc>
              <a:buNone/>
            </a:pPr>
            <a:r>
              <a:rPr lang="en-US" sz="950" dirty="0">
                <a:solidFill>
                  <a:srgbClr val="E6E2F6"/>
                </a:solidFill>
                <a:latin typeface="Calibri" pitchFamily="34" charset="0"/>
                <a:ea typeface="Calibri" pitchFamily="34" charset="-122"/>
                <a:cs typeface="Calibri" pitchFamily="34" charset="-120"/>
              </a:rPr>
              <a:t>OpenFlow rules</a:t>
            </a:r>
            <a:endParaRPr lang="en-US" sz="1150" dirty="0"/>
          </a:p>
        </p:txBody>
      </p:sp>
      <p:sp>
        <p:nvSpPr>
          <p:cNvPr id="12" name="Shape 10"/>
          <p:cNvSpPr/>
          <p:nvPr/>
        </p:nvSpPr>
        <p:spPr>
          <a:xfrm>
            <a:off x="2011680" y="3063240"/>
            <a:ext cx="0" cy="685800"/>
          </a:xfrm>
          <a:prstGeom prst="line">
            <a:avLst/>
          </a:prstGeom>
          <a:noFill/>
          <a:ln w="25400">
            <a:solidFill>
              <a:srgbClr val="E8912B"/>
            </a:solidFill>
            <a:prstDash val="solid"/>
            <a:tailEnd type="triangle"/>
          </a:ln>
        </p:spPr>
      </p:sp>
      <p:sp>
        <p:nvSpPr>
          <p:cNvPr id="13" name="Text 11"/>
          <p:cNvSpPr/>
          <p:nvPr/>
        </p:nvSpPr>
        <p:spPr>
          <a:xfrm>
            <a:off x="2121408" y="3200400"/>
            <a:ext cx="1280160" cy="256032"/>
          </a:xfrm>
          <a:prstGeom prst="rect">
            <a:avLst/>
          </a:prstGeom>
          <a:noFill/>
          <a:ln/>
        </p:spPr>
        <p:txBody>
          <a:bodyPr wrap="square" lIns="0" tIns="0" rIns="0" bIns="0" rtlCol="0" anchor="ctr"/>
          <a:lstStyle/>
          <a:p>
            <a:pPr indent="0" marL="0">
              <a:buNone/>
            </a:pPr>
            <a:r>
              <a:rPr lang="en-US" sz="950" i="1" dirty="0">
                <a:solidFill>
                  <a:srgbClr val="E8912B"/>
                </a:solidFill>
                <a:latin typeface="Calibri" pitchFamily="34" charset="0"/>
                <a:ea typeface="Calibri" pitchFamily="34" charset="-122"/>
                <a:cs typeface="Calibri" pitchFamily="34" charset="-120"/>
              </a:rPr>
              <a:t>flow rules</a:t>
            </a:r>
            <a:endParaRPr lang="en-US" sz="950" dirty="0"/>
          </a:p>
        </p:txBody>
      </p:sp>
      <p:sp>
        <p:nvSpPr>
          <p:cNvPr id="14" name="Shape 12"/>
          <p:cNvSpPr/>
          <p:nvPr/>
        </p:nvSpPr>
        <p:spPr>
          <a:xfrm>
            <a:off x="6035040" y="3063240"/>
            <a:ext cx="0" cy="685800"/>
          </a:xfrm>
          <a:prstGeom prst="line">
            <a:avLst/>
          </a:prstGeom>
          <a:noFill/>
          <a:ln w="25400">
            <a:solidFill>
              <a:srgbClr val="17A98F"/>
            </a:solidFill>
            <a:prstDash val="solid"/>
            <a:headEnd type="triangle"/>
          </a:ln>
        </p:spPr>
      </p:sp>
      <p:sp>
        <p:nvSpPr>
          <p:cNvPr id="15" name="Text 13"/>
          <p:cNvSpPr/>
          <p:nvPr/>
        </p:nvSpPr>
        <p:spPr>
          <a:xfrm>
            <a:off x="4937760" y="3200400"/>
            <a:ext cx="1005840" cy="256032"/>
          </a:xfrm>
          <a:prstGeom prst="rect">
            <a:avLst/>
          </a:prstGeom>
          <a:noFill/>
          <a:ln/>
        </p:spPr>
        <p:txBody>
          <a:bodyPr wrap="square" lIns="0" tIns="0" rIns="0" bIns="0" rtlCol="0" anchor="ctr"/>
          <a:lstStyle/>
          <a:p>
            <a:pPr algn="r" indent="0" marL="0">
              <a:buNone/>
            </a:pPr>
            <a:r>
              <a:rPr lang="en-US" sz="950" i="1" dirty="0">
                <a:solidFill>
                  <a:srgbClr val="17A98F"/>
                </a:solidFill>
                <a:latin typeface="Calibri" pitchFamily="34" charset="0"/>
                <a:ea typeface="Calibri" pitchFamily="34" charset="-122"/>
                <a:cs typeface="Calibri" pitchFamily="34" charset="-120"/>
              </a:rPr>
              <a:t>statistics</a:t>
            </a:r>
            <a:endParaRPr lang="en-US" sz="950" dirty="0"/>
          </a:p>
        </p:txBody>
      </p:sp>
      <p:sp>
        <p:nvSpPr>
          <p:cNvPr id="16" name="Shape 14"/>
          <p:cNvSpPr/>
          <p:nvPr/>
        </p:nvSpPr>
        <p:spPr>
          <a:xfrm>
            <a:off x="548640" y="3794760"/>
            <a:ext cx="7132320" cy="1691640"/>
          </a:xfrm>
          <a:prstGeom prst="roundRect">
            <a:avLst>
              <a:gd name="adj" fmla="val 5405"/>
            </a:avLst>
          </a:prstGeom>
          <a:solidFill>
            <a:srgbClr val="1F1A3E"/>
          </a:solidFill>
          <a:ln w="15875">
            <a:solidFill>
              <a:srgbClr val="7A6BD6"/>
            </a:solidFill>
            <a:prstDash val="solid"/>
          </a:ln>
        </p:spPr>
      </p:sp>
      <p:sp>
        <p:nvSpPr>
          <p:cNvPr id="17" name="Text 15"/>
          <p:cNvSpPr/>
          <p:nvPr/>
        </p:nvSpPr>
        <p:spPr>
          <a:xfrm>
            <a:off x="777240" y="3886200"/>
            <a:ext cx="6675120" cy="274320"/>
          </a:xfrm>
          <a:prstGeom prst="rect">
            <a:avLst/>
          </a:prstGeom>
          <a:noFill/>
          <a:ln/>
        </p:spPr>
        <p:txBody>
          <a:bodyPr wrap="square" lIns="0" tIns="0" rIns="0" bIns="0" rtlCol="0" anchor="ctr"/>
          <a:lstStyle/>
          <a:p>
            <a:pPr indent="0" marL="0">
              <a:buNone/>
            </a:pPr>
            <a:r>
              <a:rPr lang="en-US" sz="1000" b="1" spc="140" kern="0" dirty="0">
                <a:solidFill>
                  <a:srgbClr val="7A6BD6"/>
                </a:solidFill>
                <a:latin typeface="Calibri" pitchFamily="34" charset="0"/>
                <a:ea typeface="Calibri" pitchFamily="34" charset="-122"/>
                <a:cs typeface="Calibri" pitchFamily="34" charset="-120"/>
              </a:rPr>
              <a:t>DATA PLANE  ·  OPENFLOW SWITCHES</a:t>
            </a:r>
            <a:endParaRPr lang="en-US" sz="1000" dirty="0"/>
          </a:p>
        </p:txBody>
      </p:sp>
      <p:sp>
        <p:nvSpPr>
          <p:cNvPr id="18" name="Shape 16"/>
          <p:cNvSpPr/>
          <p:nvPr/>
        </p:nvSpPr>
        <p:spPr>
          <a:xfrm>
            <a:off x="777240" y="4279392"/>
            <a:ext cx="1280160" cy="868680"/>
          </a:xfrm>
          <a:prstGeom prst="roundRect">
            <a:avLst>
              <a:gd name="adj" fmla="val 8421"/>
            </a:avLst>
          </a:prstGeom>
          <a:solidFill>
            <a:srgbClr val="241E45"/>
          </a:solidFill>
          <a:ln w="19050">
            <a:solidFill>
              <a:srgbClr val="E8912B"/>
            </a:solidFill>
            <a:prstDash val="solid"/>
          </a:ln>
        </p:spPr>
      </p:sp>
      <p:sp>
        <p:nvSpPr>
          <p:cNvPr id="19" name="Text 17"/>
          <p:cNvSpPr/>
          <p:nvPr/>
        </p:nvSpPr>
        <p:spPr>
          <a:xfrm>
            <a:off x="777240" y="4279392"/>
            <a:ext cx="1280160" cy="868680"/>
          </a:xfrm>
          <a:prstGeom prst="rect">
            <a:avLst/>
          </a:prstGeom>
          <a:noFill/>
          <a:ln/>
        </p:spPr>
        <p:txBody>
          <a:bodyPr wrap="square" lIns="0" tIns="0" rIns="0" bIns="0" rtlCol="0" anchor="ctr"/>
          <a:lstStyle/>
          <a:p>
            <a:pPr algn="ctr" indent="0" marL="0">
              <a:lnSpc>
                <a:spcPct val="95000"/>
              </a:lnSpc>
              <a:buNone/>
            </a:pPr>
            <a:r>
              <a:rPr lang="en-US" sz="1050" b="1" dirty="0">
                <a:solidFill>
                  <a:srgbClr val="E8912B"/>
                </a:solidFill>
                <a:latin typeface="Calibri" pitchFamily="34" charset="0"/>
                <a:ea typeface="Calibri" pitchFamily="34" charset="-122"/>
                <a:cs typeface="Calibri" pitchFamily="34" charset="-120"/>
              </a:rPr>
              <a:t>Video</a:t>
            </a:r>
            <a:endParaRPr lang="en-US" sz="1050" dirty="0"/>
          </a:p>
          <a:p>
            <a:pPr algn="ctr" indent="0" marL="0">
              <a:lnSpc>
                <a:spcPct val="95000"/>
              </a:lnSpc>
              <a:buNone/>
            </a:pPr>
            <a:r>
              <a:rPr lang="en-US" sz="1050" b="1" dirty="0">
                <a:solidFill>
                  <a:srgbClr val="E8912B"/>
                </a:solidFill>
                <a:latin typeface="Calibri" pitchFamily="34" charset="0"/>
                <a:ea typeface="Calibri" pitchFamily="34" charset="-122"/>
                <a:cs typeface="Calibri" pitchFamily="34" charset="-120"/>
              </a:rPr>
              <a:t>Clients</a:t>
            </a:r>
            <a:endParaRPr lang="en-US" sz="1050" dirty="0"/>
          </a:p>
        </p:txBody>
      </p:sp>
      <p:sp>
        <p:nvSpPr>
          <p:cNvPr id="20" name="Shape 18"/>
          <p:cNvSpPr/>
          <p:nvPr/>
        </p:nvSpPr>
        <p:spPr>
          <a:xfrm>
            <a:off x="2331720" y="4279392"/>
            <a:ext cx="1051560" cy="868680"/>
          </a:xfrm>
          <a:prstGeom prst="roundRect">
            <a:avLst>
              <a:gd name="adj" fmla="val 8421"/>
            </a:avLst>
          </a:prstGeom>
          <a:solidFill>
            <a:srgbClr val="312A5C"/>
          </a:solidFill>
          <a:ln w="12700">
            <a:solidFill>
              <a:srgbClr val="7A6BD6"/>
            </a:solidFill>
            <a:prstDash val="solid"/>
          </a:ln>
        </p:spPr>
      </p:sp>
      <p:sp>
        <p:nvSpPr>
          <p:cNvPr id="21" name="Text 19"/>
          <p:cNvSpPr/>
          <p:nvPr/>
        </p:nvSpPr>
        <p:spPr>
          <a:xfrm>
            <a:off x="2331720" y="4279392"/>
            <a:ext cx="1051560" cy="868680"/>
          </a:xfrm>
          <a:prstGeom prst="rect">
            <a:avLst/>
          </a:prstGeom>
          <a:noFill/>
          <a:ln/>
        </p:spPr>
        <p:txBody>
          <a:bodyPr wrap="square" lIns="0" tIns="0" rIns="0" bIns="0" rtlCol="0" anchor="ctr"/>
          <a:lstStyle/>
          <a:p>
            <a:pPr algn="ctr" indent="0" marL="0">
              <a:lnSpc>
                <a:spcPct val="95000"/>
              </a:lnSpc>
              <a:buNone/>
            </a:pPr>
            <a:r>
              <a:rPr lang="en-US" sz="1050" b="1" dirty="0">
                <a:solidFill>
                  <a:srgbClr val="FFFFFF"/>
                </a:solidFill>
                <a:latin typeface="Calibri" pitchFamily="34" charset="0"/>
                <a:ea typeface="Calibri" pitchFamily="34" charset="-122"/>
                <a:cs typeface="Calibri" pitchFamily="34" charset="-120"/>
              </a:rPr>
              <a:t>Switch</a:t>
            </a:r>
            <a:endParaRPr lang="en-US" sz="1050" dirty="0"/>
          </a:p>
        </p:txBody>
      </p:sp>
      <p:sp>
        <p:nvSpPr>
          <p:cNvPr id="22" name="Shape 20"/>
          <p:cNvSpPr/>
          <p:nvPr/>
        </p:nvSpPr>
        <p:spPr>
          <a:xfrm>
            <a:off x="3639312" y="4279392"/>
            <a:ext cx="1051560" cy="868680"/>
          </a:xfrm>
          <a:prstGeom prst="roundRect">
            <a:avLst>
              <a:gd name="adj" fmla="val 8421"/>
            </a:avLst>
          </a:prstGeom>
          <a:solidFill>
            <a:srgbClr val="312A5C"/>
          </a:solidFill>
          <a:ln w="12700">
            <a:solidFill>
              <a:srgbClr val="7A6BD6"/>
            </a:solidFill>
            <a:prstDash val="solid"/>
          </a:ln>
        </p:spPr>
      </p:sp>
      <p:sp>
        <p:nvSpPr>
          <p:cNvPr id="23" name="Text 21"/>
          <p:cNvSpPr/>
          <p:nvPr/>
        </p:nvSpPr>
        <p:spPr>
          <a:xfrm>
            <a:off x="3639312" y="4279392"/>
            <a:ext cx="1051560" cy="868680"/>
          </a:xfrm>
          <a:prstGeom prst="rect">
            <a:avLst/>
          </a:prstGeom>
          <a:noFill/>
          <a:ln/>
        </p:spPr>
        <p:txBody>
          <a:bodyPr wrap="square" lIns="0" tIns="0" rIns="0" bIns="0" rtlCol="0" anchor="ctr"/>
          <a:lstStyle/>
          <a:p>
            <a:pPr algn="ctr" indent="0" marL="0">
              <a:lnSpc>
                <a:spcPct val="95000"/>
              </a:lnSpc>
              <a:buNone/>
            </a:pPr>
            <a:r>
              <a:rPr lang="en-US" sz="1050" b="1" dirty="0">
                <a:solidFill>
                  <a:srgbClr val="FFFFFF"/>
                </a:solidFill>
                <a:latin typeface="Calibri" pitchFamily="34" charset="0"/>
                <a:ea typeface="Calibri" pitchFamily="34" charset="-122"/>
                <a:cs typeface="Calibri" pitchFamily="34" charset="-120"/>
              </a:rPr>
              <a:t>Switch</a:t>
            </a:r>
            <a:endParaRPr lang="en-US" sz="1050" dirty="0"/>
          </a:p>
        </p:txBody>
      </p:sp>
      <p:sp>
        <p:nvSpPr>
          <p:cNvPr id="24" name="Shape 22"/>
          <p:cNvSpPr/>
          <p:nvPr/>
        </p:nvSpPr>
        <p:spPr>
          <a:xfrm>
            <a:off x="4946904" y="4279392"/>
            <a:ext cx="1051560" cy="868680"/>
          </a:xfrm>
          <a:prstGeom prst="roundRect">
            <a:avLst>
              <a:gd name="adj" fmla="val 8421"/>
            </a:avLst>
          </a:prstGeom>
          <a:solidFill>
            <a:srgbClr val="312A5C"/>
          </a:solidFill>
          <a:ln w="12700">
            <a:solidFill>
              <a:srgbClr val="7A6BD6"/>
            </a:solidFill>
            <a:prstDash val="solid"/>
          </a:ln>
        </p:spPr>
      </p:sp>
      <p:sp>
        <p:nvSpPr>
          <p:cNvPr id="25" name="Text 23"/>
          <p:cNvSpPr/>
          <p:nvPr/>
        </p:nvSpPr>
        <p:spPr>
          <a:xfrm>
            <a:off x="4946904" y="4279392"/>
            <a:ext cx="1051560" cy="868680"/>
          </a:xfrm>
          <a:prstGeom prst="rect">
            <a:avLst/>
          </a:prstGeom>
          <a:noFill/>
          <a:ln/>
        </p:spPr>
        <p:txBody>
          <a:bodyPr wrap="square" lIns="0" tIns="0" rIns="0" bIns="0" rtlCol="0" anchor="ctr"/>
          <a:lstStyle/>
          <a:p>
            <a:pPr algn="ctr" indent="0" marL="0">
              <a:lnSpc>
                <a:spcPct val="95000"/>
              </a:lnSpc>
              <a:buNone/>
            </a:pPr>
            <a:r>
              <a:rPr lang="en-US" sz="1050" b="1" dirty="0">
                <a:solidFill>
                  <a:srgbClr val="FFFFFF"/>
                </a:solidFill>
                <a:latin typeface="Calibri" pitchFamily="34" charset="0"/>
                <a:ea typeface="Calibri" pitchFamily="34" charset="-122"/>
                <a:cs typeface="Calibri" pitchFamily="34" charset="-120"/>
              </a:rPr>
              <a:t>Switch</a:t>
            </a:r>
            <a:endParaRPr lang="en-US" sz="1050" dirty="0"/>
          </a:p>
        </p:txBody>
      </p:sp>
      <p:sp>
        <p:nvSpPr>
          <p:cNvPr id="26" name="Shape 24"/>
          <p:cNvSpPr/>
          <p:nvPr/>
        </p:nvSpPr>
        <p:spPr>
          <a:xfrm>
            <a:off x="6355080" y="4279392"/>
            <a:ext cx="1234440" cy="868680"/>
          </a:xfrm>
          <a:prstGeom prst="roundRect">
            <a:avLst>
              <a:gd name="adj" fmla="val 8421"/>
            </a:avLst>
          </a:prstGeom>
          <a:solidFill>
            <a:srgbClr val="241E45"/>
          </a:solidFill>
          <a:ln w="19050">
            <a:solidFill>
              <a:srgbClr val="17A98F"/>
            </a:solidFill>
            <a:prstDash val="solid"/>
          </a:ln>
        </p:spPr>
      </p:sp>
      <p:sp>
        <p:nvSpPr>
          <p:cNvPr id="27" name="Text 25"/>
          <p:cNvSpPr/>
          <p:nvPr/>
        </p:nvSpPr>
        <p:spPr>
          <a:xfrm>
            <a:off x="6355080" y="4279392"/>
            <a:ext cx="1234440" cy="868680"/>
          </a:xfrm>
          <a:prstGeom prst="rect">
            <a:avLst/>
          </a:prstGeom>
          <a:noFill/>
          <a:ln/>
        </p:spPr>
        <p:txBody>
          <a:bodyPr wrap="square" lIns="0" tIns="0" rIns="0" bIns="0" rtlCol="0" anchor="ctr"/>
          <a:lstStyle/>
          <a:p>
            <a:pPr algn="ctr" indent="0" marL="0">
              <a:lnSpc>
                <a:spcPct val="95000"/>
              </a:lnSpc>
              <a:buNone/>
            </a:pPr>
            <a:r>
              <a:rPr lang="en-US" sz="1050" b="1" dirty="0">
                <a:solidFill>
                  <a:srgbClr val="17A98F"/>
                </a:solidFill>
                <a:latin typeface="Calibri" pitchFamily="34" charset="0"/>
                <a:ea typeface="Calibri" pitchFamily="34" charset="-122"/>
                <a:cs typeface="Calibri" pitchFamily="34" charset="-120"/>
              </a:rPr>
              <a:t>Streaming</a:t>
            </a:r>
            <a:endParaRPr lang="en-US" sz="1050" dirty="0"/>
          </a:p>
          <a:p>
            <a:pPr algn="ctr" indent="0" marL="0">
              <a:lnSpc>
                <a:spcPct val="95000"/>
              </a:lnSpc>
              <a:buNone/>
            </a:pPr>
            <a:r>
              <a:rPr lang="en-US" sz="1050" b="1" dirty="0">
                <a:solidFill>
                  <a:srgbClr val="17A98F"/>
                </a:solidFill>
                <a:latin typeface="Calibri" pitchFamily="34" charset="0"/>
                <a:ea typeface="Calibri" pitchFamily="34" charset="-122"/>
                <a:cs typeface="Calibri" pitchFamily="34" charset="-120"/>
              </a:rPr>
              <a:t>Server</a:t>
            </a:r>
            <a:endParaRPr lang="en-US" sz="1050" dirty="0"/>
          </a:p>
        </p:txBody>
      </p:sp>
      <p:sp>
        <p:nvSpPr>
          <p:cNvPr id="28" name="Shape 26"/>
          <p:cNvSpPr/>
          <p:nvPr/>
        </p:nvSpPr>
        <p:spPr>
          <a:xfrm>
            <a:off x="2057400" y="4713732"/>
            <a:ext cx="274320" cy="0"/>
          </a:xfrm>
          <a:prstGeom prst="line">
            <a:avLst/>
          </a:prstGeom>
          <a:noFill/>
          <a:ln w="19050">
            <a:solidFill>
              <a:srgbClr val="E6E2F6">
                <a:alpha val="75000"/>
              </a:srgbClr>
            </a:solidFill>
            <a:prstDash val="solid"/>
          </a:ln>
        </p:spPr>
      </p:sp>
      <p:sp>
        <p:nvSpPr>
          <p:cNvPr id="29" name="Shape 27"/>
          <p:cNvSpPr/>
          <p:nvPr/>
        </p:nvSpPr>
        <p:spPr>
          <a:xfrm>
            <a:off x="3383280" y="4713732"/>
            <a:ext cx="256032" cy="0"/>
          </a:xfrm>
          <a:prstGeom prst="line">
            <a:avLst/>
          </a:prstGeom>
          <a:noFill/>
          <a:ln w="19050">
            <a:solidFill>
              <a:srgbClr val="E6E2F6">
                <a:alpha val="75000"/>
              </a:srgbClr>
            </a:solidFill>
            <a:prstDash val="solid"/>
          </a:ln>
        </p:spPr>
      </p:sp>
      <p:sp>
        <p:nvSpPr>
          <p:cNvPr id="30" name="Shape 28"/>
          <p:cNvSpPr/>
          <p:nvPr/>
        </p:nvSpPr>
        <p:spPr>
          <a:xfrm>
            <a:off x="4690872" y="4713732"/>
            <a:ext cx="256032" cy="0"/>
          </a:xfrm>
          <a:prstGeom prst="line">
            <a:avLst/>
          </a:prstGeom>
          <a:noFill/>
          <a:ln w="19050">
            <a:solidFill>
              <a:srgbClr val="E6E2F6">
                <a:alpha val="75000"/>
              </a:srgbClr>
            </a:solidFill>
            <a:prstDash val="solid"/>
          </a:ln>
        </p:spPr>
      </p:sp>
      <p:sp>
        <p:nvSpPr>
          <p:cNvPr id="31" name="Shape 29"/>
          <p:cNvSpPr/>
          <p:nvPr/>
        </p:nvSpPr>
        <p:spPr>
          <a:xfrm>
            <a:off x="5998464" y="4713732"/>
            <a:ext cx="356616" cy="0"/>
          </a:xfrm>
          <a:prstGeom prst="line">
            <a:avLst/>
          </a:prstGeom>
          <a:noFill/>
          <a:ln w="19050">
            <a:solidFill>
              <a:srgbClr val="E6E2F6">
                <a:alpha val="75000"/>
              </a:srgbClr>
            </a:solidFill>
            <a:prstDash val="solid"/>
          </a:ln>
        </p:spPr>
      </p:sp>
      <p:sp>
        <p:nvSpPr>
          <p:cNvPr id="32" name="Text 30"/>
          <p:cNvSpPr/>
          <p:nvPr/>
        </p:nvSpPr>
        <p:spPr>
          <a:xfrm>
            <a:off x="548640" y="5577840"/>
            <a:ext cx="7132320" cy="274320"/>
          </a:xfrm>
          <a:prstGeom prst="rect">
            <a:avLst/>
          </a:prstGeom>
          <a:noFill/>
          <a:ln/>
        </p:spPr>
        <p:txBody>
          <a:bodyPr wrap="square" lIns="0" tIns="0" rIns="0" bIns="0" rtlCol="0" anchor="ctr"/>
          <a:lstStyle/>
          <a:p>
            <a:pPr algn="ctr" indent="0" marL="0">
              <a:buNone/>
            </a:pPr>
            <a:r>
              <a:rPr lang="en-US" sz="1050" i="1" dirty="0">
                <a:solidFill>
                  <a:srgbClr val="E6E2F6"/>
                </a:solidFill>
                <a:latin typeface="Calibri" pitchFamily="34" charset="0"/>
                <a:ea typeface="Calibri" pitchFamily="34" charset="-122"/>
                <a:cs typeface="Calibri" pitchFamily="34" charset="-120"/>
              </a:rPr>
              <a:t>Video flows are classified, queued and routed by rules the controller writes while the stream is running.</a:t>
            </a:r>
            <a:endParaRPr lang="en-US" sz="1050" dirty="0"/>
          </a:p>
        </p:txBody>
      </p:sp>
      <p:sp>
        <p:nvSpPr>
          <p:cNvPr id="33" name="Shape 31"/>
          <p:cNvSpPr/>
          <p:nvPr/>
        </p:nvSpPr>
        <p:spPr>
          <a:xfrm>
            <a:off x="8001000" y="1325880"/>
            <a:ext cx="3611880" cy="1691640"/>
          </a:xfrm>
          <a:prstGeom prst="roundRect">
            <a:avLst>
              <a:gd name="adj" fmla="val 5405"/>
            </a:avLst>
          </a:prstGeom>
          <a:solidFill>
            <a:srgbClr val="241E45"/>
          </a:solidFill>
          <a:ln w="19050">
            <a:solidFill>
              <a:srgbClr val="17A98F"/>
            </a:solidFill>
            <a:prstDash val="solid"/>
          </a:ln>
        </p:spPr>
      </p:sp>
      <p:sp>
        <p:nvSpPr>
          <p:cNvPr id="34" name="Text 32"/>
          <p:cNvSpPr/>
          <p:nvPr/>
        </p:nvSpPr>
        <p:spPr>
          <a:xfrm>
            <a:off x="8211312" y="1444752"/>
            <a:ext cx="3200400" cy="274320"/>
          </a:xfrm>
          <a:prstGeom prst="rect">
            <a:avLst/>
          </a:prstGeom>
          <a:noFill/>
          <a:ln/>
        </p:spPr>
        <p:txBody>
          <a:bodyPr wrap="square" lIns="0" tIns="0" rIns="0" bIns="0" rtlCol="0" anchor="ctr"/>
          <a:lstStyle/>
          <a:p>
            <a:pPr indent="0" marL="0">
              <a:buNone/>
            </a:pPr>
            <a:r>
              <a:rPr lang="en-US" sz="1300" b="1" dirty="0">
                <a:solidFill>
                  <a:srgbClr val="17A98F"/>
                </a:solidFill>
                <a:latin typeface="Cambria" pitchFamily="34" charset="0"/>
                <a:ea typeface="Cambria" pitchFamily="34" charset="-122"/>
                <a:cs typeface="Cambria" pitchFamily="34" charset="-120"/>
              </a:rPr>
              <a:t>Expected outcome</a:t>
            </a:r>
            <a:endParaRPr lang="en-US" sz="1300" dirty="0"/>
          </a:p>
        </p:txBody>
      </p:sp>
      <p:sp>
        <p:nvSpPr>
          <p:cNvPr id="35" name="Text 33"/>
          <p:cNvSpPr/>
          <p:nvPr/>
        </p:nvSpPr>
        <p:spPr>
          <a:xfrm>
            <a:off x="8229600" y="1783080"/>
            <a:ext cx="3200400" cy="1170432"/>
          </a:xfrm>
          <a:prstGeom prst="rect">
            <a:avLst/>
          </a:prstGeom>
          <a:noFill/>
          <a:ln/>
        </p:spPr>
        <p:txBody>
          <a:bodyPr wrap="square" lIns="0" tIns="0" rIns="0" bIns="0" rtlCol="0" anchor="ctr"/>
          <a:lstStyle/>
          <a:p>
            <a:pPr marL="342900" indent="-342900">
              <a:lnSpc>
                <a:spcPct val="100000"/>
              </a:lnSpc>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Better bandwidth utilisation</a:t>
            </a:r>
            <a:endParaRPr lang="en-US" sz="1100" dirty="0"/>
          </a:p>
          <a:p>
            <a:pPr marL="342900" indent="-342900">
              <a:lnSpc>
                <a:spcPct val="100000"/>
              </a:lnSpc>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Lower latency, loss and jitter</a:t>
            </a:r>
            <a:endParaRPr lang="en-US" sz="1100" dirty="0"/>
          </a:p>
          <a:p>
            <a:pPr marL="342900" indent="-342900">
              <a:lnSpc>
                <a:spcPct val="100000"/>
              </a:lnSpc>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Fewer and shorter rebuffering events</a:t>
            </a:r>
            <a:endParaRPr lang="en-US" sz="1100" dirty="0"/>
          </a:p>
          <a:p>
            <a:pPr marL="342900" indent="-342900">
              <a:lnSpc>
                <a:spcPct val="100000"/>
              </a:lnSpc>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Higher, steadier video QoE</a:t>
            </a:r>
            <a:endParaRPr lang="en-US" sz="1100" dirty="0"/>
          </a:p>
        </p:txBody>
      </p:sp>
      <p:sp>
        <p:nvSpPr>
          <p:cNvPr id="36" name="Text 34"/>
          <p:cNvSpPr/>
          <p:nvPr/>
        </p:nvSpPr>
        <p:spPr>
          <a:xfrm>
            <a:off x="8211312" y="3246120"/>
            <a:ext cx="3383280" cy="292608"/>
          </a:xfrm>
          <a:prstGeom prst="rect">
            <a:avLst/>
          </a:prstGeom>
          <a:noFill/>
          <a:ln/>
        </p:spPr>
        <p:txBody>
          <a:bodyPr wrap="square" lIns="0" tIns="0" rIns="0" bIns="0" rtlCol="0" anchor="ctr"/>
          <a:lstStyle/>
          <a:p>
            <a:pPr indent="0" marL="0">
              <a:buNone/>
            </a:pPr>
            <a:r>
              <a:rPr lang="en-US" sz="1300" b="1" dirty="0">
                <a:solidFill>
                  <a:srgbClr val="E8912B"/>
                </a:solidFill>
                <a:latin typeface="Cambria" pitchFamily="34" charset="0"/>
                <a:ea typeface="Cambria" pitchFamily="34" charset="-122"/>
                <a:cs typeface="Cambria" pitchFamily="34" charset="-120"/>
              </a:rPr>
              <a:t>Key takeaways</a:t>
            </a:r>
            <a:endParaRPr lang="en-US" sz="1300" dirty="0"/>
          </a:p>
        </p:txBody>
      </p:sp>
      <p:sp>
        <p:nvSpPr>
          <p:cNvPr id="37" name="Shape 35"/>
          <p:cNvSpPr/>
          <p:nvPr/>
        </p:nvSpPr>
        <p:spPr>
          <a:xfrm>
            <a:off x="8211312" y="3648456"/>
            <a:ext cx="274320" cy="274320"/>
          </a:xfrm>
          <a:prstGeom prst="ellipse">
            <a:avLst/>
          </a:prstGeom>
          <a:solidFill>
            <a:srgbClr val="E8912B"/>
          </a:solidFill>
          <a:ln w="12700">
            <a:solidFill>
              <a:srgbClr val="E8912B"/>
            </a:solidFill>
            <a:prstDash val="solid"/>
          </a:ln>
        </p:spPr>
      </p:sp>
      <p:sp>
        <p:nvSpPr>
          <p:cNvPr id="38" name="Text 36"/>
          <p:cNvSpPr/>
          <p:nvPr/>
        </p:nvSpPr>
        <p:spPr>
          <a:xfrm>
            <a:off x="8211312" y="3648456"/>
            <a:ext cx="274320" cy="274320"/>
          </a:xfrm>
          <a:prstGeom prst="rect">
            <a:avLst/>
          </a:prstGeom>
          <a:noFill/>
          <a:ln/>
        </p:spPr>
        <p:txBody>
          <a:bodyPr wrap="square" lIns="0" tIns="0" rIns="0" bIns="0" rtlCol="0" anchor="ctr"/>
          <a:lstStyle/>
          <a:p>
            <a:pPr algn="ctr" indent="0" marL="0">
              <a:buNone/>
            </a:pPr>
            <a:r>
              <a:rPr lang="en-US" sz="1050" b="1" dirty="0">
                <a:solidFill>
                  <a:srgbClr val="1A1633"/>
                </a:solidFill>
                <a:latin typeface="Calibri" pitchFamily="34" charset="0"/>
                <a:ea typeface="Calibri" pitchFamily="34" charset="-122"/>
                <a:cs typeface="Calibri" pitchFamily="34" charset="-120"/>
              </a:rPr>
              <a:t>1</a:t>
            </a:r>
            <a:endParaRPr lang="en-US" sz="1050" dirty="0"/>
          </a:p>
        </p:txBody>
      </p:sp>
      <p:sp>
        <p:nvSpPr>
          <p:cNvPr id="39" name="Text 37"/>
          <p:cNvSpPr/>
          <p:nvPr/>
        </p:nvSpPr>
        <p:spPr>
          <a:xfrm>
            <a:off x="8595360" y="3611880"/>
            <a:ext cx="3017520" cy="777240"/>
          </a:xfrm>
          <a:prstGeom prst="rect">
            <a:avLst/>
          </a:prstGeom>
          <a:noFill/>
          <a:ln/>
        </p:spPr>
        <p:txBody>
          <a:bodyPr wrap="square" lIns="0" tIns="0" rIns="0" bIns="0" rtlCol="0" anchor="ctr"/>
          <a:lstStyle/>
          <a:p>
            <a:pPr indent="0" marL="0">
              <a:lnSpc>
                <a:spcPct val="100000"/>
              </a:lnSpc>
              <a:buNone/>
            </a:pPr>
            <a:r>
              <a:rPr lang="en-US" sz="1050" dirty="0">
                <a:solidFill>
                  <a:srgbClr val="FFFFFF"/>
                </a:solidFill>
                <a:latin typeface="Calibri" pitchFamily="34" charset="0"/>
                <a:ea typeface="Calibri" pitchFamily="34" charset="-122"/>
                <a:cs typeface="Calibri" pitchFamily="34" charset="-120"/>
              </a:rPr>
              <a:t>Video streaming exposes the limits of best-effort networking; QoS must be continuous, not configured once.</a:t>
            </a:r>
            <a:endParaRPr lang="en-US" sz="1050" dirty="0"/>
          </a:p>
        </p:txBody>
      </p:sp>
      <p:sp>
        <p:nvSpPr>
          <p:cNvPr id="40" name="Shape 38"/>
          <p:cNvSpPr/>
          <p:nvPr/>
        </p:nvSpPr>
        <p:spPr>
          <a:xfrm>
            <a:off x="8211312" y="4471416"/>
            <a:ext cx="274320" cy="274320"/>
          </a:xfrm>
          <a:prstGeom prst="ellipse">
            <a:avLst/>
          </a:prstGeom>
          <a:solidFill>
            <a:srgbClr val="E8912B"/>
          </a:solidFill>
          <a:ln w="12700">
            <a:solidFill>
              <a:srgbClr val="E8912B"/>
            </a:solidFill>
            <a:prstDash val="solid"/>
          </a:ln>
        </p:spPr>
      </p:sp>
      <p:sp>
        <p:nvSpPr>
          <p:cNvPr id="41" name="Text 39"/>
          <p:cNvSpPr/>
          <p:nvPr/>
        </p:nvSpPr>
        <p:spPr>
          <a:xfrm>
            <a:off x="8211312" y="4471416"/>
            <a:ext cx="274320" cy="274320"/>
          </a:xfrm>
          <a:prstGeom prst="rect">
            <a:avLst/>
          </a:prstGeom>
          <a:noFill/>
          <a:ln/>
        </p:spPr>
        <p:txBody>
          <a:bodyPr wrap="square" lIns="0" tIns="0" rIns="0" bIns="0" rtlCol="0" anchor="ctr"/>
          <a:lstStyle/>
          <a:p>
            <a:pPr algn="ctr" indent="0" marL="0">
              <a:buNone/>
            </a:pPr>
            <a:r>
              <a:rPr lang="en-US" sz="1050" b="1" dirty="0">
                <a:solidFill>
                  <a:srgbClr val="1A1633"/>
                </a:solidFill>
                <a:latin typeface="Calibri" pitchFamily="34" charset="0"/>
                <a:ea typeface="Calibri" pitchFamily="34" charset="-122"/>
                <a:cs typeface="Calibri" pitchFamily="34" charset="-120"/>
              </a:rPr>
              <a:t>2</a:t>
            </a:r>
            <a:endParaRPr lang="en-US" sz="1050" dirty="0"/>
          </a:p>
        </p:txBody>
      </p:sp>
      <p:sp>
        <p:nvSpPr>
          <p:cNvPr id="42" name="Text 40"/>
          <p:cNvSpPr/>
          <p:nvPr/>
        </p:nvSpPr>
        <p:spPr>
          <a:xfrm>
            <a:off x="8595360" y="4434840"/>
            <a:ext cx="3017520" cy="777240"/>
          </a:xfrm>
          <a:prstGeom prst="rect">
            <a:avLst/>
          </a:prstGeom>
          <a:noFill/>
          <a:ln/>
        </p:spPr>
        <p:txBody>
          <a:bodyPr wrap="square" lIns="0" tIns="0" rIns="0" bIns="0" rtlCol="0" anchor="ctr"/>
          <a:lstStyle/>
          <a:p>
            <a:pPr indent="0" marL="0">
              <a:lnSpc>
                <a:spcPct val="100000"/>
              </a:lnSpc>
              <a:buNone/>
            </a:pPr>
            <a:r>
              <a:rPr lang="en-US" sz="1050" dirty="0">
                <a:solidFill>
                  <a:srgbClr val="FFFFFF"/>
                </a:solidFill>
                <a:latin typeface="Calibri" pitchFamily="34" charset="0"/>
                <a:ea typeface="Calibri" pitchFamily="34" charset="-122"/>
                <a:cs typeface="Calibri" pitchFamily="34" charset="-120"/>
              </a:rPr>
              <a:t>SDN supplies exactly what was missing - a network-wide view plus programmable, per-flow enforcement.</a:t>
            </a:r>
            <a:endParaRPr lang="en-US" sz="1050" dirty="0"/>
          </a:p>
        </p:txBody>
      </p:sp>
      <p:sp>
        <p:nvSpPr>
          <p:cNvPr id="43" name="Shape 41"/>
          <p:cNvSpPr/>
          <p:nvPr/>
        </p:nvSpPr>
        <p:spPr>
          <a:xfrm>
            <a:off x="8211312" y="5294376"/>
            <a:ext cx="274320" cy="274320"/>
          </a:xfrm>
          <a:prstGeom prst="ellipse">
            <a:avLst/>
          </a:prstGeom>
          <a:solidFill>
            <a:srgbClr val="E8912B"/>
          </a:solidFill>
          <a:ln w="12700">
            <a:solidFill>
              <a:srgbClr val="E8912B"/>
            </a:solidFill>
            <a:prstDash val="solid"/>
          </a:ln>
        </p:spPr>
      </p:sp>
      <p:sp>
        <p:nvSpPr>
          <p:cNvPr id="44" name="Text 42"/>
          <p:cNvSpPr/>
          <p:nvPr/>
        </p:nvSpPr>
        <p:spPr>
          <a:xfrm>
            <a:off x="8211312" y="5294376"/>
            <a:ext cx="274320" cy="274320"/>
          </a:xfrm>
          <a:prstGeom prst="rect">
            <a:avLst/>
          </a:prstGeom>
          <a:noFill/>
          <a:ln/>
        </p:spPr>
        <p:txBody>
          <a:bodyPr wrap="square" lIns="0" tIns="0" rIns="0" bIns="0" rtlCol="0" anchor="ctr"/>
          <a:lstStyle/>
          <a:p>
            <a:pPr algn="ctr" indent="0" marL="0">
              <a:buNone/>
            </a:pPr>
            <a:r>
              <a:rPr lang="en-US" sz="1050" b="1" dirty="0">
                <a:solidFill>
                  <a:srgbClr val="1A1633"/>
                </a:solidFill>
                <a:latin typeface="Calibri" pitchFamily="34" charset="0"/>
                <a:ea typeface="Calibri" pitchFamily="34" charset="-122"/>
                <a:cs typeface="Calibri" pitchFamily="34" charset="-120"/>
              </a:rPr>
              <a:t>3</a:t>
            </a:r>
            <a:endParaRPr lang="en-US" sz="1050" dirty="0"/>
          </a:p>
        </p:txBody>
      </p:sp>
      <p:sp>
        <p:nvSpPr>
          <p:cNvPr id="45" name="Text 43"/>
          <p:cNvSpPr/>
          <p:nvPr/>
        </p:nvSpPr>
        <p:spPr>
          <a:xfrm>
            <a:off x="8595360" y="5257800"/>
            <a:ext cx="3017520" cy="777240"/>
          </a:xfrm>
          <a:prstGeom prst="rect">
            <a:avLst/>
          </a:prstGeom>
          <a:noFill/>
          <a:ln/>
        </p:spPr>
        <p:txBody>
          <a:bodyPr wrap="square" lIns="0" tIns="0" rIns="0" bIns="0" rtlCol="0" anchor="ctr"/>
          <a:lstStyle/>
          <a:p>
            <a:pPr indent="0" marL="0">
              <a:lnSpc>
                <a:spcPct val="100000"/>
              </a:lnSpc>
              <a:buNone/>
            </a:pPr>
            <a:r>
              <a:rPr lang="en-US" sz="1050" dirty="0">
                <a:solidFill>
                  <a:srgbClr val="FFFFFF"/>
                </a:solidFill>
                <a:latin typeface="Calibri" pitchFamily="34" charset="0"/>
                <a:ea typeface="Calibri" pitchFamily="34" charset="-122"/>
                <a:cs typeface="Calibri" pitchFamily="34" charset="-120"/>
              </a:rPr>
              <a:t>The open problem is intelligence and scale: mapping QoS to QoE and adapting fast without overloading the controller.</a:t>
            </a:r>
            <a:endParaRPr lang="en-US" sz="1050" dirty="0"/>
          </a:p>
        </p:txBody>
      </p:sp>
      <p:sp>
        <p:nvSpPr>
          <p:cNvPr id="46" name="Text 44"/>
          <p:cNvSpPr/>
          <p:nvPr/>
        </p:nvSpPr>
        <p:spPr>
          <a:xfrm>
            <a:off x="8001000" y="6053328"/>
            <a:ext cx="3611880" cy="274320"/>
          </a:xfrm>
          <a:prstGeom prst="rect">
            <a:avLst/>
          </a:prstGeom>
          <a:noFill/>
          <a:ln/>
        </p:spPr>
        <p:txBody>
          <a:bodyPr wrap="square" lIns="0" tIns="0" rIns="0" bIns="0" rtlCol="0" anchor="ctr"/>
          <a:lstStyle/>
          <a:p>
            <a:pPr indent="0" marL="0">
              <a:buNone/>
            </a:pPr>
            <a:r>
              <a:rPr lang="en-US" sz="900" i="1" dirty="0">
                <a:solidFill>
                  <a:srgbClr val="6C6885"/>
                </a:solidFill>
                <a:latin typeface="Calibri" pitchFamily="34" charset="0"/>
                <a:ea typeface="Calibri" pitchFamily="34" charset="-122"/>
                <a:cs typeface="Calibri" pitchFamily="34" charset="-120"/>
              </a:rPr>
              <a:t>Full reference list [1]-[6] on slides 5 and 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SDN-Based QoS Management for Video Streaming</dc:title>
  <dc:subject>PptxGenJS Presentation</dc:subject>
  <dc:creator>SDN Course</dc:creator>
  <cp:lastModifiedBy>SDN Course</cp:lastModifiedBy>
  <cp:revision>1</cp:revision>
  <dcterms:created xsi:type="dcterms:W3CDTF">2026-08-14T07:53:31Z</dcterms:created>
  <dcterms:modified xsi:type="dcterms:W3CDTF">2026-08-14T07:53:31Z</dcterms:modified>
</cp:coreProperties>
</file>