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MT Bold" charset="1" panose="02030802070405020303"/>
      <p:regular r:id="rId17"/>
    </p:embeddedFont>
    <p:embeddedFont>
      <p:font typeface="Beautifully Delicious Script" charset="1" panose="00000500000000000000"/>
      <p:regular r:id="rId18"/>
    </p:embeddedFont>
    <p:embeddedFont>
      <p:font typeface="Cormorant Garamond" charset="1" panose="00000500000000000000"/>
      <p:regular r:id="rId19"/>
    </p:embeddedFont>
    <p:embeddedFont>
      <p:font typeface="Roca Two Bold" charset="1" panose="00000800000000000000"/>
      <p:regular r:id="rId20"/>
    </p:embeddedFont>
    <p:embeddedFont>
      <p:font typeface="Times New Roman MT" charset="1" panose="02030502070405020303"/>
      <p:regular r:id="rId21"/>
    </p:embeddedFont>
    <p:embeddedFont>
      <p:font typeface="Beautifully Delicious Script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981926" cy="10287000"/>
          </a:xfrm>
          <a:custGeom>
            <a:avLst/>
            <a:gdLst/>
            <a:ahLst/>
            <a:cxnLst/>
            <a:rect r="r" b="b" t="t" l="l"/>
            <a:pathLst>
              <a:path h="10287000" w="3981926">
                <a:moveTo>
                  <a:pt x="0" y="0"/>
                </a:moveTo>
                <a:lnTo>
                  <a:pt x="3981926" y="0"/>
                </a:lnTo>
                <a:lnTo>
                  <a:pt x="39819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9058">
            <a:off x="11580599" y="-475280"/>
            <a:ext cx="10415786" cy="12060384"/>
          </a:xfrm>
          <a:custGeom>
            <a:avLst/>
            <a:gdLst/>
            <a:ahLst/>
            <a:cxnLst/>
            <a:rect r="r" b="b" t="t" l="l"/>
            <a:pathLst>
              <a:path h="12060384" w="10415786">
                <a:moveTo>
                  <a:pt x="0" y="0"/>
                </a:moveTo>
                <a:lnTo>
                  <a:pt x="10415786" y="0"/>
                </a:lnTo>
                <a:lnTo>
                  <a:pt x="10415786" y="12060384"/>
                </a:lnTo>
                <a:lnTo>
                  <a:pt x="0" y="12060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1" id="101"/>
          <p:cNvSpPr txBox="true"/>
          <p:nvPr/>
        </p:nvSpPr>
        <p:spPr>
          <a:xfrm rot="0">
            <a:off x="4350000" y="2080000"/>
            <a:ext cx="9550000" cy="6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800"/>
              </a:lnSpc>
              <a:buNone/>
            </a:pPr>
            <a:r>
              <a:rPr lang="en-US" sz="22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USE CASE REVIEW 2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4350000" y="2720000"/>
            <a:ext cx="9550000" cy="23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5800"/>
              </a:lnSpc>
              <a:buNone/>
            </a:pPr>
            <a:r>
              <a:rPr lang="en-US" sz="50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SDN-Based QoS Management</a:t>
            </a:r>
          </a:p>
          <a:p>
            <a:pPr algn="l">
              <a:lnSpc>
                <a:spcPts val="5800"/>
              </a:lnSpc>
              <a:buNone/>
            </a:pPr>
            <a:r>
              <a:rPr lang="en-US" sz="50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for Video Streaming</a:t>
            </a:r>
          </a:p>
        </p:txBody>
      </p:sp>
      <p:sp>
        <p:nvSpPr>
          <p:cNvPr name="Shape 103" id="103"/>
          <p:cNvSpPr/>
          <p:nvPr/>
        </p:nvSpPr>
        <p:spPr>
          <a:xfrm>
            <a:off x="4350000" y="5230000"/>
            <a:ext cx="3000000" cy="0"/>
          </a:xfrm>
          <a:prstGeom prst="line">
            <a:avLst/>
          </a:prstGeom>
          <a:noFill/>
          <a:ln w="1905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name="TextBox 104" id="104"/>
          <p:cNvSpPr txBox="true"/>
          <p:nvPr/>
        </p:nvSpPr>
        <p:spPr>
          <a:xfrm rot="0">
            <a:off x="4350000" y="5480000"/>
            <a:ext cx="955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Course: Software Defined Networks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4350000" y="6250000"/>
            <a:ext cx="9550000" cy="20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Presented by</a:t>
            </a:r>
          </a:p>
          <a:p>
            <a:pPr algn="l">
              <a:lnSpc>
                <a:spcPts val="3000"/>
              </a:lnSpc>
              <a:spcBef>
                <a:spcPts val="1400"/>
              </a:spcBef>
              <a:buNone/>
            </a:pPr>
            <a:r>
              <a:rPr lang="en-US" sz="2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Member 1 Name   |   Register Number</a:t>
            </a:r>
          </a:p>
          <a:p>
            <a:pPr algn="l">
              <a:lnSpc>
                <a:spcPts val="3000"/>
              </a:lnSpc>
              <a:spcBef>
                <a:spcPts val="600"/>
              </a:spcBef>
              <a:buNone/>
            </a:pPr>
            <a:r>
              <a:rPr lang="en-US" sz="2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Member 2 Name   |   Register Number</a:t>
            </a:r>
          </a:p>
          <a:p>
            <a:pPr algn="l">
              <a:lnSpc>
                <a:spcPts val="3000"/>
              </a:lnSpc>
              <a:spcBef>
                <a:spcPts val="600"/>
              </a:spcBef>
              <a:buNone/>
            </a:pPr>
            <a:r>
              <a:rPr lang="en-US" sz="2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Member 3 Name   |   Register Number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4350000" y="8500000"/>
            <a:ext cx="955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500"/>
              </a:lnSpc>
              <a:buNone/>
            </a:pPr>
            <a:r>
              <a:rPr lang="en-US" sz="1900">
                <a:solidFill>
                  <a:srgbClr val="55555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093067" y="-872901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9" y="0"/>
                </a:lnTo>
                <a:lnTo>
                  <a:pt x="10750099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itle" id="107"/>
          <p:cNvSpPr txBox="true"/>
          <p:nvPr/>
        </p:nvSpPr>
        <p:spPr>
          <a:xfrm rot="0">
            <a:off x="1028700" y="1300000"/>
            <a:ext cx="1060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5244"/>
              </a:lnSpc>
              <a:buNone/>
            </a:pPr>
            <a:r>
              <a:rPr lang="en-US" sz="46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Problem Statement</a:t>
            </a:r>
          </a:p>
        </p:txBody>
      </p:sp>
      <p:sp>
        <p:nvSpPr>
          <p:cNvPr name="SlideNumber" id="108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ctr">
              <a:lnSpc>
                <a:spcPts val="6400"/>
              </a:lnSpc>
              <a:buNone/>
            </a:pPr>
            <a:r>
              <a:rPr lang="en-US" sz="4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01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028700" y="2400000"/>
            <a:ext cx="10600000" cy="2885948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30000" indent="-330000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Video is played while it is still arriving, so any break is seen at once</a:t>
            </a:r>
          </a:p>
          <a:p>
            <a:pPr algn="l" marL="330000" indent="-330000">
              <a:lnSpc>
                <a:spcPts val="2990"/>
              </a:lnSpc>
              <a:spcBef>
                <a:spcPts val="1955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Internet is best-effort: no guarantee on delay, bandwidth or delivery</a:t>
            </a:r>
          </a:p>
          <a:p>
            <a:pPr algn="l" marL="330000" indent="-330000">
              <a:lnSpc>
                <a:spcPts val="2990"/>
              </a:lnSpc>
              <a:spcBef>
                <a:spcPts val="1955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When a link is congested, delay, jitter and packet loss all get worse</a:t>
            </a:r>
          </a:p>
          <a:p>
            <a:pPr algn="l" marL="330000" indent="-330000">
              <a:lnSpc>
                <a:spcPts val="2990"/>
              </a:lnSpc>
              <a:spcBef>
                <a:spcPts val="1955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Traditional QoS is set by hand and cannot follow changing traffic</a:t>
            </a:r>
          </a:p>
        </p:txBody>
      </p:sp>
      <p:sp>
        <p:nvSpPr>
          <p:cNvPr name="Shape 110" id="110"/>
          <p:cNvSpPr/>
          <p:nvPr/>
        </p:nvSpPr>
        <p:spPr>
          <a:xfrm>
            <a:off x="1028700" y="5150000"/>
            <a:ext cx="2250000" cy="85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562"/>
              </a:lnSpc>
              <a:buNone/>
            </a:pPr>
            <a:r>
              <a:rPr lang="en-US" sz="21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Delay</a:t>
            </a:r>
          </a:p>
        </p:txBody>
      </p:sp>
      <p:sp>
        <p:nvSpPr>
          <p:cNvPr name="Shape 111" id="111"/>
          <p:cNvSpPr/>
          <p:nvPr/>
        </p:nvSpPr>
        <p:spPr>
          <a:xfrm>
            <a:off x="3598700" y="5150000"/>
            <a:ext cx="2250000" cy="85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562"/>
              </a:lnSpc>
              <a:buNone/>
            </a:pPr>
            <a:r>
              <a:rPr lang="en-US" sz="21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Jitter</a:t>
            </a:r>
          </a:p>
        </p:txBody>
      </p:sp>
      <p:sp>
        <p:nvSpPr>
          <p:cNvPr name="Shape 112" id="112"/>
          <p:cNvSpPr/>
          <p:nvPr/>
        </p:nvSpPr>
        <p:spPr>
          <a:xfrm>
            <a:off x="6168700" y="5150000"/>
            <a:ext cx="2250000" cy="85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562"/>
              </a:lnSpc>
              <a:buNone/>
            </a:pPr>
            <a:r>
              <a:rPr lang="en-US" sz="21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Packet loss</a:t>
            </a:r>
          </a:p>
        </p:txBody>
      </p:sp>
      <p:sp>
        <p:nvSpPr>
          <p:cNvPr name="Shape 113" id="113"/>
          <p:cNvSpPr/>
          <p:nvPr/>
        </p:nvSpPr>
        <p:spPr>
          <a:xfrm>
            <a:off x="8738700" y="5150000"/>
            <a:ext cx="2250000" cy="85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562"/>
              </a:lnSpc>
              <a:buNone/>
            </a:pPr>
            <a:r>
              <a:rPr lang="en-US" sz="21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 throughput</a:t>
            </a:r>
          </a:p>
        </p:txBody>
      </p:sp>
      <p:sp>
        <p:nvSpPr>
          <p:cNvPr name="Shape 114" id="114"/>
          <p:cNvSpPr/>
          <p:nvPr/>
        </p:nvSpPr>
        <p:spPr>
          <a:xfrm>
            <a:off x="5600000" y="6220000"/>
            <a:ext cx="420000" cy="540000"/>
          </a:xfrm>
          <a:prstGeom prst="downArrow">
            <a:avLst/>
          </a:prstGeom>
          <a:solidFill>
            <a:srgbClr val="4A7BA7"/>
          </a:solidFill>
          <a:ln>
            <a:noFill/>
          </a:ln>
        </p:spPr>
        <p:txBody>
          <a:bodyPr/>
          <a:lstStyle/>
          <a:p/>
        </p:txBody>
      </p:sp>
      <p:sp>
        <p:nvSpPr>
          <p:cNvPr name="Shape 115" id="115"/>
          <p:cNvSpPr/>
          <p:nvPr/>
        </p:nvSpPr>
        <p:spPr>
          <a:xfrm>
            <a:off x="1028700" y="6940000"/>
            <a:ext cx="10030000" cy="880000"/>
          </a:xfrm>
          <a:prstGeom prst="rect">
            <a:avLst/>
          </a:prstGeom>
          <a:solidFill>
            <a:srgbClr val="E4ECF3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684"/>
              </a:lnSpc>
              <a:buNone/>
            </a:pPr>
            <a:r>
              <a:rPr lang="en-US" sz="22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the viewer sees:  buffering, freezing and poor picture quality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093067" y="-872901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9" y="0"/>
                </a:lnTo>
                <a:lnTo>
                  <a:pt x="10750099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itle" id="116"/>
          <p:cNvSpPr txBox="true"/>
          <p:nvPr/>
        </p:nvSpPr>
        <p:spPr>
          <a:xfrm rot="0">
            <a:off x="1028700" y="1300000"/>
            <a:ext cx="1060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5244"/>
              </a:lnSpc>
              <a:buNone/>
            </a:pPr>
            <a:r>
              <a:rPr lang="en-US" sz="46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Why SDN Fits This Problem</a:t>
            </a:r>
          </a:p>
        </p:txBody>
      </p:sp>
      <p:sp>
        <p:nvSpPr>
          <p:cNvPr name="SlideNumber" id="117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ctr">
              <a:lnSpc>
                <a:spcPts val="6400"/>
              </a:lnSpc>
              <a:buNone/>
            </a:pPr>
            <a:r>
              <a:rPr lang="en-US" sz="4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02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028700" y="2400000"/>
            <a:ext cx="10600000" cy="2164461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30000" indent="-330000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a normal network each switch decides alone and sees only its links</a:t>
            </a:r>
          </a:p>
          <a:p>
            <a:pPr algn="l" marL="330000" indent="-330000">
              <a:lnSpc>
                <a:spcPts val="2990"/>
              </a:lnSpc>
              <a:spcBef>
                <a:spcPts val="1955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SDN moves decision making out of the switches into one controller</a:t>
            </a:r>
          </a:p>
          <a:p>
            <a:pPr algn="l" marL="330000" indent="-330000">
              <a:lnSpc>
                <a:spcPts val="2990"/>
              </a:lnSpc>
              <a:spcBef>
                <a:spcPts val="1955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controller sees the whole network and acts while the video plays</a:t>
            </a:r>
          </a:p>
        </p:txBody>
      </p:sp>
      <p:sp>
        <p:nvSpPr>
          <p:cNvPr name="Shape 119" id="119"/>
          <p:cNvSpPr/>
          <p:nvPr/>
        </p:nvSpPr>
        <p:spPr>
          <a:xfrm>
            <a:off x="1028700" y="4600000"/>
            <a:ext cx="1430000" cy="10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074"/>
              </a:lnSpc>
              <a:buNone/>
            </a:pPr>
            <a:r>
              <a:rPr lang="en-US" sz="1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Video</a:t>
            </a:r>
          </a:p>
          <a:p>
            <a:pPr algn="ctr">
              <a:lnSpc>
                <a:spcPts val="2074"/>
              </a:lnSpc>
              <a:buNone/>
            </a:pPr>
            <a:r>
              <a:rPr lang="en-US" sz="1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Traffic</a:t>
            </a:r>
          </a:p>
        </p:txBody>
      </p:sp>
      <p:sp>
        <p:nvSpPr>
          <p:cNvPr name="Shape 120" id="120"/>
          <p:cNvSpPr/>
          <p:nvPr/>
        </p:nvSpPr>
        <p:spPr>
          <a:xfrm>
            <a:off x="2498700" y="5000000"/>
            <a:ext cx="210000" cy="280000"/>
          </a:xfrm>
          <a:prstGeom prst="rightArrow">
            <a:avLst/>
          </a:prstGeom>
          <a:solidFill>
            <a:srgbClr val="4A7BA7"/>
          </a:solidFill>
          <a:ln>
            <a:noFill/>
          </a:ln>
        </p:spPr>
        <p:txBody>
          <a:bodyPr/>
          <a:lstStyle/>
          <a:p/>
        </p:txBody>
      </p:sp>
      <p:sp>
        <p:nvSpPr>
          <p:cNvPr name="Shape 121" id="121"/>
          <p:cNvSpPr/>
          <p:nvPr/>
        </p:nvSpPr>
        <p:spPr>
          <a:xfrm>
            <a:off x="2748700" y="4600000"/>
            <a:ext cx="1430000" cy="10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074"/>
              </a:lnSpc>
              <a:buNone/>
            </a:pPr>
            <a:r>
              <a:rPr lang="en-US" sz="1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Network</a:t>
            </a:r>
          </a:p>
          <a:p>
            <a:pPr algn="ctr">
              <a:lnSpc>
                <a:spcPts val="2074"/>
              </a:lnSpc>
              <a:buNone/>
            </a:pPr>
            <a:r>
              <a:rPr lang="en-US" sz="1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Monitoring</a:t>
            </a:r>
          </a:p>
        </p:txBody>
      </p:sp>
      <p:sp>
        <p:nvSpPr>
          <p:cNvPr name="Shape 122" id="122"/>
          <p:cNvSpPr/>
          <p:nvPr/>
        </p:nvSpPr>
        <p:spPr>
          <a:xfrm>
            <a:off x="4218700" y="5000000"/>
            <a:ext cx="210000" cy="280000"/>
          </a:xfrm>
          <a:prstGeom prst="rightArrow">
            <a:avLst/>
          </a:prstGeom>
          <a:solidFill>
            <a:srgbClr val="4A7BA7"/>
          </a:solidFill>
          <a:ln>
            <a:noFill/>
          </a:ln>
        </p:spPr>
        <p:txBody>
          <a:bodyPr/>
          <a:lstStyle/>
          <a:p/>
        </p:txBody>
      </p:sp>
      <p:sp>
        <p:nvSpPr>
          <p:cNvPr name="Shape 123" id="123"/>
          <p:cNvSpPr/>
          <p:nvPr/>
        </p:nvSpPr>
        <p:spPr>
          <a:xfrm>
            <a:off x="4468700" y="4600000"/>
            <a:ext cx="1430000" cy="1080000"/>
          </a:xfrm>
          <a:prstGeom prst="rect">
            <a:avLst/>
          </a:prstGeom>
          <a:solidFill>
            <a:srgbClr val="E4ECF3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074"/>
              </a:lnSpc>
              <a:buNone/>
            </a:pPr>
            <a:r>
              <a:rPr lang="en-US" sz="17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SDN</a:t>
            </a:r>
          </a:p>
          <a:p>
            <a:pPr algn="ctr">
              <a:lnSpc>
                <a:spcPts val="2074"/>
              </a:lnSpc>
              <a:buNone/>
            </a:pPr>
            <a:r>
              <a:rPr lang="en-US" sz="17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Controller</a:t>
            </a:r>
          </a:p>
        </p:txBody>
      </p:sp>
      <p:sp>
        <p:nvSpPr>
          <p:cNvPr name="Shape 124" id="124"/>
          <p:cNvSpPr/>
          <p:nvPr/>
        </p:nvSpPr>
        <p:spPr>
          <a:xfrm>
            <a:off x="5938700" y="5000000"/>
            <a:ext cx="210000" cy="280000"/>
          </a:xfrm>
          <a:prstGeom prst="rightArrow">
            <a:avLst/>
          </a:prstGeom>
          <a:solidFill>
            <a:srgbClr val="4A7BA7"/>
          </a:solidFill>
          <a:ln>
            <a:noFill/>
          </a:ln>
        </p:spPr>
        <p:txBody>
          <a:bodyPr/>
          <a:lstStyle/>
          <a:p/>
        </p:txBody>
      </p:sp>
      <p:sp>
        <p:nvSpPr>
          <p:cNvPr name="Shape 125" id="125"/>
          <p:cNvSpPr/>
          <p:nvPr/>
        </p:nvSpPr>
        <p:spPr>
          <a:xfrm>
            <a:off x="6188700" y="4600000"/>
            <a:ext cx="1430000" cy="1080000"/>
          </a:xfrm>
          <a:prstGeom prst="rect">
            <a:avLst/>
          </a:prstGeom>
          <a:solidFill>
            <a:srgbClr val="E4ECF3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074"/>
              </a:lnSpc>
              <a:buNone/>
            </a:pPr>
            <a:r>
              <a:rPr lang="en-US" sz="17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QoS</a:t>
            </a:r>
          </a:p>
          <a:p>
            <a:pPr algn="ctr">
              <a:lnSpc>
                <a:spcPts val="2074"/>
              </a:lnSpc>
              <a:buNone/>
            </a:pPr>
            <a:r>
              <a:rPr lang="en-US" sz="17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Decision</a:t>
            </a:r>
          </a:p>
        </p:txBody>
      </p:sp>
      <p:sp>
        <p:nvSpPr>
          <p:cNvPr name="Shape 126" id="126"/>
          <p:cNvSpPr/>
          <p:nvPr/>
        </p:nvSpPr>
        <p:spPr>
          <a:xfrm>
            <a:off x="7658700" y="5000000"/>
            <a:ext cx="210000" cy="280000"/>
          </a:xfrm>
          <a:prstGeom prst="rightArrow">
            <a:avLst/>
          </a:prstGeom>
          <a:solidFill>
            <a:srgbClr val="4A7BA7"/>
          </a:solidFill>
          <a:ln>
            <a:noFill/>
          </a:ln>
        </p:spPr>
        <p:txBody>
          <a:bodyPr/>
          <a:lstStyle/>
          <a:p/>
        </p:txBody>
      </p:sp>
      <p:sp>
        <p:nvSpPr>
          <p:cNvPr name="Shape 127" id="127"/>
          <p:cNvSpPr/>
          <p:nvPr/>
        </p:nvSpPr>
        <p:spPr>
          <a:xfrm>
            <a:off x="7908700" y="4600000"/>
            <a:ext cx="1430000" cy="10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074"/>
              </a:lnSpc>
              <a:buNone/>
            </a:pPr>
            <a:r>
              <a:rPr lang="en-US" sz="1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Flow Rules</a:t>
            </a:r>
          </a:p>
          <a:p>
            <a:pPr algn="ctr">
              <a:lnSpc>
                <a:spcPts val="2074"/>
              </a:lnSpc>
              <a:buNone/>
            </a:pPr>
            <a:r>
              <a:rPr lang="en-US" sz="1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(OpenFlow)</a:t>
            </a:r>
          </a:p>
        </p:txBody>
      </p:sp>
      <p:sp>
        <p:nvSpPr>
          <p:cNvPr name="Shape 128" id="128"/>
          <p:cNvSpPr/>
          <p:nvPr/>
        </p:nvSpPr>
        <p:spPr>
          <a:xfrm>
            <a:off x="9378700" y="5000000"/>
            <a:ext cx="210000" cy="280000"/>
          </a:xfrm>
          <a:prstGeom prst="rightArrow">
            <a:avLst/>
          </a:prstGeom>
          <a:solidFill>
            <a:srgbClr val="4A7BA7"/>
          </a:solidFill>
          <a:ln>
            <a:noFill/>
          </a:ln>
        </p:spPr>
        <p:txBody>
          <a:bodyPr/>
          <a:lstStyle/>
          <a:p/>
        </p:txBody>
      </p:sp>
      <p:sp>
        <p:nvSpPr>
          <p:cNvPr name="Shape 129" id="129"/>
          <p:cNvSpPr/>
          <p:nvPr/>
        </p:nvSpPr>
        <p:spPr>
          <a:xfrm>
            <a:off x="9628700" y="4600000"/>
            <a:ext cx="1430000" cy="10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074"/>
              </a:lnSpc>
              <a:buNone/>
            </a:pPr>
            <a:r>
              <a:rPr lang="en-US" sz="1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Network</a:t>
            </a:r>
          </a:p>
          <a:p>
            <a:pPr algn="ctr">
              <a:lnSpc>
                <a:spcPts val="2074"/>
              </a:lnSpc>
              <a:buNone/>
            </a:pPr>
            <a:r>
              <a:rPr lang="en-US" sz="1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Switches</a:t>
            </a:r>
          </a:p>
        </p:txBody>
      </p:sp>
      <p:sp>
        <p:nvSpPr>
          <p:cNvPr name="Shape 130" id="130"/>
          <p:cNvSpPr/>
          <p:nvPr/>
        </p:nvSpPr>
        <p:spPr>
          <a:xfrm>
            <a:off x="10343700" y="5680000"/>
            <a:ext cx="0" cy="620000"/>
          </a:xfrm>
          <a:prstGeom prst="line">
            <a:avLst/>
          </a:prstGeom>
          <a:noFill/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name="Shape 131" id="131"/>
          <p:cNvSpPr/>
          <p:nvPr/>
        </p:nvSpPr>
        <p:spPr>
          <a:xfrm>
            <a:off x="3463700" y="6300000"/>
            <a:ext cx="6880000" cy="0"/>
          </a:xfrm>
          <a:prstGeom prst="line">
            <a:avLst/>
          </a:prstGeom>
          <a:noFill/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name="Shape 132" id="132"/>
          <p:cNvSpPr/>
          <p:nvPr/>
        </p:nvSpPr>
        <p:spPr>
          <a:xfrm>
            <a:off x="3323700" y="5910000"/>
            <a:ext cx="280000" cy="400000"/>
          </a:xfrm>
          <a:prstGeom prst="upArrow">
            <a:avLst/>
          </a:prstGeom>
          <a:solidFill>
            <a:srgbClr val="4A7BA7"/>
          </a:solidFill>
          <a:ln>
            <a:noFill/>
          </a:ln>
        </p:spPr>
        <p:txBody>
          <a:bodyPr/>
          <a:lstStyle/>
          <a:p/>
        </p:txBody>
      </p:sp>
      <p:sp>
        <p:nvSpPr>
          <p:cNvPr name="TextBox 133" id="133"/>
          <p:cNvSpPr txBox="true"/>
          <p:nvPr/>
        </p:nvSpPr>
        <p:spPr>
          <a:xfrm rot="0">
            <a:off x="3723700" y="6360000"/>
            <a:ext cx="720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500"/>
              </a:lnSpc>
              <a:buNone/>
            </a:pPr>
            <a:r>
              <a:rPr lang="en-US" sz="1900" i="true">
                <a:solidFill>
                  <a:srgbClr val="55555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loop repeats every few seconds, while the video plays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093067" y="-872901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9" y="0"/>
                </a:lnTo>
                <a:lnTo>
                  <a:pt x="10750099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itle" id="134"/>
          <p:cNvSpPr txBox="true"/>
          <p:nvPr/>
        </p:nvSpPr>
        <p:spPr>
          <a:xfrm rot="0">
            <a:off x="1028700" y="1300000"/>
            <a:ext cx="1060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5244"/>
              </a:lnSpc>
              <a:buNone/>
            </a:pPr>
            <a:r>
              <a:rPr lang="en-US" sz="46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Objectives</a:t>
            </a:r>
          </a:p>
        </p:txBody>
      </p:sp>
      <p:sp>
        <p:nvSpPr>
          <p:cNvPr name="SlideNumber" id="135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ctr">
              <a:lnSpc>
                <a:spcPts val="6400"/>
              </a:lnSpc>
              <a:buNone/>
            </a:pPr>
            <a:r>
              <a:rPr lang="en-US" sz="4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03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028700" y="2400000"/>
            <a:ext cx="62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648700" y="2400000"/>
            <a:ext cx="998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Monitor delay, jitter, packet loss and link usage from the controller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028700" y="3040000"/>
            <a:ext cx="62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648700" y="3040000"/>
            <a:ext cx="998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 when a link carrying video becomes congested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028700" y="3680000"/>
            <a:ext cx="62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648700" y="3680000"/>
            <a:ext cx="998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Identify video traffic and separate it from ordinary traffic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028700" y="4320000"/>
            <a:ext cx="62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4.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648700" y="4320000"/>
            <a:ext cx="998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Move the video flow to a free path and to a priority queue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028700" y="4960000"/>
            <a:ext cx="62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5.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648700" y="4960000"/>
            <a:ext cx="998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Reduce packet loss, delay and the number of buffering events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028700" y="5600000"/>
            <a:ext cx="62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6.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648700" y="5600000"/>
            <a:ext cx="998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000"/>
              </a:lnSpc>
              <a:buNone/>
            </a:pPr>
            <a:r>
              <a:rPr lang="en-US" sz="2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Compare the result against a plain network with no QoS control</a:t>
            </a:r>
          </a:p>
        </p:txBody>
      </p:sp>
      <p:sp>
        <p:nvSpPr>
          <p:cNvPr name="Shape 148" id="148"/>
          <p:cNvSpPr/>
          <p:nvPr/>
        </p:nvSpPr>
        <p:spPr>
          <a:xfrm>
            <a:off x="1028700" y="6700000"/>
            <a:ext cx="4900000" cy="145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900"/>
              </a:lnSpc>
              <a:buNone/>
            </a:pPr>
            <a:r>
              <a:rPr lang="en-US" sz="23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QoS</a:t>
            </a:r>
          </a:p>
          <a:p>
            <a:pPr algn="ctr">
              <a:lnSpc>
                <a:spcPts val="25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the network measures</a:t>
            </a:r>
          </a:p>
          <a:p>
            <a:pPr algn="ctr">
              <a:lnSpc>
                <a:spcPts val="25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delay, jitter, packet loss, bandwidth</a:t>
            </a:r>
          </a:p>
        </p:txBody>
      </p:sp>
      <p:sp>
        <p:nvSpPr>
          <p:cNvPr name="Shape 149" id="149"/>
          <p:cNvSpPr/>
          <p:nvPr/>
        </p:nvSpPr>
        <p:spPr>
          <a:xfrm>
            <a:off x="6328700" y="6700000"/>
            <a:ext cx="4900000" cy="1450000"/>
          </a:xfrm>
          <a:prstGeom prst="rect">
            <a:avLst/>
          </a:prstGeom>
          <a:solidFill>
            <a:srgbClr val="E4ECF3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900"/>
              </a:lnSpc>
              <a:buNone/>
            </a:pPr>
            <a:r>
              <a:rPr lang="en-US" sz="23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QoE</a:t>
            </a:r>
          </a:p>
          <a:p>
            <a:pPr algn="ctr">
              <a:lnSpc>
                <a:spcPts val="25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the viewer feels</a:t>
            </a:r>
          </a:p>
          <a:p>
            <a:pPr algn="ctr">
              <a:lnSpc>
                <a:spcPts val="25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buffering, start-up delay, picture quality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093067" y="-872901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9" y="0"/>
                </a:lnTo>
                <a:lnTo>
                  <a:pt x="10750099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itle" id="150"/>
          <p:cNvSpPr txBox="true"/>
          <p:nvPr/>
        </p:nvSpPr>
        <p:spPr>
          <a:xfrm rot="0">
            <a:off x="1028700" y="1300000"/>
            <a:ext cx="1060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5244"/>
              </a:lnSpc>
              <a:buNone/>
            </a:pPr>
            <a:r>
              <a:rPr lang="en-US" sz="46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Literature Review</a:t>
            </a:r>
          </a:p>
        </p:txBody>
      </p:sp>
      <p:sp>
        <p:nvSpPr>
          <p:cNvPr name="SlideNumber" id="151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ctr">
              <a:lnSpc>
                <a:spcPts val="6400"/>
              </a:lnSpc>
              <a:buNone/>
            </a:pPr>
            <a:r>
              <a:rPr lang="en-US" sz="4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04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028700" y="2320000"/>
            <a:ext cx="85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2012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928700" y="2320000"/>
            <a:ext cx="9700000" cy="7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OpenQoS  -  Egilmez et al.  [1]</a:t>
            </a:r>
          </a:p>
          <a:p>
            <a:pPr algn="l">
              <a:lnSpc>
                <a:spcPts val="25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Controller computes a QoS route for video; other traffic is not affected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028700" y="3150000"/>
            <a:ext cx="85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2016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928700" y="3150000"/>
            <a:ext cx="9700000" cy="7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DASH assisting elements  -  Kleinrouweler et al.  [2]</a:t>
            </a:r>
          </a:p>
          <a:p>
            <a:pPr algn="l">
              <a:lnSpc>
                <a:spcPts val="25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Network tells each player what bitrate to use, so quality stays stable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1028700" y="3980000"/>
            <a:ext cx="85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2016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1928700" y="3980000"/>
            <a:ext cx="9700000" cy="7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SDNDASH  -  Bentaleb et al.  [3]</a:t>
            </a:r>
          </a:p>
          <a:p>
            <a:pPr algn="l">
              <a:lnSpc>
                <a:spcPts val="25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Per-client bandwidth control; QoE improved by about 30 percent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1028700" y="4810000"/>
            <a:ext cx="85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2022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1928700" y="4810000"/>
            <a:ext cx="9700000" cy="7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VQoSRR  -  Elbasheer et al.  [4]</a:t>
            </a:r>
          </a:p>
          <a:p>
            <a:pPr algn="l">
              <a:lnSpc>
                <a:spcPts val="25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Adds bandwidth reservation with queues and reroutes when QoE drops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028700" y="5640000"/>
            <a:ext cx="85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2022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928700" y="5640000"/>
            <a:ext cx="9700000" cy="7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RL routing  -  Al Jameel et al.  [5]</a:t>
            </a:r>
          </a:p>
          <a:p>
            <a:pPr algn="l">
              <a:lnSpc>
                <a:spcPts val="25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Agent learns the best path; judged using VMAF and SSIM video scores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028700" y="6470000"/>
            <a:ext cx="85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2025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928700" y="6470000"/>
            <a:ext cx="9700000" cy="7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Survey  -  Alsader et al.  [6]</a:t>
            </a:r>
          </a:p>
          <a:p>
            <a:pPr algn="l">
              <a:lnSpc>
                <a:spcPts val="25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QoE-driven control is the current direction; several problems still open</a:t>
            </a:r>
          </a:p>
        </p:txBody>
      </p:sp>
      <p:sp>
        <p:nvSpPr>
          <p:cNvPr name="Shape 164" id="164"/>
          <p:cNvSpPr/>
          <p:nvPr/>
        </p:nvSpPr>
        <p:spPr>
          <a:xfrm>
            <a:off x="848700" y="7330000"/>
            <a:ext cx="10400000" cy="20500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/>
          <a:lstStyle/>
          <a:p/>
        </p:txBody>
      </p:sp>
      <p:sp>
        <p:nvSpPr>
          <p:cNvPr name="Shape 165" id="165"/>
          <p:cNvSpPr/>
          <p:nvPr/>
        </p:nvSpPr>
        <p:spPr>
          <a:xfrm>
            <a:off x="1028700" y="7420000"/>
            <a:ext cx="10030000" cy="0"/>
          </a:xfrm>
          <a:prstGeom prst="line">
            <a:avLst/>
          </a:prstGeom>
          <a:noFill/>
          <a:ln w="6350" cap="flat">
            <a:solidFill>
              <a:srgbClr val="555555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name="TextBox 166" id="166"/>
          <p:cNvSpPr txBox="true"/>
          <p:nvPr/>
        </p:nvSpPr>
        <p:spPr>
          <a:xfrm rot="0">
            <a:off x="1028700" y="7560000"/>
            <a:ext cx="4950000" cy="13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100"/>
              </a:lnSpc>
              <a:buNone/>
            </a:pPr>
            <a:r>
              <a:rPr lang="en-US" sz="1500">
                <a:solidFill>
                  <a:srgbClr val="55555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[1] Egilmez et al., APSIPA ASC 2012  -  ieeexplore.ieee.org/document/6411795</a:t>
            </a:r>
          </a:p>
          <a:p>
            <a:pPr algn="l">
              <a:lnSpc>
                <a:spcPts val="210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55555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[2] Kleinrouweler et al., ACM MMSys 2016  -  doi.org/10.1145/2910017.2910599</a:t>
            </a:r>
          </a:p>
          <a:p>
            <a:pPr algn="l">
              <a:lnSpc>
                <a:spcPts val="210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55555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[3] Bentaleb et al., ACM MM 2016  -  doi.org/10.1145/2964284.2964332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6128700" y="7560000"/>
            <a:ext cx="4950000" cy="13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100"/>
              </a:lnSpc>
              <a:buNone/>
            </a:pPr>
            <a:r>
              <a:rPr lang="en-US" sz="1500">
                <a:solidFill>
                  <a:srgbClr val="55555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[4] Elbasheer et al., Electronics 2022  -  doi.org/10.3390/electronics11081252</a:t>
            </a:r>
          </a:p>
          <a:p>
            <a:pPr algn="l">
              <a:lnSpc>
                <a:spcPts val="210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55555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[5] Al Jameel et al., Electronics 2022  -  doi.org/10.3390/electronics11152441</a:t>
            </a:r>
          </a:p>
          <a:p>
            <a:pPr algn="l">
              <a:lnSpc>
                <a:spcPts val="210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55555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[6] Alsader et al., IEEE Access 2025  -  doi.org/10.1109/ACCESS.2025.3597058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093067" y="-872901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9" y="0"/>
                </a:lnTo>
                <a:lnTo>
                  <a:pt x="10750099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itle" id="168"/>
          <p:cNvSpPr txBox="true"/>
          <p:nvPr/>
        </p:nvSpPr>
        <p:spPr>
          <a:xfrm rot="0">
            <a:off x="1028700" y="1300000"/>
            <a:ext cx="1060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4559"/>
              </a:lnSpc>
              <a:buNone/>
            </a:pPr>
            <a:r>
              <a:rPr lang="en-US" sz="40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Research Gaps and What We Implement</a:t>
            </a:r>
          </a:p>
        </p:txBody>
      </p:sp>
      <p:sp>
        <p:nvSpPr>
          <p:cNvPr name="SlideNumber" id="169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ctr">
              <a:lnSpc>
                <a:spcPts val="6400"/>
              </a:lnSpc>
              <a:buNone/>
            </a:pPr>
            <a:r>
              <a:rPr lang="en-US" sz="4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05</a:t>
            </a:r>
          </a:p>
        </p:txBody>
      </p:sp>
      <p:sp>
        <p:nvSpPr>
          <p:cNvPr name="Shape 170" id="170"/>
          <p:cNvSpPr/>
          <p:nvPr/>
        </p:nvSpPr>
        <p:spPr>
          <a:xfrm>
            <a:off x="1028700" y="2330000"/>
            <a:ext cx="4900000" cy="6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562"/>
              </a:lnSpc>
              <a:buNone/>
            </a:pPr>
            <a:r>
              <a:rPr lang="en-US" sz="21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Gaps we found in the literature</a:t>
            </a:r>
          </a:p>
        </p:txBody>
      </p:sp>
      <p:sp>
        <p:nvSpPr>
          <p:cNvPr name="Shape 171" id="171"/>
          <p:cNvSpPr/>
          <p:nvPr/>
        </p:nvSpPr>
        <p:spPr>
          <a:xfrm>
            <a:off x="6328700" y="2330000"/>
            <a:ext cx="4900000" cy="680000"/>
          </a:xfrm>
          <a:prstGeom prst="rect">
            <a:avLst/>
          </a:prstGeom>
          <a:solidFill>
            <a:srgbClr val="E4ECF3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562"/>
              </a:lnSpc>
              <a:buNone/>
            </a:pPr>
            <a:r>
              <a:rPr lang="en-US" sz="21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our project implements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1028700" y="322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508700" y="322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Checks run once a second or slower, so reaction is late</a:t>
            </a:r>
          </a:p>
        </p:txBody>
      </p:sp>
      <p:sp>
        <p:nvSpPr>
          <p:cNvPr name="TextBox 174" id="174"/>
          <p:cNvSpPr txBox="true"/>
          <p:nvPr/>
        </p:nvSpPr>
        <p:spPr>
          <a:xfrm rot="0">
            <a:off x="6328700" y="322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6808700" y="322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 poll switches often, so congestion is caught early</a:t>
            </a:r>
          </a:p>
        </p:txBody>
      </p:sp>
      <p:sp>
        <p:nvSpPr>
          <p:cNvPr name="TextBox 176" id="176"/>
          <p:cNvSpPr txBox="true"/>
          <p:nvPr/>
        </p:nvSpPr>
        <p:spPr>
          <a:xfrm rot="0">
            <a:off x="1028700" y="412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1508700" y="412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Good QoS numbers do not always mean better video</a:t>
            </a:r>
          </a:p>
        </p:txBody>
      </p:sp>
      <p:sp>
        <p:nvSpPr>
          <p:cNvPr name="TextBox 178" id="178"/>
          <p:cNvSpPr txBox="true"/>
          <p:nvPr/>
        </p:nvSpPr>
        <p:spPr>
          <a:xfrm rot="0">
            <a:off x="6328700" y="412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6808700" y="412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 record buffering at the player, not only delay and loss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1028700" y="502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1508700" y="502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Many works pick a better path but reserve no bandwidth</a:t>
            </a:r>
          </a:p>
        </p:txBody>
      </p:sp>
      <p:sp>
        <p:nvSpPr>
          <p:cNvPr name="TextBox 182" id="182"/>
          <p:cNvSpPr txBox="true"/>
          <p:nvPr/>
        </p:nvSpPr>
        <p:spPr>
          <a:xfrm rot="0">
            <a:off x="6328700" y="502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6808700" y="502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 reroute and also use a priority queue to reserve bandwidth</a:t>
            </a:r>
          </a:p>
        </p:txBody>
      </p:sp>
      <p:sp>
        <p:nvSpPr>
          <p:cNvPr name="TextBox 184" id="184"/>
          <p:cNvSpPr txBox="true"/>
          <p:nvPr/>
        </p:nvSpPr>
        <p:spPr>
          <a:xfrm rot="0">
            <a:off x="1028700" y="592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4.</a:t>
            </a:r>
          </a:p>
        </p:txBody>
      </p:sp>
      <p:sp>
        <p:nvSpPr>
          <p:cNvPr name="TextBox 185" id="185"/>
          <p:cNvSpPr txBox="true"/>
          <p:nvPr/>
        </p:nvSpPr>
        <p:spPr>
          <a:xfrm rot="0">
            <a:off x="1508700" y="592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Thresholds suit one test setup and are hard to reuse</a:t>
            </a:r>
          </a:p>
        </p:txBody>
      </p:sp>
      <p:sp>
        <p:nvSpPr>
          <p:cNvPr name="TextBox 186" id="186"/>
          <p:cNvSpPr txBox="true"/>
          <p:nvPr/>
        </p:nvSpPr>
        <p:spPr>
          <a:xfrm rot="0">
            <a:off x="6328700" y="592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4.</a:t>
            </a:r>
          </a:p>
        </p:txBody>
      </p:sp>
      <p:sp>
        <p:nvSpPr>
          <p:cNvPr name="TextBox 187" id="187"/>
          <p:cNvSpPr txBox="true"/>
          <p:nvPr/>
        </p:nvSpPr>
        <p:spPr>
          <a:xfrm rot="0">
            <a:off x="6808700" y="592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 thresholds sit in one small config file, easy to change</a:t>
            </a:r>
          </a:p>
        </p:txBody>
      </p:sp>
      <p:sp>
        <p:nvSpPr>
          <p:cNvPr name="Shape 188" id="188"/>
          <p:cNvSpPr/>
          <p:nvPr/>
        </p:nvSpPr>
        <p:spPr>
          <a:xfrm>
            <a:off x="1028700" y="7150000"/>
            <a:ext cx="10200000" cy="1150000"/>
          </a:xfrm>
          <a:prstGeom prst="rect">
            <a:avLst/>
          </a:prstGeom>
          <a:solidFill>
            <a:srgbClr val="E4ECF3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440"/>
              </a:lnSpc>
              <a:buNone/>
            </a:pPr>
            <a:r>
              <a:rPr lang="en-US" sz="20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short: we keep the control loop fast, we reserve bandwidth as well as reroute,</a:t>
            </a:r>
          </a:p>
          <a:p>
            <a:pPr algn="ctr">
              <a:lnSpc>
                <a:spcPts val="2440"/>
              </a:lnSpc>
              <a:buNone/>
            </a:pPr>
            <a:r>
              <a:rPr lang="en-US" sz="20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we measure what the viewer actually sees.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093067" y="-872901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9" y="0"/>
                </a:lnTo>
                <a:lnTo>
                  <a:pt x="10750099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itle" id="189"/>
          <p:cNvSpPr txBox="true"/>
          <p:nvPr/>
        </p:nvSpPr>
        <p:spPr>
          <a:xfrm rot="0">
            <a:off x="1028700" y="1300000"/>
            <a:ext cx="1060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5244"/>
              </a:lnSpc>
              <a:buNone/>
            </a:pPr>
            <a:r>
              <a:rPr lang="en-US" sz="46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System Architecture</a:t>
            </a:r>
          </a:p>
        </p:txBody>
      </p:sp>
      <p:sp>
        <p:nvSpPr>
          <p:cNvPr name="SlideNumber" id="190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ctr">
              <a:lnSpc>
                <a:spcPts val="6400"/>
              </a:lnSpc>
              <a:buNone/>
            </a:pPr>
            <a:r>
              <a:rPr lang="en-US" sz="4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093067" y="-872901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9" y="0"/>
                </a:lnTo>
                <a:lnTo>
                  <a:pt x="10750099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itle" id="191"/>
          <p:cNvSpPr txBox="true"/>
          <p:nvPr/>
        </p:nvSpPr>
        <p:spPr>
          <a:xfrm rot="0">
            <a:off x="1028700" y="1300000"/>
            <a:ext cx="1060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5244"/>
              </a:lnSpc>
              <a:buNone/>
            </a:pPr>
            <a:r>
              <a:rPr lang="en-US" sz="46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How It Works</a:t>
            </a:r>
          </a:p>
        </p:txBody>
      </p:sp>
      <p:sp>
        <p:nvSpPr>
          <p:cNvPr name="SlideNumber" id="192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ctr">
              <a:lnSpc>
                <a:spcPts val="6400"/>
              </a:lnSpc>
              <a:buNone/>
            </a:pPr>
            <a:r>
              <a:rPr lang="en-US" sz="4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07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1028700" y="238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1508700" y="238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Mininet builds a small network with two paths to the server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1028700" y="328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</a:t>
            </a:r>
          </a:p>
        </p:txBody>
      </p:sp>
      <p:sp>
        <p:nvSpPr>
          <p:cNvPr name="TextBox 196" id="196"/>
          <p:cNvSpPr txBox="true"/>
          <p:nvPr/>
        </p:nvSpPr>
        <p:spPr>
          <a:xfrm rot="0">
            <a:off x="1508700" y="328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Ryu controller connects and learns the topology</a:t>
            </a:r>
          </a:p>
        </p:txBody>
      </p:sp>
      <p:sp>
        <p:nvSpPr>
          <p:cNvPr name="TextBox 197" id="197"/>
          <p:cNvSpPr txBox="true"/>
          <p:nvPr/>
        </p:nvSpPr>
        <p:spPr>
          <a:xfrm rot="0">
            <a:off x="1028700" y="418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</a:t>
            </a:r>
          </a:p>
        </p:txBody>
      </p:sp>
      <p:sp>
        <p:nvSpPr>
          <p:cNvPr name="TextBox 198" id="198"/>
          <p:cNvSpPr txBox="true"/>
          <p:nvPr/>
        </p:nvSpPr>
        <p:spPr>
          <a:xfrm rot="0">
            <a:off x="1508700" y="418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Video traffic is recognised by its port number</a:t>
            </a:r>
          </a:p>
        </p:txBody>
      </p:sp>
      <p:sp>
        <p:nvSpPr>
          <p:cNvPr name="TextBox 199" id="199"/>
          <p:cNvSpPr txBox="true"/>
          <p:nvPr/>
        </p:nvSpPr>
        <p:spPr>
          <a:xfrm rot="0">
            <a:off x="6328700" y="238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4.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6808700" y="238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controller reads port statistics every few seconds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6328700" y="328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5.</a:t>
            </a:r>
          </a:p>
        </p:txBody>
      </p:sp>
      <p:sp>
        <p:nvSpPr>
          <p:cNvPr name="TextBox 202" id="202"/>
          <p:cNvSpPr txBox="true"/>
          <p:nvPr/>
        </p:nvSpPr>
        <p:spPr>
          <a:xfrm rot="0">
            <a:off x="6808700" y="328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If a link passes the threshold, the flow is moved over</a:t>
            </a:r>
          </a:p>
        </p:txBody>
      </p:sp>
      <p:sp>
        <p:nvSpPr>
          <p:cNvPr name="TextBox 203" id="203"/>
          <p:cNvSpPr txBox="true"/>
          <p:nvPr/>
        </p:nvSpPr>
        <p:spPr>
          <a:xfrm rot="0">
            <a:off x="6328700" y="4180000"/>
            <a:ext cx="480000" cy="4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6.</a:t>
            </a:r>
          </a:p>
        </p:txBody>
      </p:sp>
      <p:sp>
        <p:nvSpPr>
          <p:cNvPr name="TextBox 204" id="204"/>
          <p:cNvSpPr txBox="true"/>
          <p:nvPr/>
        </p:nvSpPr>
        <p:spPr>
          <a:xfrm rot="0">
            <a:off x="6808700" y="4180000"/>
            <a:ext cx="442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6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Monitoring continues and the change is checked next round</a:t>
            </a:r>
          </a:p>
        </p:txBody>
      </p:sp>
      <p:sp>
        <p:nvSpPr>
          <p:cNvPr name="Shape 205" id="205"/>
          <p:cNvSpPr/>
          <p:nvPr/>
        </p:nvSpPr>
        <p:spPr>
          <a:xfrm>
            <a:off x="1028700" y="5230000"/>
            <a:ext cx="2600000" cy="9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318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Read switch</a:t>
            </a:r>
          </a:p>
          <a:p>
            <a:pPr algn="ctr">
              <a:lnSpc>
                <a:spcPts val="2318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statistics</a:t>
            </a:r>
          </a:p>
        </p:txBody>
      </p:sp>
      <p:sp>
        <p:nvSpPr>
          <p:cNvPr name="Shape 206" id="206"/>
          <p:cNvSpPr/>
          <p:nvPr/>
        </p:nvSpPr>
        <p:spPr>
          <a:xfrm>
            <a:off x="3700000" y="5580000"/>
            <a:ext cx="420000" cy="280000"/>
          </a:xfrm>
          <a:prstGeom prst="rightArrow">
            <a:avLst/>
          </a:prstGeom>
          <a:solidFill>
            <a:srgbClr val="4A7BA7"/>
          </a:solidFill>
          <a:ln>
            <a:noFill/>
          </a:ln>
        </p:spPr>
        <p:txBody>
          <a:bodyPr/>
          <a:lstStyle/>
          <a:p/>
        </p:txBody>
      </p:sp>
      <p:sp>
        <p:nvSpPr>
          <p:cNvPr name="Shape 207" id="207"/>
          <p:cNvSpPr/>
          <p:nvPr/>
        </p:nvSpPr>
        <p:spPr>
          <a:xfrm>
            <a:off x="4230000" y="5050000"/>
            <a:ext cx="3000000" cy="1340000"/>
          </a:xfrm>
          <a:prstGeom prst="diamond">
            <a:avLst/>
          </a:prstGeom>
          <a:solidFill>
            <a:srgbClr val="E4ECF3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400"/>
              </a:lnSpc>
              <a:buNone/>
            </a:pPr>
            <a:r>
              <a:rPr lang="en-US" sz="19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Over the</a:t>
            </a:r>
          </a:p>
          <a:p>
            <a:pPr algn="ctr">
              <a:lnSpc>
                <a:spcPts val="2400"/>
              </a:lnSpc>
              <a:buNone/>
            </a:pPr>
            <a:r>
              <a:rPr lang="en-US" sz="19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threshold?</a:t>
            </a:r>
          </a:p>
        </p:txBody>
      </p:sp>
      <p:sp>
        <p:nvSpPr>
          <p:cNvPr name="Shape 208" id="208"/>
          <p:cNvSpPr/>
          <p:nvPr/>
        </p:nvSpPr>
        <p:spPr>
          <a:xfrm>
            <a:off x="7330000" y="5580000"/>
            <a:ext cx="420000" cy="280000"/>
          </a:xfrm>
          <a:prstGeom prst="rightArrow">
            <a:avLst/>
          </a:prstGeom>
          <a:solidFill>
            <a:srgbClr val="4A7BA7"/>
          </a:solidFill>
          <a:ln>
            <a:noFill/>
          </a:ln>
        </p:spPr>
        <p:txBody>
          <a:bodyPr/>
          <a:lstStyle/>
          <a:p/>
        </p:txBody>
      </p:sp>
      <p:sp>
        <p:nvSpPr>
          <p:cNvPr name="TextBox 209" id="209"/>
          <p:cNvSpPr txBox="true"/>
          <p:nvPr/>
        </p:nvSpPr>
        <p:spPr>
          <a:xfrm rot="0">
            <a:off x="7360000" y="5270000"/>
            <a:ext cx="500000" cy="32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ctr">
              <a:lnSpc>
                <a:spcPts val="2100"/>
              </a:lnSpc>
              <a:buNone/>
            </a:pPr>
            <a:r>
              <a:rPr lang="en-US" sz="16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Yes</a:t>
            </a:r>
          </a:p>
        </p:txBody>
      </p:sp>
      <p:sp>
        <p:nvSpPr>
          <p:cNvPr name="Shape 210" id="210"/>
          <p:cNvSpPr/>
          <p:nvPr/>
        </p:nvSpPr>
        <p:spPr>
          <a:xfrm>
            <a:off x="7860000" y="5230000"/>
            <a:ext cx="2900000" cy="9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318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Reroute flow and</a:t>
            </a:r>
          </a:p>
          <a:p>
            <a:pPr algn="ctr">
              <a:lnSpc>
                <a:spcPts val="2318"/>
              </a:lnSpc>
              <a:buNone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 priority queue</a:t>
            </a:r>
          </a:p>
        </p:txBody>
      </p:sp>
      <p:sp>
        <p:nvSpPr>
          <p:cNvPr name="Shape 211" id="211"/>
          <p:cNvSpPr/>
          <p:nvPr/>
        </p:nvSpPr>
        <p:spPr>
          <a:xfrm>
            <a:off x="5730000" y="6390000"/>
            <a:ext cx="0" cy="520000"/>
          </a:xfrm>
          <a:prstGeom prst="line">
            <a:avLst/>
          </a:prstGeom>
          <a:noFill/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name="Shape 212" id="212"/>
          <p:cNvSpPr/>
          <p:nvPr/>
        </p:nvSpPr>
        <p:spPr>
          <a:xfrm>
            <a:off x="2328700" y="6910000"/>
            <a:ext cx="3401300" cy="0"/>
          </a:xfrm>
          <a:prstGeom prst="line">
            <a:avLst/>
          </a:prstGeom>
          <a:noFill/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name="Shape 213" id="213"/>
          <p:cNvSpPr/>
          <p:nvPr/>
        </p:nvSpPr>
        <p:spPr>
          <a:xfrm>
            <a:off x="2188700" y="6530000"/>
            <a:ext cx="280000" cy="380000"/>
          </a:xfrm>
          <a:prstGeom prst="upArrow">
            <a:avLst/>
          </a:prstGeom>
          <a:solidFill>
            <a:srgbClr val="4A7BA7"/>
          </a:solidFill>
          <a:ln>
            <a:noFill/>
          </a:ln>
        </p:spPr>
        <p:txBody>
          <a:bodyPr/>
          <a:lstStyle/>
          <a:p/>
        </p:txBody>
      </p:sp>
      <p:sp>
        <p:nvSpPr>
          <p:cNvPr name="TextBox 214" id="214"/>
          <p:cNvSpPr txBox="true"/>
          <p:nvPr/>
        </p:nvSpPr>
        <p:spPr>
          <a:xfrm rot="0">
            <a:off x="5850000" y="6420000"/>
            <a:ext cx="700000" cy="32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2100"/>
              </a:lnSpc>
              <a:buNone/>
            </a:pPr>
            <a:r>
              <a:rPr lang="en-US" sz="1600" b="true">
                <a:solidFill>
                  <a:srgbClr val="4A7BA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093067" y="-872901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9" y="0"/>
                </a:lnTo>
                <a:lnTo>
                  <a:pt x="10750099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itle" id="215"/>
          <p:cNvSpPr txBox="true"/>
          <p:nvPr/>
        </p:nvSpPr>
        <p:spPr>
          <a:xfrm rot="0">
            <a:off x="1028700" y="1300000"/>
            <a:ext cx="1060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5244"/>
              </a:lnSpc>
              <a:buNone/>
            </a:pPr>
            <a:r>
              <a:rPr lang="en-US" sz="46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Tools and Test Plan</a:t>
            </a:r>
          </a:p>
        </p:txBody>
      </p:sp>
      <p:sp>
        <p:nvSpPr>
          <p:cNvPr name="SlideNumber" id="216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ctr">
              <a:lnSpc>
                <a:spcPts val="6400"/>
              </a:lnSpc>
              <a:buNone/>
            </a:pPr>
            <a:r>
              <a:rPr lang="en-US" sz="4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08</a:t>
            </a:r>
          </a:p>
        </p:txBody>
      </p:sp>
      <p:sp>
        <p:nvSpPr>
          <p:cNvPr name="Shape 217" id="217"/>
          <p:cNvSpPr/>
          <p:nvPr/>
        </p:nvSpPr>
        <p:spPr>
          <a:xfrm>
            <a:off x="1028700" y="2330000"/>
            <a:ext cx="4900000" cy="68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562"/>
              </a:lnSpc>
              <a:buNone/>
            </a:pPr>
            <a:r>
              <a:rPr lang="en-US" sz="21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Tools we use</a:t>
            </a:r>
          </a:p>
        </p:txBody>
      </p:sp>
      <p:sp>
        <p:nvSpPr>
          <p:cNvPr name="Shape 218" id="218"/>
          <p:cNvSpPr/>
          <p:nvPr/>
        </p:nvSpPr>
        <p:spPr>
          <a:xfrm>
            <a:off x="6328700" y="2330000"/>
            <a:ext cx="4900000" cy="680000"/>
          </a:xfrm>
          <a:prstGeom prst="rect">
            <a:avLst/>
          </a:prstGeom>
          <a:solidFill>
            <a:srgbClr val="E4ECF3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562"/>
              </a:lnSpc>
              <a:buNone/>
            </a:pPr>
            <a:r>
              <a:rPr lang="en-US" sz="21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How we will test it</a:t>
            </a:r>
          </a:p>
        </p:txBody>
      </p:sp>
      <p:sp>
        <p:nvSpPr>
          <p:cNvPr name="TextBox 219" id="219"/>
          <p:cNvSpPr txBox="true"/>
          <p:nvPr/>
        </p:nvSpPr>
        <p:spPr>
          <a:xfrm rot="0">
            <a:off x="1028700" y="3250000"/>
            <a:ext cx="4900000" cy="5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00000" indent="-300000">
              <a:lnSpc>
                <a:spcPts val="2600"/>
              </a:lnSpc>
              <a:buFont typeface="Arial"/>
              <a:buChar char="•"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 xml:space="preserve">Mininet  -  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builds the network</a:t>
            </a:r>
          </a:p>
        </p:txBody>
      </p:sp>
      <p:sp>
        <p:nvSpPr>
          <p:cNvPr name="TextBox 220" id="220"/>
          <p:cNvSpPr txBox="true"/>
          <p:nvPr/>
        </p:nvSpPr>
        <p:spPr>
          <a:xfrm rot="0">
            <a:off x="1028700" y="3870000"/>
            <a:ext cx="4900000" cy="5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00000" indent="-300000">
              <a:lnSpc>
                <a:spcPts val="2600"/>
              </a:lnSpc>
              <a:buFont typeface="Arial"/>
              <a:buChar char="•"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 xml:space="preserve">Open vSwitch  -  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OpenFlow switches</a:t>
            </a:r>
          </a:p>
        </p:txBody>
      </p:sp>
      <p:sp>
        <p:nvSpPr>
          <p:cNvPr name="TextBox 221" id="221"/>
          <p:cNvSpPr txBox="true"/>
          <p:nvPr/>
        </p:nvSpPr>
        <p:spPr>
          <a:xfrm rot="0">
            <a:off x="1028700" y="4490000"/>
            <a:ext cx="4900000" cy="5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00000" indent="-300000">
              <a:lnSpc>
                <a:spcPts val="2600"/>
              </a:lnSpc>
              <a:buFont typeface="Arial"/>
              <a:buChar char="•"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 xml:space="preserve">Ryu (Python)  -  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our controller</a:t>
            </a:r>
          </a:p>
        </p:txBody>
      </p:sp>
      <p:sp>
        <p:nvSpPr>
          <p:cNvPr name="TextBox 222" id="222"/>
          <p:cNvSpPr txBox="true"/>
          <p:nvPr/>
        </p:nvSpPr>
        <p:spPr>
          <a:xfrm rot="0">
            <a:off x="1028700" y="5110000"/>
            <a:ext cx="4900000" cy="5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00000" indent="-300000">
              <a:lnSpc>
                <a:spcPts val="2600"/>
              </a:lnSpc>
              <a:buFont typeface="Arial"/>
              <a:buChar char="•"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 xml:space="preserve">tc / HTB  -  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makes the two queues</a:t>
            </a:r>
          </a:p>
        </p:txBody>
      </p:sp>
      <p:sp>
        <p:nvSpPr>
          <p:cNvPr name="TextBox 223" id="223"/>
          <p:cNvSpPr txBox="true"/>
          <p:nvPr/>
        </p:nvSpPr>
        <p:spPr>
          <a:xfrm rot="0">
            <a:off x="1028700" y="5730000"/>
            <a:ext cx="4900000" cy="5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00000" indent="-300000">
              <a:lnSpc>
                <a:spcPts val="2600"/>
              </a:lnSpc>
              <a:buFont typeface="Arial"/>
              <a:buChar char="•"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 xml:space="preserve">VLC or DASH client  -  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plays video</a:t>
            </a:r>
          </a:p>
        </p:txBody>
      </p:sp>
      <p:sp>
        <p:nvSpPr>
          <p:cNvPr name="TextBox 224" id="224"/>
          <p:cNvSpPr txBox="true"/>
          <p:nvPr/>
        </p:nvSpPr>
        <p:spPr>
          <a:xfrm rot="0">
            <a:off x="1028700" y="6350000"/>
            <a:ext cx="4900000" cy="5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00000" indent="-300000">
              <a:lnSpc>
                <a:spcPts val="2600"/>
              </a:lnSpc>
              <a:buFont typeface="Arial"/>
              <a:buChar char="•"/>
            </a:pPr>
            <a:r>
              <a:rPr lang="en-US" sz="2000" b="true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 xml:space="preserve">iperf3  -  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 traffic</a:t>
            </a:r>
          </a:p>
        </p:txBody>
      </p:sp>
      <p:sp>
        <p:nvSpPr>
          <p:cNvPr name="TextBox 225" id="225"/>
          <p:cNvSpPr txBox="true"/>
          <p:nvPr/>
        </p:nvSpPr>
        <p:spPr>
          <a:xfrm rot="0">
            <a:off x="6328700" y="3250000"/>
            <a:ext cx="4900000" cy="7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00000" indent="-300000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Case 1: plain network, no QoS control</a:t>
            </a:r>
          </a:p>
        </p:txBody>
      </p:sp>
      <p:sp>
        <p:nvSpPr>
          <p:cNvPr name="TextBox 226" id="226"/>
          <p:cNvSpPr txBox="true"/>
          <p:nvPr/>
        </p:nvSpPr>
        <p:spPr>
          <a:xfrm rot="0">
            <a:off x="6328700" y="4050000"/>
            <a:ext cx="4900000" cy="7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00000" indent="-300000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Case 2: same network, our controller on</a:t>
            </a:r>
          </a:p>
        </p:txBody>
      </p:sp>
      <p:sp>
        <p:nvSpPr>
          <p:cNvPr name="TextBox 227" id="227"/>
          <p:cNvSpPr txBox="true"/>
          <p:nvPr/>
        </p:nvSpPr>
        <p:spPr>
          <a:xfrm rot="0">
            <a:off x="6328700" y="4850000"/>
            <a:ext cx="4900000" cy="7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00000" indent="-300000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Run both with light and heavy traffic</a:t>
            </a:r>
          </a:p>
        </p:txBody>
      </p:sp>
      <p:sp>
        <p:nvSpPr>
          <p:cNvPr name="TextBox 228" id="228"/>
          <p:cNvSpPr txBox="true"/>
          <p:nvPr/>
        </p:nvSpPr>
        <p:spPr>
          <a:xfrm rot="0">
            <a:off x="6328700" y="5650000"/>
            <a:ext cx="4900000" cy="7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00000" indent="-300000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Record delay, jitter, loss, buffering</a:t>
            </a:r>
          </a:p>
        </p:txBody>
      </p:sp>
      <p:sp>
        <p:nvSpPr>
          <p:cNvPr name="TextBox 229" id="229"/>
          <p:cNvSpPr txBox="true"/>
          <p:nvPr/>
        </p:nvSpPr>
        <p:spPr>
          <a:xfrm rot="0">
            <a:off x="6328700" y="6450000"/>
            <a:ext cx="4900000" cy="76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00000" indent="-300000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Compare the two cases and plot results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093067" y="-872901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9" y="0"/>
                </a:lnTo>
                <a:lnTo>
                  <a:pt x="10750099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itle" id="230"/>
          <p:cNvSpPr txBox="true"/>
          <p:nvPr/>
        </p:nvSpPr>
        <p:spPr>
          <a:xfrm rot="0">
            <a:off x="1028700" y="1300000"/>
            <a:ext cx="10600000" cy="9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4559"/>
              </a:lnSpc>
              <a:buNone/>
            </a:pPr>
            <a:r>
              <a:rPr lang="en-US" sz="40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Expected Results and Conclusion</a:t>
            </a:r>
          </a:p>
        </p:txBody>
      </p:sp>
      <p:sp>
        <p:nvSpPr>
          <p:cNvPr name="SlideNumber" id="231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ctr">
              <a:lnSpc>
                <a:spcPts val="6400"/>
              </a:lnSpc>
              <a:buNone/>
            </a:pPr>
            <a:r>
              <a:rPr lang="en-US" sz="4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09</a:t>
            </a:r>
          </a:p>
        </p:txBody>
      </p:sp>
      <p:sp>
        <p:nvSpPr>
          <p:cNvPr name="Shape 232" id="232"/>
          <p:cNvSpPr/>
          <p:nvPr/>
        </p:nvSpPr>
        <p:spPr>
          <a:xfrm>
            <a:off x="1028700" y="2350000"/>
            <a:ext cx="2350000" cy="1350000"/>
          </a:xfrm>
          <a:prstGeom prst="rect">
            <a:avLst/>
          </a:prstGeom>
          <a:solidFill>
            <a:srgbClr val="E4ECF3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318"/>
              </a:lnSpc>
              <a:buNone/>
            </a:pPr>
            <a:r>
              <a:rPr lang="en-US" sz="19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Lower packet loss</a:t>
            </a:r>
          </a:p>
          <a:p>
            <a:pPr algn="ctr">
              <a:lnSpc>
                <a:spcPts val="2318"/>
              </a:lnSpc>
              <a:buNone/>
            </a:pPr>
            <a:r>
              <a:rPr lang="en-US" sz="19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 the video flow</a:t>
            </a:r>
          </a:p>
        </p:txBody>
      </p:sp>
      <p:sp>
        <p:nvSpPr>
          <p:cNvPr name="Shape 233" id="233"/>
          <p:cNvSpPr/>
          <p:nvPr/>
        </p:nvSpPr>
        <p:spPr>
          <a:xfrm>
            <a:off x="3658700" y="2350000"/>
            <a:ext cx="2350000" cy="1350000"/>
          </a:xfrm>
          <a:prstGeom prst="rect">
            <a:avLst/>
          </a:prstGeom>
          <a:solidFill>
            <a:srgbClr val="E4ECF3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318"/>
              </a:lnSpc>
              <a:buNone/>
            </a:pPr>
            <a:r>
              <a:rPr lang="en-US" sz="19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Steadier delay</a:t>
            </a:r>
          </a:p>
          <a:p>
            <a:pPr algn="ctr">
              <a:lnSpc>
                <a:spcPts val="2318"/>
              </a:lnSpc>
              <a:buNone/>
            </a:pPr>
            <a:r>
              <a:rPr lang="en-US" sz="19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jitter</a:t>
            </a:r>
          </a:p>
        </p:txBody>
      </p:sp>
      <p:sp>
        <p:nvSpPr>
          <p:cNvPr name="Shape 234" id="234"/>
          <p:cNvSpPr/>
          <p:nvPr/>
        </p:nvSpPr>
        <p:spPr>
          <a:xfrm>
            <a:off x="6288700" y="2350000"/>
            <a:ext cx="2350000" cy="1350000"/>
          </a:xfrm>
          <a:prstGeom prst="rect">
            <a:avLst/>
          </a:prstGeom>
          <a:solidFill>
            <a:srgbClr val="E4ECF3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318"/>
              </a:lnSpc>
              <a:buNone/>
            </a:pPr>
            <a:r>
              <a:rPr lang="en-US" sz="19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Fewer buffering</a:t>
            </a:r>
          </a:p>
          <a:p>
            <a:pPr algn="ctr">
              <a:lnSpc>
                <a:spcPts val="2318"/>
              </a:lnSpc>
              <a:buNone/>
            </a:pPr>
            <a:r>
              <a:rPr lang="en-US" sz="19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events</a:t>
            </a:r>
          </a:p>
        </p:txBody>
      </p:sp>
      <p:sp>
        <p:nvSpPr>
          <p:cNvPr name="Shape 235" id="235"/>
          <p:cNvSpPr/>
          <p:nvPr/>
        </p:nvSpPr>
        <p:spPr>
          <a:xfrm>
            <a:off x="8918700" y="2350000"/>
            <a:ext cx="2350000" cy="1350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4A7BA7"/>
            </a:solidFill>
            <a:prstDash val="solid"/>
            <a:headEnd type="none"/>
            <a:tailEnd type="none"/>
          </a:ln>
        </p:spPr>
        <p:txBody>
          <a:bodyPr anchor="ctr" rtlCol="false" tIns="45720" lIns="45720" bIns="45720" rIns="45720" wrap="square"/>
          <a:lstStyle/>
          <a:p>
            <a:pPr algn="ctr">
              <a:lnSpc>
                <a:spcPts val="2318"/>
              </a:lnSpc>
              <a:buNone/>
            </a:pPr>
            <a:r>
              <a:rPr lang="en-US" sz="19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Other traffic still</a:t>
            </a:r>
          </a:p>
          <a:p>
            <a:pPr algn="ctr">
              <a:lnSpc>
                <a:spcPts val="2318"/>
              </a:lnSpc>
              <a:buNone/>
            </a:pPr>
            <a:r>
              <a:rPr lang="en-US" sz="1900" b="true">
                <a:solidFill>
                  <a:srgbClr val="0032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works normally</a:t>
            </a:r>
          </a:p>
        </p:txBody>
      </p:sp>
      <p:sp>
        <p:nvSpPr>
          <p:cNvPr name="TextBox 236" id="236"/>
          <p:cNvSpPr txBox="true"/>
          <p:nvPr/>
        </p:nvSpPr>
        <p:spPr>
          <a:xfrm rot="0">
            <a:off x="1028700" y="4080000"/>
            <a:ext cx="10600000" cy="5000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ts val="3200"/>
              </a:lnSpc>
              <a:buNone/>
            </a:pPr>
            <a:r>
              <a:rPr lang="en-US" sz="2600" b="true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Conclusion</a:t>
            </a:r>
          </a:p>
        </p:txBody>
      </p:sp>
      <p:sp>
        <p:nvSpPr>
          <p:cNvPr name="TextBox 237" id="237"/>
          <p:cNvSpPr txBox="true"/>
          <p:nvPr/>
        </p:nvSpPr>
        <p:spPr>
          <a:xfrm rot="0">
            <a:off x="1028700" y="4680000"/>
            <a:ext cx="10600000" cy="2760472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 marL="330000" indent="-330000">
              <a:lnSpc>
                <a:spcPts val="286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best-effort network cannot promise steady quality for video</a:t>
            </a:r>
          </a:p>
          <a:p>
            <a:pPr algn="l" marL="330000" indent="-330000">
              <a:lnSpc>
                <a:spcPts val="2860"/>
              </a:lnSpc>
              <a:spcBef>
                <a:spcPts val="187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SDN gives one controller a full view and the power to act in real time</a:t>
            </a:r>
          </a:p>
          <a:p>
            <a:pPr algn="l" marL="330000" indent="-330000">
              <a:lnSpc>
                <a:spcPts val="2860"/>
              </a:lnSpc>
              <a:spcBef>
                <a:spcPts val="187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Our project turns this into a small setup: monitor, decide, reroute</a:t>
            </a:r>
          </a:p>
          <a:p>
            <a:pPr algn="l" marL="330000" indent="-330000">
              <a:lnSpc>
                <a:spcPts val="2860"/>
              </a:lnSpc>
              <a:spcBef>
                <a:spcPts val="187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Next step: build the topology, run both cases and compare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DAHXUWnat4A</dc:identifier>
  <dcterms:modified xsi:type="dcterms:W3CDTF">2011-08-01T06:04:30Z</dcterms:modified>
  <cp:revision>1</cp:revision>
  <dc:title>White Blue Modern Minimalist Project Presentation</dc:title>
</cp:coreProperties>
</file>